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515" r:id="rId1"/>
  </p:sldMasterIdLst>
  <p:notesMasterIdLst>
    <p:notesMasterId r:id="rId16"/>
  </p:notesMasterIdLst>
  <p:handoutMasterIdLst>
    <p:handoutMasterId r:id="rId17"/>
  </p:handoutMasterIdLst>
  <p:sldIdLst>
    <p:sldId id="256" r:id="rId2"/>
    <p:sldId id="265" r:id="rId3"/>
    <p:sldId id="257" r:id="rId4"/>
    <p:sldId id="258" r:id="rId5"/>
    <p:sldId id="259" r:id="rId6"/>
    <p:sldId id="260" r:id="rId7"/>
    <p:sldId id="271" r:id="rId8"/>
    <p:sldId id="272" r:id="rId9"/>
    <p:sldId id="266" r:id="rId10"/>
    <p:sldId id="262" r:id="rId11"/>
    <p:sldId id="275" r:id="rId12"/>
    <p:sldId id="293" r:id="rId13"/>
    <p:sldId id="286" r:id="rId14"/>
    <p:sldId id="277" r:id="rId15"/>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22" autoAdjust="0"/>
    <p:restoredTop sz="96315"/>
  </p:normalViewPr>
  <p:slideViewPr>
    <p:cSldViewPr snapToGrid="0" snapToObjects="1">
      <p:cViewPr varScale="1">
        <p:scale>
          <a:sx n="78" d="100"/>
          <a:sy n="78" d="100"/>
        </p:scale>
        <p:origin x="1160"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21" d="100"/>
          <a:sy n="121" d="100"/>
        </p:scale>
        <p:origin x="4960"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5F9CBC-3AD7-04A4-DC44-5498B46E91E0}"/>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4716025-AB40-C433-D127-638CED9C8CC9}"/>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7416B297-3446-304E-B176-E731053097C9}" type="datetimeFigureOut">
              <a:rPr lang="en-US" smtClean="0"/>
              <a:t>2/20/2026</a:t>
            </a:fld>
            <a:endParaRPr lang="en-US"/>
          </a:p>
        </p:txBody>
      </p:sp>
      <p:sp>
        <p:nvSpPr>
          <p:cNvPr id="4" name="Footer Placeholder 3">
            <a:extLst>
              <a:ext uri="{FF2B5EF4-FFF2-40B4-BE49-F238E27FC236}">
                <a16:creationId xmlns:a16="http://schemas.microsoft.com/office/drawing/2014/main" id="{1CFF8E25-FA20-70A0-8BD8-966CC4B87058}"/>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0F5BAD7-3E4D-66D0-360F-79FA8C66D698}"/>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A8929764-053D-9144-9338-013E9673C7FD}" type="slidenum">
              <a:rPr lang="en-US" smtClean="0"/>
              <a:t>‹#›</a:t>
            </a:fld>
            <a:endParaRPr lang="en-US"/>
          </a:p>
        </p:txBody>
      </p:sp>
    </p:spTree>
    <p:extLst>
      <p:ext uri="{BB962C8B-B14F-4D97-AF65-F5344CB8AC3E}">
        <p14:creationId xmlns:p14="http://schemas.microsoft.com/office/powerpoint/2010/main" val="18499622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6148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hw.hrsa.gov/sites/default/files/bureau-health-workforce/state-of-the-health-workforce-report-2024.pdf?utm_source=chatgpt.co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westwaysstaffing.co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PhD (</a:t>
            </a:r>
            <a:r>
              <a:rPr lang="en-US" sz="1200" b="1" dirty="0">
                <a:latin typeface="Times New Roman" panose="02020603050405020304" pitchFamily="18" charset="0"/>
                <a:cs typeface="Times New Roman" panose="02020603050405020304" pitchFamily="18" charset="0"/>
              </a:rPr>
              <a:t>Doctor of Philosophy). MBA (Master of Business Administration). BSC (</a:t>
            </a:r>
            <a:r>
              <a:rPr lang="en-US" sz="1200" dirty="0">
                <a:latin typeface="Times New Roman" panose="02020603050405020304" pitchFamily="18" charset="0"/>
                <a:cs typeface="Times New Roman" panose="02020603050405020304" pitchFamily="18" charset="0"/>
              </a:rPr>
              <a:t>Bachelor of Science). HND (Higher National Diploma. MSN (Master of Science in Nursing). MBA (</a:t>
            </a:r>
            <a:r>
              <a:rPr lang="en-US" sz="1200" b="1" dirty="0">
                <a:latin typeface="Times New Roman" panose="02020603050405020304" pitchFamily="18" charset="0"/>
                <a:cs typeface="Times New Roman" panose="02020603050405020304" pitchFamily="18" charset="0"/>
              </a:rPr>
              <a:t>Master of Business Administration). CPHQ (Certified Professional in Healthcare Quality) . VA-BC (Vascular Access Board Certified). PMP (Project Management Professional). DNP (Doctor of Nursing Practice). BSN (Bachelor of Science in Nursing). RN (Registered Nurse). CCRN (Critical Care Registered Nurse). MD (Medical Doctor). AP (</a:t>
            </a:r>
            <a:r>
              <a:rPr lang="en-US" sz="1200" dirty="0">
                <a:latin typeface="Times New Roman" panose="02020603050405020304" pitchFamily="18" charset="0"/>
                <a:cs typeface="Times New Roman" panose="02020603050405020304" pitchFamily="18" charset="0"/>
              </a:rPr>
              <a:t>Advanced Practice). MPH (</a:t>
            </a:r>
            <a:r>
              <a:rPr lang="en-US" sz="1200" b="1" dirty="0">
                <a:latin typeface="Times New Roman" panose="02020603050405020304" pitchFamily="18" charset="0"/>
                <a:cs typeface="Times New Roman" panose="02020603050405020304" pitchFamily="18" charset="0"/>
              </a:rPr>
              <a:t>Master of Public Health). SON (School of Nursing).  EBP (Evidence Based Practice).</a:t>
            </a:r>
            <a:endParaRPr lang="en-US" sz="12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average age of registered nurses (RNs)</a:t>
            </a:r>
            <a:r>
              <a:rPr lang="en-US" sz="1200" dirty="0">
                <a:latin typeface="Times New Roman" panose="02020603050405020304" pitchFamily="18" charset="0"/>
                <a:cs typeface="Times New Roman" panose="02020603050405020304" pitchFamily="18" charset="0"/>
              </a:rPr>
              <a:t> in the United States is approximately </a:t>
            </a:r>
            <a:r>
              <a:rPr lang="en-US" sz="1200" b="1" dirty="0">
                <a:latin typeface="Times New Roman" panose="02020603050405020304" pitchFamily="18" charset="0"/>
                <a:cs typeface="Times New Roman" panose="02020603050405020304" pitchFamily="18" charset="0"/>
              </a:rPr>
              <a:t>43.4 years</a:t>
            </a:r>
            <a:r>
              <a:rPr lang="en-US" sz="1200" dirty="0">
                <a:latin typeface="Times New Roman" panose="02020603050405020304" pitchFamily="18" charset="0"/>
                <a:cs typeface="Times New Roman" panose="02020603050405020304" pitchFamily="18" charset="0"/>
              </a:rPr>
              <a:t>, Over 600,000 RNs expected to retire by 2030. Health Resources and Services Administration (HRSA, 2024). </a:t>
            </a:r>
            <a:r>
              <a:rPr lang="en-US" sz="1200" dirty="0">
                <a:latin typeface="Times New Roman" panose="02020603050405020304" pitchFamily="18" charset="0"/>
                <a:cs typeface="Times New Roman" panose="02020603050405020304" pitchFamily="18" charset="0"/>
                <a:hlinkClick r:id="rId3"/>
              </a:rPr>
              <a:t>Bureau of Health Workforce</a:t>
            </a:r>
            <a:r>
              <a:rPr lang="en-US" sz="1200" dirty="0">
                <a:latin typeface="Times New Roman" panose="02020603050405020304" pitchFamily="18" charset="0"/>
                <a:cs typeface="Times New Roman" panose="02020603050405020304" pitchFamily="18" charset="0"/>
              </a:rPr>
              <a:t> </a:t>
            </a:r>
          </a:p>
          <a:p>
            <a:r>
              <a:rPr lang="en-US" dirty="0"/>
              <a:t>As of 2024, approximately 101,000 people in the United States are aged 100 or older, reaching around 422,000 by 2054.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imes New Roman" panose="02020603050405020304" pitchFamily="18" charset="0"/>
                <a:cs typeface="Times New Roman" panose="02020603050405020304" pitchFamily="18" charset="0"/>
              </a:rPr>
              <a:t>Palestinian Central Bureau of statistics (PCBS) </a:t>
            </a:r>
            <a:r>
              <a:rPr lang="en-US" sz="1200" dirty="0" err="1">
                <a:latin typeface="Times New Roman" panose="02020603050405020304" pitchFamily="18" charset="0"/>
                <a:cs typeface="Times New Roman" panose="02020603050405020304" pitchFamily="18" charset="0"/>
              </a:rPr>
              <a:t>Labour</a:t>
            </a:r>
            <a:r>
              <a:rPr lang="en-US" sz="1200" dirty="0">
                <a:latin typeface="Times New Roman" panose="02020603050405020304" pitchFamily="18" charset="0"/>
                <a:cs typeface="Times New Roman" panose="02020603050405020304" pitchFamily="18" charset="0"/>
              </a:rPr>
              <a:t>‑Force Survey, 2021.</a:t>
            </a:r>
          </a:p>
          <a:p>
            <a:r>
              <a:rPr lang="en-US" dirty="0"/>
              <a:t> </a:t>
            </a:r>
            <a:r>
              <a:rPr lang="en-US" dirty="0" err="1"/>
              <a:t>pmc.ncbi.nlm.nih.gov</a:t>
            </a:r>
            <a:r>
              <a:rPr lang="en-US" dirty="0"/>
              <a:t>/articles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Westways</a:t>
            </a:r>
            <a:r>
              <a:rPr lang="en-US" b="1" dirty="0"/>
              <a:t> Staffing Services, Inc.</a:t>
            </a:r>
            <a:r>
              <a:rPr lang="en-US" dirty="0"/>
              <a:t> is a nurse-owned healthcare staffing agency founded in </a:t>
            </a:r>
            <a:r>
              <a:rPr lang="en-US" b="1" dirty="0"/>
              <a:t>1992</a:t>
            </a:r>
            <a:r>
              <a:rPr lang="en-US" dirty="0"/>
              <a:t> by Harold Sterling, R.N., who serves as the company's CEO. With over 30 years of experience, </a:t>
            </a:r>
            <a:r>
              <a:rPr lang="en-US" dirty="0" err="1"/>
              <a:t>Westways</a:t>
            </a:r>
            <a:r>
              <a:rPr lang="en-US" dirty="0"/>
              <a:t> specializes in </a:t>
            </a:r>
            <a:r>
              <a:rPr lang="en-US" b="1" dirty="0"/>
              <a:t>per diem and travel nursing</a:t>
            </a:r>
            <a:r>
              <a:rPr lang="en-US" dirty="0"/>
              <a:t>, as well as staffing for cardiac catheterization labs, allied healthcare, and pharmacy roles across the United States. For more information visit their official website: </a:t>
            </a:r>
            <a:r>
              <a:rPr lang="en-US" dirty="0">
                <a:hlinkClick r:id="rId3"/>
              </a:rPr>
              <a:t>westwaysstaffing.com</a:t>
            </a:r>
            <a:r>
              <a:rPr lang="en-US" dirty="0"/>
              <a:t>.</a:t>
            </a:r>
          </a:p>
          <a:p>
            <a:endParaRPr lang="en-US" dirty="0"/>
          </a:p>
        </p:txBody>
      </p:sp>
    </p:spTree>
    <p:extLst>
      <p:ext uri="{BB962C8B-B14F-4D97-AF65-F5344CB8AC3E}">
        <p14:creationId xmlns:p14="http://schemas.microsoft.com/office/powerpoint/2010/main" val="161270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PTE IS AN English proficiency test more reliable </a:t>
            </a:r>
          </a:p>
          <a:p>
            <a:r>
              <a:rPr lang="en-US" dirty="0"/>
              <a:t>CGFNS (Commission on Graduate of  Foreign Nursing School)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sz="1200" b="1" kern="1200" dirty="0">
                <a:solidFill>
                  <a:schemeClr val="tx1"/>
                </a:solidFill>
                <a:effectLst/>
                <a:latin typeface="+mn-lt"/>
                <a:ea typeface="+mn-ea"/>
                <a:cs typeface="+mn-cs"/>
              </a:rPr>
              <a:t>Retaking the NCLEX</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you fail, you can retake it after 45 days (varies by state).</a:t>
            </a:r>
          </a:p>
          <a:p>
            <a:pPr lvl="0"/>
            <a:r>
              <a:rPr lang="en-US" sz="1200" kern="1200" dirty="0">
                <a:solidFill>
                  <a:schemeClr val="tx1"/>
                </a:solidFill>
                <a:effectLst/>
                <a:latin typeface="+mn-lt"/>
                <a:ea typeface="+mn-ea"/>
                <a:cs typeface="+mn-cs"/>
              </a:rPr>
              <a:t>You can take it up to 8 times/year.</a:t>
            </a:r>
          </a:p>
          <a:p>
            <a:endParaRPr lang="en-US" dirty="0"/>
          </a:p>
        </p:txBody>
      </p:sp>
    </p:spTree>
    <p:extLst>
      <p:ext uri="{BB962C8B-B14F-4D97-AF65-F5344CB8AC3E}">
        <p14:creationId xmlns:p14="http://schemas.microsoft.com/office/powerpoint/2010/main" val="1516865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useBgFill="1">
        <p:nvSpPr>
          <p:cNvPr id="12" name="Freeform 11"/>
          <p:cNvSpPr/>
          <p:nvPr/>
        </p:nvSpPr>
        <p:spPr>
          <a:xfrm>
            <a:off x="-11907" y="0"/>
            <a:ext cx="8762858" cy="4941094"/>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3211693"/>
            <a:ext cx="8496943" cy="1521634"/>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6539684" cy="342658"/>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21350" y="219988"/>
            <a:ext cx="8525337" cy="4313853"/>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668401" y="496992"/>
            <a:ext cx="7316390" cy="2074896"/>
          </a:xfrm>
        </p:spPr>
        <p:txBody>
          <a:bodyPr anchor="b">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rot="21420000">
            <a:off x="737297" y="2628907"/>
            <a:ext cx="7316390" cy="412750"/>
          </a:xfrm>
        </p:spPr>
        <p:txBody>
          <a:bodyPr anchor="t">
            <a:noAutofit/>
          </a:bodyPr>
          <a:lstStyle>
            <a:lvl1pPr marL="0" indent="0" algn="r">
              <a:buNone/>
              <a:defRPr sz="210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3711406" y="3433847"/>
            <a:ext cx="4607740" cy="872334"/>
          </a:xfrm>
        </p:spPr>
        <p:txBody>
          <a:bodyPr/>
          <a:lstStyle>
            <a:lvl1pPr algn="ctr">
              <a:defRPr sz="4050">
                <a:solidFill>
                  <a:schemeClr val="accent1">
                    <a:lumMod val="60000"/>
                    <a:lumOff val="40000"/>
                  </a:schemeClr>
                </a:solidFill>
              </a:defRPr>
            </a:lvl1pPr>
          </a:lstStyle>
          <a:p>
            <a:fld id="{E2FD942D-73DF-3D41-AAED-D6E958B7021F}" type="datetimeFigureOut">
              <a:rPr lang="en-US" smtClean="0"/>
              <a:t>2/20/2026</a:t>
            </a:fld>
            <a:endParaRPr lang="en-US"/>
          </a:p>
        </p:txBody>
      </p:sp>
      <p:sp>
        <p:nvSpPr>
          <p:cNvPr id="5" name="Footer Placeholder 4"/>
          <p:cNvSpPr>
            <a:spLocks noGrp="1"/>
          </p:cNvSpPr>
          <p:nvPr>
            <p:ph type="ftr" sz="quarter" idx="11"/>
          </p:nvPr>
        </p:nvSpPr>
        <p:spPr>
          <a:xfrm rot="21420000">
            <a:off x="6858" y="3753580"/>
            <a:ext cx="3038094" cy="715581"/>
          </a:xfrm>
          <a:noFill/>
        </p:spPr>
        <p:txBody>
          <a:bodyPr wrap="square" rtlCol="0">
            <a:spAutoFit/>
          </a:bodyPr>
          <a:lstStyle>
            <a:lvl1pPr>
              <a:defRPr lang="en-US" sz="4050" dirty="0"/>
            </a:lvl1pPr>
          </a:lstStyle>
          <a:p>
            <a:endParaRPr lang="en-US"/>
          </a:p>
        </p:txBody>
      </p:sp>
      <p:sp>
        <p:nvSpPr>
          <p:cNvPr id="6" name="Slide Number Placeholder 5"/>
          <p:cNvSpPr>
            <a:spLocks noGrp="1"/>
          </p:cNvSpPr>
          <p:nvPr>
            <p:ph type="sldNum" sz="quarter" idx="12"/>
          </p:nvPr>
        </p:nvSpPr>
        <p:spPr>
          <a:xfrm rot="21420000">
            <a:off x="7388818" y="2874486"/>
            <a:ext cx="680390" cy="373853"/>
          </a:xfrm>
        </p:spPr>
        <p:txBody>
          <a:bodyPr/>
          <a:lstStyle>
            <a:lvl1pPr>
              <a:defRPr sz="1800">
                <a:solidFill>
                  <a:schemeClr val="tx1">
                    <a:lumMod val="75000"/>
                    <a:lumOff val="25000"/>
                  </a:schemeClr>
                </a:solidFill>
              </a:defRPr>
            </a:lvl1pPr>
          </a:lstStyle>
          <a:p>
            <a:fld id="{A44092E3-8336-EB43-98A3-876F94D68CFD}" type="slidenum">
              <a:rPr lang="en-US" smtClean="0"/>
              <a:t>‹#›</a:t>
            </a:fld>
            <a:endParaRPr lang="en-US"/>
          </a:p>
        </p:txBody>
      </p:sp>
      <p:sp>
        <p:nvSpPr>
          <p:cNvPr id="25" name="5-Point Star 24"/>
          <p:cNvSpPr/>
          <p:nvPr/>
        </p:nvSpPr>
        <p:spPr>
          <a:xfrm rot="21420000">
            <a:off x="3166039" y="3833517"/>
            <a:ext cx="386540" cy="386540"/>
          </a:xfrm>
          <a:prstGeom prst="star5">
            <a:avLst>
              <a:gd name="adj" fmla="val 26693"/>
              <a:gd name="hf" fmla="val 105146"/>
              <a:gd name="vf" fmla="val 110557"/>
            </a:avLst>
          </a:prstGeom>
          <a:solidFill>
            <a:schemeClr val="accent1">
              <a:lumMod val="60000"/>
              <a:lumOff val="40000"/>
              <a:alpha val="5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9305810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514351" y="1547547"/>
            <a:ext cx="7796030" cy="2483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FD942D-73DF-3D41-AAED-D6E958B7021F}"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236959988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4351" y="514351"/>
            <a:ext cx="7796030" cy="2395115"/>
          </a:xfrm>
        </p:spPr>
        <p:txBody>
          <a:bodyPr anchor="b">
            <a:normAutofit/>
          </a:bodyPr>
          <a:lstStyle>
            <a:lvl1pPr algn="l">
              <a:defRPr sz="4050"/>
            </a:lvl1pPr>
          </a:lstStyle>
          <a:p>
            <a:r>
              <a:rPr lang="en-US"/>
              <a:t>Click to edit Master title style</a:t>
            </a:r>
            <a:endParaRPr lang="en-US" dirty="0"/>
          </a:p>
        </p:txBody>
      </p:sp>
      <p:sp>
        <p:nvSpPr>
          <p:cNvPr id="3" name="Text Placeholder 2"/>
          <p:cNvSpPr>
            <a:spLocks noGrp="1"/>
          </p:cNvSpPr>
          <p:nvPr>
            <p:ph type="body" idx="1"/>
          </p:nvPr>
        </p:nvSpPr>
        <p:spPr>
          <a:xfrm>
            <a:off x="514351" y="2806700"/>
            <a:ext cx="7796030" cy="1229711"/>
          </a:xfrm>
        </p:spPr>
        <p:txBody>
          <a:bodyPr anchor="t">
            <a:normAutofit/>
          </a:bodyPr>
          <a:lstStyle>
            <a:lvl1pPr marL="0" indent="0" algn="l">
              <a:buNone/>
              <a:defRPr sz="15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FD942D-73DF-3D41-AAED-D6E958B7021F}"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157519027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514351" y="514350"/>
            <a:ext cx="7797662" cy="868605"/>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514350" y="1547547"/>
            <a:ext cx="3816536" cy="248339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495478" y="1547547"/>
            <a:ext cx="3814904" cy="248339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FD942D-73DF-3D41-AAED-D6E958B7021F}"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48681524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514351" y="514350"/>
            <a:ext cx="7796030" cy="8686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8767" y="1547547"/>
            <a:ext cx="3642119" cy="509996"/>
          </a:xfrm>
        </p:spPr>
        <p:txBody>
          <a:bodyPr anchor="b">
            <a:noAutofit/>
          </a:bodyPr>
          <a:lstStyle>
            <a:lvl1pPr marL="0" indent="0">
              <a:lnSpc>
                <a:spcPct val="90000"/>
              </a:lnSpc>
              <a:buNone/>
              <a:defRPr sz="19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3"/>
          <p:cNvSpPr>
            <a:spLocks noGrp="1"/>
          </p:cNvSpPr>
          <p:nvPr>
            <p:ph sz="quarter" idx="13"/>
          </p:nvPr>
        </p:nvSpPr>
        <p:spPr>
          <a:xfrm>
            <a:off x="514352" y="2146300"/>
            <a:ext cx="3816534" cy="188463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644" y="1547547"/>
            <a:ext cx="3648368" cy="509996"/>
          </a:xfrm>
        </p:spPr>
        <p:txBody>
          <a:bodyPr anchor="b">
            <a:noAutofit/>
          </a:bodyPr>
          <a:lstStyle>
            <a:lvl1pPr marL="0" indent="0">
              <a:lnSpc>
                <a:spcPct val="90000"/>
              </a:lnSpc>
              <a:buNone/>
              <a:defRPr sz="19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Content Placeholder 5"/>
          <p:cNvSpPr>
            <a:spLocks noGrp="1"/>
          </p:cNvSpPr>
          <p:nvPr>
            <p:ph sz="quarter" idx="14"/>
          </p:nvPr>
        </p:nvSpPr>
        <p:spPr>
          <a:xfrm>
            <a:off x="4495477" y="2146300"/>
            <a:ext cx="3816535" cy="188463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FD942D-73DF-3D41-AAED-D6E958B7021F}" type="datetimeFigureOut">
              <a:rPr lang="en-US" smtClean="0"/>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394474699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FD942D-73DF-3D41-AAED-D6E958B7021F}" type="datetimeFigureOut">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49728655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FD942D-73DF-3D41-AAED-D6E958B7021F}" type="datetimeFigureOut">
              <a:rPr lang="en-US" smtClean="0"/>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223495601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232" y="514350"/>
            <a:ext cx="3095145" cy="1517439"/>
          </a:xfrm>
        </p:spPr>
        <p:txBody>
          <a:bodyPr anchor="b">
            <a:normAutofit/>
          </a:bodyPr>
          <a:lstStyle>
            <a:lvl1pPr algn="ctr">
              <a:defRPr sz="2700"/>
            </a:lvl1pPr>
          </a:lstStyle>
          <a:p>
            <a:r>
              <a:rPr lang="en-US"/>
              <a:t>Click to edit Master title style</a:t>
            </a:r>
            <a:endParaRPr lang="en-US" dirty="0"/>
          </a:p>
        </p:txBody>
      </p:sp>
      <p:sp>
        <p:nvSpPr>
          <p:cNvPr id="10" name="Content Placeholder 2"/>
          <p:cNvSpPr>
            <a:spLocks noGrp="1"/>
          </p:cNvSpPr>
          <p:nvPr>
            <p:ph sz="quarter" idx="13"/>
          </p:nvPr>
        </p:nvSpPr>
        <p:spPr>
          <a:xfrm>
            <a:off x="3784600" y="514350"/>
            <a:ext cx="4525781" cy="3516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232" y="2031789"/>
            <a:ext cx="3095146" cy="1999150"/>
          </a:xfrm>
        </p:spPr>
        <p:txBody>
          <a:bodyPr anchor="t">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2FD942D-73DF-3D41-AAED-D6E958B7021F}"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158124128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514350"/>
            <a:ext cx="4758977" cy="1517439"/>
          </a:xfrm>
        </p:spPr>
        <p:txBody>
          <a:bodyPr anchor="b">
            <a:normAutofit/>
          </a:bodyPr>
          <a:lstStyle>
            <a:lvl1pPr algn="ctr">
              <a:defRPr sz="27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11771" y="0"/>
            <a:ext cx="2698610" cy="3803650"/>
          </a:xfrm>
          <a:ln w="57150" cmpd="thinThick">
            <a:solidFill>
              <a:schemeClr val="bg1">
                <a:lumMod val="50000"/>
              </a:schemeClr>
            </a:solidFill>
            <a:miter lim="800000"/>
          </a:ln>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4351" y="2031789"/>
            <a:ext cx="4758976" cy="1771861"/>
          </a:xfrm>
        </p:spPr>
        <p:txBody>
          <a:bodyPr anchor="t">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2FD942D-73DF-3D41-AAED-D6E958B7021F}"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254032122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3079749"/>
            <a:ext cx="7796031" cy="441635"/>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4351" y="514350"/>
            <a:ext cx="7794385" cy="2396177"/>
          </a:xfrm>
          <a:ln w="57150" cmpd="thinThick">
            <a:solidFill>
              <a:schemeClr val="bg1">
                <a:lumMod val="50000"/>
              </a:schemeClr>
            </a:solidFill>
            <a:miter lim="800000"/>
          </a:ln>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4335" y="3527192"/>
            <a:ext cx="7796046" cy="511854"/>
          </a:xfrm>
        </p:spPr>
        <p:txBody>
          <a:bodyPr anchor="t"/>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2FD942D-73DF-3D41-AAED-D6E958B7021F}"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12265214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1" y="514351"/>
            <a:ext cx="7797677" cy="2396177"/>
          </a:xfrm>
        </p:spPr>
        <p:txBody>
          <a:bodyPr anchor="ctr">
            <a:normAutofit/>
          </a:bodyPr>
          <a:lstStyle>
            <a:lvl1pPr algn="ct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514335" y="3079750"/>
            <a:ext cx="7796047" cy="955205"/>
          </a:xfrm>
        </p:spPr>
        <p:txBody>
          <a:bodyPr anchor="ct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2FD942D-73DF-3D41-AAED-D6E958B7021F}"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191403543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99" y="514350"/>
            <a:ext cx="7143765" cy="2187528"/>
          </a:xfrm>
        </p:spPr>
        <p:txBody>
          <a:bodyPr anchor="ctr">
            <a:normAutofit/>
          </a:bodyPr>
          <a:lstStyle>
            <a:lvl1pPr algn="ct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162698" y="2707524"/>
            <a:ext cx="6500967" cy="283326"/>
          </a:xfrm>
        </p:spPr>
        <p:txBody>
          <a:bodyPr anchor="t">
            <a:normAutofit/>
          </a:bodyPr>
          <a:lstStyle>
            <a:lvl1pPr marL="0" indent="0" algn="r">
              <a:buNone/>
              <a:defRPr sz="1050">
                <a:solidFill>
                  <a:schemeClr val="tx1">
                    <a:lumMod val="50000"/>
                    <a:lumOff val="50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514351" y="3079751"/>
            <a:ext cx="7797662" cy="951189"/>
          </a:xfrm>
        </p:spPr>
        <p:txBody>
          <a:bodyPr anchor="ct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2FD942D-73DF-3D41-AAED-D6E958B7021F}"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092E3-8336-EB43-98A3-876F94D68CFD}" type="slidenum">
              <a:rPr lang="en-US" smtClean="0"/>
              <a:t>‹#›</a:t>
            </a:fld>
            <a:endParaRPr lang="en-US"/>
          </a:p>
        </p:txBody>
      </p:sp>
      <p:sp>
        <p:nvSpPr>
          <p:cNvPr id="13" name="TextBox 12"/>
          <p:cNvSpPr txBox="1"/>
          <p:nvPr/>
        </p:nvSpPr>
        <p:spPr>
          <a:xfrm>
            <a:off x="514351" y="669471"/>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4" name="TextBox 13"/>
          <p:cNvSpPr txBox="1"/>
          <p:nvPr/>
        </p:nvSpPr>
        <p:spPr>
          <a:xfrm>
            <a:off x="7854812" y="219212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377898479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4351" y="1292891"/>
            <a:ext cx="7796030" cy="1883876"/>
          </a:xfrm>
        </p:spPr>
        <p:txBody>
          <a:bodyPr anchor="b">
            <a:normAutofit/>
          </a:bodyPr>
          <a:lstStyle>
            <a:lvl1pPr algn="l">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514351" y="3185601"/>
            <a:ext cx="7796030" cy="855483"/>
          </a:xfrm>
        </p:spPr>
        <p:txBody>
          <a:bodyPr anchor="t">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2FD942D-73DF-3D41-AAED-D6E958B7021F}"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399074302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514351" y="514350"/>
            <a:ext cx="7796030" cy="863974"/>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514351" y="1547546"/>
            <a:ext cx="2482596" cy="432197"/>
          </a:xfrm>
        </p:spPr>
        <p:txBody>
          <a:bodyPr anchor="b">
            <a:noAutofit/>
          </a:bodyPr>
          <a:lstStyle>
            <a:lvl1pPr marL="0" indent="0" algn="ctr">
              <a:lnSpc>
                <a:spcPct val="90000"/>
              </a:lnSpc>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514351" y="1979744"/>
            <a:ext cx="2482596" cy="205119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175967" y="1547546"/>
            <a:ext cx="2482596" cy="432197"/>
          </a:xfrm>
        </p:spPr>
        <p:txBody>
          <a:bodyPr anchor="b">
            <a:noAutofit/>
          </a:bodyPr>
          <a:lstStyle>
            <a:lvl1pPr marL="0" indent="0" algn="ctr">
              <a:lnSpc>
                <a:spcPct val="90000"/>
              </a:lnSpc>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175966" y="1979744"/>
            <a:ext cx="2482596" cy="205119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27785" y="1547546"/>
            <a:ext cx="2482596" cy="432197"/>
          </a:xfrm>
        </p:spPr>
        <p:txBody>
          <a:bodyPr anchor="b">
            <a:noAutofit/>
          </a:bodyPr>
          <a:lstStyle>
            <a:lvl1pPr marL="0" indent="0" algn="ctr">
              <a:lnSpc>
                <a:spcPct val="90000"/>
              </a:lnSpc>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827785" y="1979744"/>
            <a:ext cx="2482596" cy="205119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E2FD942D-73DF-3D41-AAED-D6E958B7021F}" type="datetimeFigureOut">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292791502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514351" y="514350"/>
            <a:ext cx="7797662" cy="863974"/>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518880" y="2859769"/>
            <a:ext cx="2482596" cy="432197"/>
          </a:xfrm>
        </p:spPr>
        <p:txBody>
          <a:bodyPr anchor="b">
            <a:noAutofit/>
          </a:bodyPr>
          <a:lstStyle>
            <a:lvl1pPr marL="0" indent="0" algn="ctr">
              <a:lnSpc>
                <a:spcPct val="90000"/>
              </a:lnSpc>
              <a:buNone/>
              <a:defRPr sz="16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514335" y="1547547"/>
            <a:ext cx="2482596" cy="1152544"/>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518880" y="3291966"/>
            <a:ext cx="2482596" cy="73897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178058" y="2859769"/>
            <a:ext cx="2482596" cy="432197"/>
          </a:xfrm>
        </p:spPr>
        <p:txBody>
          <a:bodyPr anchor="b">
            <a:noAutofit/>
          </a:bodyPr>
          <a:lstStyle>
            <a:lvl1pPr marL="0" indent="0" algn="ctr">
              <a:lnSpc>
                <a:spcPct val="90000"/>
              </a:lnSpc>
              <a:buNone/>
              <a:defRPr sz="16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176999" y="1547547"/>
            <a:ext cx="2482596" cy="1151428"/>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176999" y="3291965"/>
            <a:ext cx="2482596" cy="73897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26708" y="2859769"/>
            <a:ext cx="2482596" cy="432197"/>
          </a:xfrm>
        </p:spPr>
        <p:txBody>
          <a:bodyPr anchor="b">
            <a:noAutofit/>
          </a:bodyPr>
          <a:lstStyle>
            <a:lvl1pPr marL="0" indent="0" algn="ctr">
              <a:lnSpc>
                <a:spcPct val="90000"/>
              </a:lnSpc>
              <a:buNone/>
              <a:defRPr sz="16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26614" y="1547546"/>
            <a:ext cx="2482596" cy="115289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826614" y="3291963"/>
            <a:ext cx="2482596" cy="738977"/>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E2FD942D-73DF-3D41-AAED-D6E958B7021F}" type="datetimeFigureOut">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126025818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514351" y="1547547"/>
            <a:ext cx="7796030" cy="24833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FD942D-73DF-3D41-AAED-D6E958B7021F}"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92292069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1896" y="514350"/>
            <a:ext cx="1698485" cy="351658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514351" y="514350"/>
            <a:ext cx="5928323" cy="3516589"/>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FD942D-73DF-3D41-AAED-D6E958B7021F}"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092E3-8336-EB43-98A3-876F94D68CFD}" type="slidenum">
              <a:rPr lang="en-US" smtClean="0"/>
              <a:t>‹#›</a:t>
            </a:fld>
            <a:endParaRPr lang="en-US"/>
          </a:p>
        </p:txBody>
      </p:sp>
    </p:spTree>
    <p:extLst>
      <p:ext uri="{BB962C8B-B14F-4D97-AF65-F5344CB8AC3E}">
        <p14:creationId xmlns:p14="http://schemas.microsoft.com/office/powerpoint/2010/main" val="126643687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1746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19311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grpSp>
        <p:nvGrpSpPr>
          <p:cNvPr id="10" name="Group 9"/>
          <p:cNvGrpSpPr/>
          <p:nvPr/>
        </p:nvGrpSpPr>
        <p:grpSpPr>
          <a:xfrm>
            <a:off x="-19048" y="0"/>
            <a:ext cx="9004013" cy="498306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14351" y="514350"/>
            <a:ext cx="7797662" cy="86397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4351" y="1547547"/>
            <a:ext cx="7797662" cy="248339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73562" y="4318000"/>
            <a:ext cx="2838450" cy="373853"/>
          </a:xfrm>
          <a:prstGeom prst="rect">
            <a:avLst/>
          </a:prstGeom>
        </p:spPr>
        <p:txBody>
          <a:bodyPr vert="horz" lIns="91440" tIns="45720" rIns="91440" bIns="45720" rtlCol="0" anchor="ctr"/>
          <a:lstStyle>
            <a:lvl1pPr algn="r">
              <a:defRPr sz="2400" cap="all" baseline="0">
                <a:solidFill>
                  <a:schemeClr val="accent1">
                    <a:lumMod val="60000"/>
                    <a:lumOff val="40000"/>
                  </a:schemeClr>
                </a:solidFill>
              </a:defRPr>
            </a:lvl1pPr>
          </a:lstStyle>
          <a:p>
            <a:fld id="{E2FD942D-73DF-3D41-AAED-D6E958B7021F}" type="datetimeFigureOut">
              <a:rPr lang="en-US" smtClean="0"/>
              <a:t>2/20/2026</a:t>
            </a:fld>
            <a:endParaRPr lang="en-US"/>
          </a:p>
        </p:txBody>
      </p:sp>
      <p:sp>
        <p:nvSpPr>
          <p:cNvPr id="5" name="Footer Placeholder 4"/>
          <p:cNvSpPr>
            <a:spLocks noGrp="1"/>
          </p:cNvSpPr>
          <p:nvPr>
            <p:ph type="ftr" sz="quarter" idx="3"/>
          </p:nvPr>
        </p:nvSpPr>
        <p:spPr>
          <a:xfrm>
            <a:off x="514351" y="4318000"/>
            <a:ext cx="4124789" cy="373853"/>
          </a:xfrm>
          <a:prstGeom prst="rect">
            <a:avLst/>
          </a:prstGeom>
        </p:spPr>
        <p:txBody>
          <a:bodyPr vert="horz" lIns="91440" tIns="45720" rIns="91440" bIns="45720" rtlCol="0" anchor="ctr"/>
          <a:lstStyle>
            <a:lvl1pPr algn="l">
              <a:defRPr sz="2400" cap="all" baseline="0">
                <a:solidFill>
                  <a:schemeClr val="accent1">
                    <a:lumMod val="60000"/>
                    <a:lumOff val="40000"/>
                  </a:schemeClr>
                </a:solidFill>
              </a:defRPr>
            </a:lvl1pPr>
          </a:lstStyle>
          <a:p>
            <a:endParaRPr lang="en-US"/>
          </a:p>
        </p:txBody>
      </p:sp>
      <p:sp>
        <p:nvSpPr>
          <p:cNvPr id="6" name="Slide Number Placeholder 5"/>
          <p:cNvSpPr>
            <a:spLocks noGrp="1"/>
          </p:cNvSpPr>
          <p:nvPr>
            <p:ph type="sldNum" sz="quarter" idx="4"/>
          </p:nvPr>
        </p:nvSpPr>
        <p:spPr>
          <a:xfrm>
            <a:off x="4715341" y="4318000"/>
            <a:ext cx="680390" cy="373853"/>
          </a:xfrm>
          <a:prstGeom prst="rect">
            <a:avLst/>
          </a:prstGeom>
        </p:spPr>
        <p:txBody>
          <a:bodyPr vert="horz" lIns="91440" tIns="45720" rIns="91440" bIns="45720" rtlCol="0" anchor="ctr"/>
          <a:lstStyle>
            <a:lvl1pPr algn="ctr">
              <a:defRPr sz="2400" cap="all" baseline="0">
                <a:solidFill>
                  <a:schemeClr val="accent1">
                    <a:lumMod val="60000"/>
                    <a:lumOff val="40000"/>
                  </a:schemeClr>
                </a:solidFill>
              </a:defRPr>
            </a:lvl1pPr>
          </a:lstStyle>
          <a:p>
            <a:fld id="{A44092E3-8336-EB43-98A3-876F94D68CFD}" type="slidenum">
              <a:rPr lang="en-US" smtClean="0"/>
              <a:t>‹#›</a:t>
            </a:fld>
            <a:endParaRPr lang="en-US"/>
          </a:p>
        </p:txBody>
      </p:sp>
    </p:spTree>
    <p:extLst>
      <p:ext uri="{BB962C8B-B14F-4D97-AF65-F5344CB8AC3E}">
        <p14:creationId xmlns:p14="http://schemas.microsoft.com/office/powerpoint/2010/main" val="3881573278"/>
      </p:ext>
    </p:extLst>
  </p:cSld>
  <p:clrMap bg1="lt1" tx1="dk1" bg2="lt2" tx2="dk2" accent1="accent1" accent2="accent2" accent3="accent3" accent4="accent4" accent5="accent5" accent6="accent6" hlink="hlink" folHlink="folHlink"/>
  <p:sldLayoutIdLst>
    <p:sldLayoutId id="2147484516" r:id="rId1"/>
    <p:sldLayoutId id="2147484517" r:id="rId2"/>
    <p:sldLayoutId id="2147484518" r:id="rId3"/>
    <p:sldLayoutId id="2147484519" r:id="rId4"/>
    <p:sldLayoutId id="2147484520" r:id="rId5"/>
    <p:sldLayoutId id="2147484521" r:id="rId6"/>
    <p:sldLayoutId id="2147484522" r:id="rId7"/>
    <p:sldLayoutId id="2147484523" r:id="rId8"/>
    <p:sldLayoutId id="2147484524" r:id="rId9"/>
    <p:sldLayoutId id="2147484525" r:id="rId10"/>
    <p:sldLayoutId id="2147484526" r:id="rId11"/>
    <p:sldLayoutId id="2147484527" r:id="rId12"/>
    <p:sldLayoutId id="2147484528" r:id="rId13"/>
    <p:sldLayoutId id="2147484529" r:id="rId14"/>
    <p:sldLayoutId id="2147484530" r:id="rId15"/>
    <p:sldLayoutId id="2147484531" r:id="rId16"/>
    <p:sldLayoutId id="2147484532" r:id="rId17"/>
    <p:sldLayoutId id="2147484533" r:id="rId18"/>
    <p:sldLayoutId id="2147484534" r:id="rId19"/>
  </p:sldLayoutIdLst>
  <p:hf sldNum="0" hdr="0" ftr="0" dt="0"/>
  <p:txStyles>
    <p:titleStyle>
      <a:lvl1pPr algn="l" defTabSz="685800" rtl="0" eaLnBrk="1" latinLnBrk="0" hangingPunct="1">
        <a:lnSpc>
          <a:spcPct val="90000"/>
        </a:lnSpc>
        <a:spcBef>
          <a:spcPct val="0"/>
        </a:spcBef>
        <a:buNone/>
        <a:defRPr sz="4050" kern="1200" cap="all" baseline="0">
          <a:solidFill>
            <a:schemeClr val="accent1">
              <a:lumMod val="60000"/>
              <a:lumOff val="40000"/>
            </a:schemeClr>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lumMod val="60000"/>
            <a:lumOff val="40000"/>
          </a:schemeClr>
        </a:buClr>
        <a:buSzPct val="160000"/>
        <a:buFont typeface="Arial" panose="020B0604020202020204" pitchFamily="34" charset="0"/>
        <a:buChar char="•"/>
        <a:defRPr sz="1500" kern="1200" cap="all" baseline="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lumMod val="60000"/>
            <a:lumOff val="40000"/>
          </a:schemeClr>
        </a:buClr>
        <a:buSzPct val="160000"/>
        <a:buFont typeface="Arial" panose="020B0604020202020204" pitchFamily="34" charset="0"/>
        <a:buChar char="•"/>
        <a:defRPr sz="1350" kern="1200" cap="all"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lumMod val="60000"/>
            <a:lumOff val="40000"/>
          </a:schemeClr>
        </a:buClr>
        <a:buSzPct val="160000"/>
        <a:buFont typeface="Arial" panose="020B0604020202020204" pitchFamily="34" charset="0"/>
        <a:buChar char="•"/>
        <a:defRPr sz="1200" kern="1200" cap="all" baseline="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lumMod val="60000"/>
            <a:lumOff val="40000"/>
          </a:schemeClr>
        </a:buClr>
        <a:buSzPct val="160000"/>
        <a:buFont typeface="Arial" panose="020B0604020202020204" pitchFamily="34" charset="0"/>
        <a:buChar char="•"/>
        <a:defRPr sz="1050" kern="1200" cap="all"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lumMod val="60000"/>
            <a:lumOff val="40000"/>
          </a:schemeClr>
        </a:buClr>
        <a:buSzPct val="160000"/>
        <a:buFont typeface="Arial" panose="020B0604020202020204" pitchFamily="34" charset="0"/>
        <a:buChar char="•"/>
        <a:defRPr sz="1050" kern="1200" cap="all" baseline="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lumMod val="60000"/>
            <a:lumOff val="40000"/>
          </a:schemeClr>
        </a:buClr>
        <a:buSzPct val="160000"/>
        <a:buFont typeface="Arial" panose="020B0604020202020204" pitchFamily="34" charset="0"/>
        <a:buChar char="•"/>
        <a:defRPr sz="1050" kern="1200" cap="all" baseline="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lumMod val="60000"/>
            <a:lumOff val="40000"/>
          </a:schemeClr>
        </a:buClr>
        <a:buSzPct val="160000"/>
        <a:buFont typeface="Arial" panose="020B0604020202020204" pitchFamily="34" charset="0"/>
        <a:buChar char="•"/>
        <a:defRPr sz="1050" kern="1200" cap="all" baseline="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lumMod val="60000"/>
            <a:lumOff val="40000"/>
          </a:schemeClr>
        </a:buClr>
        <a:buSzPct val="160000"/>
        <a:buFont typeface="Arial" panose="020B0604020202020204" pitchFamily="34" charset="0"/>
        <a:buChar char="•"/>
        <a:defRPr sz="1050" kern="1200" cap="all"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lumMod val="60000"/>
            <a:lumOff val="40000"/>
          </a:schemeClr>
        </a:buClr>
        <a:buSzPct val="160000"/>
        <a:buFont typeface="Arial" panose="020B0604020202020204" pitchFamily="34" charset="0"/>
        <a:buChar char="•"/>
        <a:defRPr sz="1050" kern="1200" cap="all"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8.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22.png"/><Relationship Id="rId5" Type="http://schemas.openxmlformats.org/officeDocument/2006/relationships/image" Target="../media/image16.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hyperlink" Target="mailto:manager@globalgatehealthcare.com" TargetMode="External"/><Relationship Id="rId2" Type="http://schemas.openxmlformats.org/officeDocument/2006/relationships/hyperlink" Target="mailto:ceo@globalgatehealthcare.com" TargetMode="External"/><Relationship Id="rId1" Type="http://schemas.openxmlformats.org/officeDocument/2006/relationships/slideLayout" Target="../slideLayouts/slideLayout18.xml"/><Relationship Id="rId5" Type="http://schemas.openxmlformats.org/officeDocument/2006/relationships/image" Target="../media/image29.png"/><Relationship Id="rId4" Type="http://schemas.openxmlformats.org/officeDocument/2006/relationships/hyperlink" Target="mailto:cao@globalgatehealthcar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0" y="3661174"/>
            <a:ext cx="9144000" cy="1482326"/>
          </a:xfrm>
          <a:prstGeom prst="rect">
            <a:avLst/>
          </a:prstGeom>
          <a:solidFill>
            <a:srgbClr val="1A93A7"/>
          </a:solidFill>
          <a:ln/>
        </p:spPr>
        <p:txBody>
          <a:bodyPr/>
          <a:lstStyle/>
          <a:p>
            <a:r>
              <a:rPr lang="en-US" dirty="0"/>
              <a:t>                                   </a:t>
            </a:r>
            <a:r>
              <a:rPr lang="en-US" sz="2400" b="1" i="1" dirty="0">
                <a:latin typeface="Times New Roman" panose="02020603050405020304" pitchFamily="18" charset="0"/>
                <a:cs typeface="Times New Roman" panose="02020603050405020304" pitchFamily="18" charset="0"/>
              </a:rPr>
              <a:t>WHO WE ARE?</a:t>
            </a:r>
          </a:p>
        </p:txBody>
      </p:sp>
      <p:sp>
        <p:nvSpPr>
          <p:cNvPr id="5" name="Text 2"/>
          <p:cNvSpPr/>
          <p:nvPr/>
        </p:nvSpPr>
        <p:spPr>
          <a:xfrm>
            <a:off x="857250" y="628260"/>
            <a:ext cx="4137654" cy="1558119"/>
          </a:xfrm>
          <a:prstGeom prst="rect">
            <a:avLst/>
          </a:prstGeom>
          <a:noFill/>
          <a:ln/>
        </p:spPr>
        <p:txBody>
          <a:bodyPr wrap="square" lIns="0" tIns="0" rIns="0" bIns="0" rtlCol="0" anchor="ctr">
            <a:spAutoFit/>
          </a:bodyPr>
          <a:lstStyle/>
          <a:p>
            <a:pPr marL="0" indent="0" algn="ctr">
              <a:buNone/>
            </a:pPr>
            <a:r>
              <a:rPr lang="en-US" sz="3375" b="1" dirty="0">
                <a:solidFill>
                  <a:srgbClr val="0A7C8E"/>
                </a:solidFill>
                <a:latin typeface="Times New Roman" panose="02020603050405020304" pitchFamily="18" charset="0"/>
                <a:ea typeface="Montserrat" pitchFamily="34" charset="-122"/>
                <a:cs typeface="Times New Roman" panose="02020603050405020304" pitchFamily="18" charset="0"/>
              </a:rPr>
              <a:t>Global Gate Health Care </a:t>
            </a:r>
          </a:p>
          <a:p>
            <a:pPr marL="0" indent="0">
              <a:buNone/>
            </a:pPr>
            <a:endParaRPr lang="en-US" sz="3375" dirty="0"/>
          </a:p>
        </p:txBody>
      </p:sp>
      <p:sp>
        <p:nvSpPr>
          <p:cNvPr id="6" name="Text 3"/>
          <p:cNvSpPr/>
          <p:nvPr/>
        </p:nvSpPr>
        <p:spPr>
          <a:xfrm>
            <a:off x="857250" y="2114472"/>
            <a:ext cx="4019550" cy="311624"/>
          </a:xfrm>
          <a:prstGeom prst="rect">
            <a:avLst/>
          </a:prstGeom>
          <a:noFill/>
          <a:ln/>
        </p:spPr>
        <p:txBody>
          <a:bodyPr wrap="square" lIns="0" tIns="0" rIns="0" bIns="0" rtlCol="0" anchor="ctr">
            <a:spAutoFit/>
          </a:bodyPr>
          <a:lstStyle/>
          <a:p>
            <a:pPr marL="0" indent="0">
              <a:buNone/>
            </a:pPr>
            <a:r>
              <a:rPr lang="en-US" sz="2025" b="1" dirty="0">
                <a:solidFill>
                  <a:srgbClr val="1A93A7"/>
                </a:solidFill>
                <a:latin typeface="Times New Roman" panose="02020603050405020304" pitchFamily="18" charset="0"/>
                <a:ea typeface="Montserrat" pitchFamily="34" charset="-122"/>
                <a:cs typeface="Times New Roman" panose="02020603050405020304" pitchFamily="18" charset="0"/>
              </a:rPr>
              <a:t>NCLEX Program</a:t>
            </a:r>
            <a:endParaRPr lang="en-US" sz="2025" dirty="0">
              <a:latin typeface="Times New Roman" panose="02020603050405020304" pitchFamily="18" charset="0"/>
              <a:cs typeface="Times New Roman" panose="02020603050405020304" pitchFamily="18" charset="0"/>
            </a:endParaRPr>
          </a:p>
        </p:txBody>
      </p:sp>
      <p:sp>
        <p:nvSpPr>
          <p:cNvPr id="8" name="Text 4"/>
          <p:cNvSpPr/>
          <p:nvPr/>
        </p:nvSpPr>
        <p:spPr>
          <a:xfrm>
            <a:off x="857250" y="2604894"/>
            <a:ext cx="3714750" cy="519501"/>
          </a:xfrm>
          <a:prstGeom prst="rect">
            <a:avLst/>
          </a:prstGeom>
          <a:noFill/>
          <a:ln/>
        </p:spPr>
        <p:txBody>
          <a:bodyPr wrap="square" lIns="0" tIns="0" rIns="0" bIns="0" rtlCol="0" anchor="ctr">
            <a:spAutoFit/>
          </a:bodyPr>
          <a:lstStyle/>
          <a:p>
            <a:pPr marL="0" indent="0">
              <a:buNone/>
            </a:pPr>
            <a:r>
              <a:rPr lang="en-US" sz="1688" b="1" dirty="0">
                <a:solidFill>
                  <a:srgbClr val="333333"/>
                </a:solidFill>
                <a:latin typeface="Times New Roman" panose="02020603050405020304" pitchFamily="18" charset="0"/>
                <a:ea typeface="Open Sans" pitchFamily="34" charset="-122"/>
                <a:cs typeface="Times New Roman" panose="02020603050405020304" pitchFamily="18" charset="0"/>
              </a:rPr>
              <a:t>Empowering Palestinian Nurses for U.S. Practice</a:t>
            </a:r>
            <a:endParaRPr lang="en-US" sz="1688"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FDED2A04-E7D3-CF26-FE51-4E575D7873E4}"/>
              </a:ext>
            </a:extLst>
          </p:cNvPr>
          <p:cNvPicPr>
            <a:picLocks noChangeAspect="1"/>
          </p:cNvPicPr>
          <p:nvPr/>
        </p:nvPicPr>
        <p:blipFill>
          <a:blip r:embed="rId3"/>
          <a:stretch>
            <a:fillRect/>
          </a:stretch>
        </p:blipFill>
        <p:spPr>
          <a:xfrm>
            <a:off x="5532110" y="1593034"/>
            <a:ext cx="1923393" cy="2068140"/>
          </a:xfrm>
          <a:prstGeom prst="rect">
            <a:avLst/>
          </a:prstGeom>
        </p:spPr>
      </p:pic>
      <p:sp>
        <p:nvSpPr>
          <p:cNvPr id="15" name="TextBox 14">
            <a:extLst>
              <a:ext uri="{FF2B5EF4-FFF2-40B4-BE49-F238E27FC236}">
                <a16:creationId xmlns:a16="http://schemas.microsoft.com/office/drawing/2014/main" id="{19C3D15F-9B0F-2B26-50F2-30EAE5B217C6}"/>
              </a:ext>
            </a:extLst>
          </p:cNvPr>
          <p:cNvSpPr txBox="1"/>
          <p:nvPr/>
        </p:nvSpPr>
        <p:spPr>
          <a:xfrm>
            <a:off x="693683" y="1847719"/>
            <a:ext cx="184731" cy="369332"/>
          </a:xfrm>
          <a:prstGeom prst="rect">
            <a:avLst/>
          </a:prstGeom>
          <a:noFill/>
        </p:spPr>
        <p:txBody>
          <a:bodyPr wrap="none" rtlCol="0">
            <a:spAutoFit/>
          </a:bodyPr>
          <a:lstStyle/>
          <a:p>
            <a:endParaRPr lang="en-US" dirty="0"/>
          </a:p>
        </p:txBody>
      </p:sp>
      <p:pic>
        <p:nvPicPr>
          <p:cNvPr id="1026" name="Picture 2" descr="Dr. Fidaa  S.  Abu Ali">
            <a:extLst>
              <a:ext uri="{FF2B5EF4-FFF2-40B4-BE49-F238E27FC236}">
                <a16:creationId xmlns:a16="http://schemas.microsoft.com/office/drawing/2014/main" id="{C76D0251-A5C7-5F02-E4F7-8595972C52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4070" y="33704"/>
            <a:ext cx="4019550" cy="362803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Dr. Fidaa  S.  Abu Ali">
            <a:extLst>
              <a:ext uri="{FF2B5EF4-FFF2-40B4-BE49-F238E27FC236}">
                <a16:creationId xmlns:a16="http://schemas.microsoft.com/office/drawing/2014/main" id="{D55E7E7D-B25D-2977-6702-8F81FDC4CF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33704"/>
            <a:ext cx="4258890" cy="36280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981031" y="3621354"/>
            <a:ext cx="6292224" cy="1695225"/>
          </a:xfrm>
          <a:prstGeom prst="rect">
            <a:avLst/>
          </a:prstGeom>
          <a:solidFill>
            <a:srgbClr val="1A93A7"/>
          </a:solidFill>
          <a:ln/>
        </p:spPr>
        <p:txBody>
          <a:bodyPr/>
          <a:lstStyle/>
          <a:p>
            <a:endParaRPr lang="en-US" dirty="0"/>
          </a:p>
        </p:txBody>
      </p:sp>
      <p:sp>
        <p:nvSpPr>
          <p:cNvPr id="4" name="Text 1"/>
          <p:cNvSpPr/>
          <p:nvPr/>
        </p:nvSpPr>
        <p:spPr>
          <a:xfrm>
            <a:off x="2500021" y="66648"/>
            <a:ext cx="4039824" cy="311624"/>
          </a:xfrm>
          <a:prstGeom prst="rect">
            <a:avLst/>
          </a:prstGeom>
          <a:noFill/>
          <a:ln/>
        </p:spPr>
        <p:txBody>
          <a:bodyPr wrap="none" lIns="0" tIns="0" rIns="0" bIns="0" rtlCol="0" anchor="ctr">
            <a:spAutoFit/>
          </a:bodyPr>
          <a:lstStyle/>
          <a:p>
            <a:pPr marL="0" indent="0" algn="ctr">
              <a:buNone/>
            </a:pPr>
            <a:r>
              <a:rPr lang="en-US" sz="2000" b="1" dirty="0">
                <a:solidFill>
                  <a:srgbClr val="0A7C8E"/>
                </a:solidFill>
                <a:latin typeface="Times New Roman" panose="02020603050405020304" pitchFamily="18" charset="0"/>
                <a:ea typeface="Montserrat" pitchFamily="34" charset="-122"/>
                <a:cs typeface="Times New Roman" panose="02020603050405020304" pitchFamily="18" charset="0"/>
              </a:rPr>
              <a:t>Our Professional Guidance Network</a:t>
            </a:r>
            <a:endParaRPr lang="en-US" sz="2000" dirty="0">
              <a:latin typeface="Times New Roman" panose="02020603050405020304" pitchFamily="18" charset="0"/>
              <a:cs typeface="Times New Roman" panose="02020603050405020304" pitchFamily="18" charset="0"/>
            </a:endParaRPr>
          </a:p>
        </p:txBody>
      </p:sp>
      <p:sp>
        <p:nvSpPr>
          <p:cNvPr id="5" name="Text 2"/>
          <p:cNvSpPr/>
          <p:nvPr/>
        </p:nvSpPr>
        <p:spPr>
          <a:xfrm>
            <a:off x="1314450" y="430446"/>
            <a:ext cx="6400800" cy="307777"/>
          </a:xfrm>
          <a:prstGeom prst="rect">
            <a:avLst/>
          </a:prstGeom>
          <a:noFill/>
          <a:ln/>
        </p:spPr>
        <p:txBody>
          <a:bodyPr wrap="square" lIns="0" tIns="0" rIns="0" bIns="0" rtlCol="0" anchor="ctr">
            <a:spAutoFit/>
          </a:bodyPr>
          <a:lstStyle/>
          <a:p>
            <a:pPr marL="0" indent="0" algn="ctr">
              <a:buNone/>
            </a:pPr>
            <a:r>
              <a:rPr lang="en-US" sz="1000" dirty="0">
                <a:solidFill>
                  <a:srgbClr val="333333"/>
                </a:solidFill>
                <a:latin typeface="Times New Roman" panose="02020603050405020304" pitchFamily="18" charset="0"/>
                <a:ea typeface="Noto Sans" pitchFamily="34" charset="-122"/>
                <a:cs typeface="Times New Roman" panose="02020603050405020304" pitchFamily="18" charset="0"/>
              </a:rPr>
              <a:t>Our program features experienced Palestinian-American healthcare professionals who provide personalized guidance throughout the journey from preparation to U.S. practice.</a:t>
            </a:r>
            <a:endParaRPr lang="en-US" sz="1000" dirty="0">
              <a:latin typeface="Times New Roman" panose="02020603050405020304" pitchFamily="18" charset="0"/>
              <a:cs typeface="Times New Roman" panose="02020603050405020304" pitchFamily="18" charset="0"/>
            </a:endParaRPr>
          </a:p>
        </p:txBody>
      </p:sp>
      <p:sp>
        <p:nvSpPr>
          <p:cNvPr id="7" name="Text 4"/>
          <p:cNvSpPr/>
          <p:nvPr/>
        </p:nvSpPr>
        <p:spPr>
          <a:xfrm>
            <a:off x="857250" y="2124975"/>
            <a:ext cx="457200" cy="207749"/>
          </a:xfrm>
          <a:prstGeom prst="rect">
            <a:avLst/>
          </a:prstGeom>
          <a:noFill/>
          <a:ln/>
        </p:spPr>
        <p:txBody>
          <a:bodyPr wrap="square" lIns="0" tIns="0" rIns="0" bIns="0" rtlCol="0" anchor="ctr">
            <a:spAutoFit/>
          </a:bodyPr>
          <a:lstStyle/>
          <a:p>
            <a:pPr marL="0" indent="0" algn="ctr">
              <a:buNone/>
            </a:pPr>
            <a:r>
              <a:rPr lang="en-US" sz="1350" b="1" dirty="0">
                <a:solidFill>
                  <a:srgbClr val="FFFFFF"/>
                </a:solidFill>
                <a:latin typeface="Noto Sans" pitchFamily="34" charset="0"/>
                <a:ea typeface="Noto Sans" pitchFamily="34" charset="-122"/>
                <a:cs typeface="Noto Sans" pitchFamily="34" charset="-120"/>
              </a:rPr>
              <a:t>  </a:t>
            </a:r>
            <a:endParaRPr lang="en-US" sz="1350" dirty="0"/>
          </a:p>
        </p:txBody>
      </p:sp>
      <p:sp>
        <p:nvSpPr>
          <p:cNvPr id="8" name="Text 5"/>
          <p:cNvSpPr/>
          <p:nvPr/>
        </p:nvSpPr>
        <p:spPr>
          <a:xfrm>
            <a:off x="410966" y="1568403"/>
            <a:ext cx="3799003" cy="321883"/>
          </a:xfrm>
          <a:prstGeom prst="rect">
            <a:avLst/>
          </a:prstGeom>
          <a:noFill/>
          <a:ln/>
        </p:spPr>
        <p:txBody>
          <a:bodyPr wrap="square" lIns="0" tIns="0" rIns="0" bIns="0" rtlCol="0" anchor="ctr">
            <a:spAutoFit/>
          </a:bodyPr>
          <a:lstStyle/>
          <a:p>
            <a:endParaRPr lang="en-US" sz="1046" b="1" dirty="0">
              <a:solidFill>
                <a:srgbClr val="0A7C8E"/>
              </a:solidFill>
              <a:latin typeface="Montserrat" pitchFamily="34" charset="0"/>
              <a:ea typeface="Montserrat" pitchFamily="34" charset="-122"/>
              <a:cs typeface="Montserrat" pitchFamily="34" charset="-120"/>
            </a:endParaRPr>
          </a:p>
          <a:p>
            <a:r>
              <a:rPr lang="en-US" sz="1046" b="1" dirty="0">
                <a:solidFill>
                  <a:srgbClr val="0A7C8E"/>
                </a:solidFill>
                <a:latin typeface="Montserrat" pitchFamily="34" charset="0"/>
                <a:ea typeface="Montserrat" pitchFamily="34" charset="-122"/>
                <a:cs typeface="Montserrat" pitchFamily="34" charset="-120"/>
              </a:rPr>
              <a:t>Mr. Hesham </a:t>
            </a:r>
            <a:r>
              <a:rPr lang="en-US" sz="1046" b="1" dirty="0" err="1">
                <a:solidFill>
                  <a:srgbClr val="0A7C8E"/>
                </a:solidFill>
                <a:latin typeface="Montserrat" pitchFamily="34" charset="0"/>
                <a:ea typeface="Montserrat" pitchFamily="34" charset="-122"/>
                <a:cs typeface="Montserrat" pitchFamily="34" charset="-120"/>
              </a:rPr>
              <a:t>Alsayyad</a:t>
            </a:r>
            <a:r>
              <a:rPr lang="en-US" sz="1046" b="1" dirty="0">
                <a:solidFill>
                  <a:srgbClr val="0A7C8E"/>
                </a:solidFill>
                <a:latin typeface="Montserrat" pitchFamily="34" charset="0"/>
                <a:ea typeface="Montserrat" pitchFamily="34" charset="-122"/>
                <a:cs typeface="Montserrat" pitchFamily="34" charset="-120"/>
              </a:rPr>
              <a:t>, MSN, MBA, CPHQ, VA-BC, PMP  </a:t>
            </a:r>
            <a:endParaRPr lang="en-US" sz="1046" dirty="0"/>
          </a:p>
        </p:txBody>
      </p:sp>
      <p:sp>
        <p:nvSpPr>
          <p:cNvPr id="9" name="Text 6"/>
          <p:cNvSpPr/>
          <p:nvPr/>
        </p:nvSpPr>
        <p:spPr>
          <a:xfrm>
            <a:off x="742950" y="1955698"/>
            <a:ext cx="2603277" cy="169277"/>
          </a:xfrm>
          <a:prstGeom prst="rect">
            <a:avLst/>
          </a:prstGeom>
          <a:noFill/>
          <a:ln/>
        </p:spPr>
        <p:txBody>
          <a:bodyPr wrap="none" lIns="0" tIns="0" rIns="0" bIns="0" rtlCol="0" anchor="ctr">
            <a:spAutoFit/>
          </a:bodyPr>
          <a:lstStyle/>
          <a:p>
            <a:pPr marL="0" indent="0">
              <a:buNone/>
            </a:pPr>
            <a:r>
              <a:rPr lang="en-US" sz="1100" b="1" dirty="0">
                <a:solidFill>
                  <a:srgbClr val="1A93A7"/>
                </a:solidFill>
                <a:latin typeface="Times New Roman" panose="02020603050405020304" pitchFamily="18" charset="0"/>
                <a:ea typeface="Noto Sans" pitchFamily="34" charset="-122"/>
                <a:cs typeface="Times New Roman" panose="02020603050405020304" pitchFamily="18" charset="0"/>
              </a:rPr>
              <a:t>Lead NCLEX Instructor – California, USA</a:t>
            </a:r>
            <a:endParaRPr lang="en-US" sz="1100" dirty="0">
              <a:latin typeface="Times New Roman" panose="02020603050405020304" pitchFamily="18" charset="0"/>
              <a:cs typeface="Times New Roman" panose="02020603050405020304" pitchFamily="18" charset="0"/>
            </a:endParaRPr>
          </a:p>
        </p:txBody>
      </p:sp>
      <p:sp>
        <p:nvSpPr>
          <p:cNvPr id="10" name="Text 7"/>
          <p:cNvSpPr/>
          <p:nvPr/>
        </p:nvSpPr>
        <p:spPr>
          <a:xfrm>
            <a:off x="742950" y="2421155"/>
            <a:ext cx="3429000" cy="128818"/>
          </a:xfrm>
          <a:prstGeom prst="rect">
            <a:avLst/>
          </a:prstGeom>
          <a:noFill/>
          <a:ln/>
        </p:spPr>
        <p:txBody>
          <a:bodyPr wrap="squar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a:t>
            </a:r>
            <a:endParaRPr lang="en-US" sz="837" dirty="0"/>
          </a:p>
        </p:txBody>
      </p:sp>
      <p:sp>
        <p:nvSpPr>
          <p:cNvPr id="12" name="Text 9"/>
          <p:cNvSpPr/>
          <p:nvPr/>
        </p:nvSpPr>
        <p:spPr>
          <a:xfrm>
            <a:off x="5086350" y="2124975"/>
            <a:ext cx="364529" cy="207749"/>
          </a:xfrm>
          <a:prstGeom prst="rect">
            <a:avLst/>
          </a:prstGeom>
          <a:noFill/>
          <a:ln/>
        </p:spPr>
        <p:txBody>
          <a:bodyPr wrap="square" lIns="0" tIns="0" rIns="0" bIns="0" rtlCol="0" anchor="ctr">
            <a:spAutoFit/>
          </a:bodyPr>
          <a:lstStyle/>
          <a:p>
            <a:pPr marL="0" indent="0" algn="ctr">
              <a:buNone/>
            </a:pPr>
            <a:r>
              <a:rPr lang="en-US" sz="1350" b="1" dirty="0">
                <a:solidFill>
                  <a:srgbClr val="FFFFFF"/>
                </a:solidFill>
                <a:latin typeface="Noto Sans" pitchFamily="34" charset="0"/>
                <a:ea typeface="Noto Sans" pitchFamily="34" charset="-122"/>
                <a:cs typeface="Noto Sans" pitchFamily="34" charset="-120"/>
              </a:rPr>
              <a:t>  </a:t>
            </a:r>
            <a:endParaRPr lang="en-US" sz="1350" dirty="0"/>
          </a:p>
        </p:txBody>
      </p:sp>
      <p:sp>
        <p:nvSpPr>
          <p:cNvPr id="13" name="Text 10"/>
          <p:cNvSpPr/>
          <p:nvPr/>
        </p:nvSpPr>
        <p:spPr>
          <a:xfrm>
            <a:off x="4806813" y="1741937"/>
            <a:ext cx="3600329" cy="160941"/>
          </a:xfrm>
          <a:prstGeom prst="rect">
            <a:avLst/>
          </a:prstGeom>
          <a:noFill/>
          <a:ln/>
        </p:spPr>
        <p:txBody>
          <a:bodyPr wrap="square" lIns="0" tIns="0" rIns="0" bIns="0" rtlCol="0" anchor="ctr">
            <a:spAutoFit/>
          </a:bodyPr>
          <a:lstStyle/>
          <a:p>
            <a:r>
              <a:rPr lang="en-US" sz="1046" b="1" dirty="0">
                <a:solidFill>
                  <a:srgbClr val="0A7C8E"/>
                </a:solidFill>
                <a:latin typeface="Montserrat" pitchFamily="34" charset="0"/>
              </a:rPr>
              <a:t>Dr. Awni </a:t>
            </a:r>
            <a:r>
              <a:rPr lang="en-US" sz="1046" b="1" dirty="0" err="1">
                <a:solidFill>
                  <a:srgbClr val="0A7C8E"/>
                </a:solidFill>
                <a:latin typeface="Montserrat" pitchFamily="34" charset="0"/>
              </a:rPr>
              <a:t>Dweekat</a:t>
            </a:r>
            <a:r>
              <a:rPr lang="en-US" sz="1046" b="1" dirty="0">
                <a:solidFill>
                  <a:srgbClr val="0A7C8E"/>
                </a:solidFill>
                <a:latin typeface="Montserrat" pitchFamily="34" charset="0"/>
              </a:rPr>
              <a:t>, DNP, MSN, BSN, RN, CCRN</a:t>
            </a:r>
          </a:p>
        </p:txBody>
      </p:sp>
      <p:sp>
        <p:nvSpPr>
          <p:cNvPr id="14" name="Text 11"/>
          <p:cNvSpPr/>
          <p:nvPr/>
        </p:nvSpPr>
        <p:spPr>
          <a:xfrm>
            <a:off x="5570226" y="1429501"/>
            <a:ext cx="65" cy="144976"/>
          </a:xfrm>
          <a:prstGeom prst="rect">
            <a:avLst/>
          </a:prstGeom>
          <a:noFill/>
          <a:ln/>
        </p:spPr>
        <p:txBody>
          <a:bodyPr wrap="none" lIns="0" tIns="0" rIns="0" bIns="0" rtlCol="0" anchor="ctr">
            <a:spAutoFit/>
          </a:bodyPr>
          <a:lstStyle/>
          <a:p>
            <a:pPr marL="0" indent="0">
              <a:buNone/>
            </a:pPr>
            <a:endParaRPr lang="en-US" sz="942" dirty="0"/>
          </a:p>
        </p:txBody>
      </p:sp>
      <p:sp>
        <p:nvSpPr>
          <p:cNvPr id="15" name="Text 12"/>
          <p:cNvSpPr/>
          <p:nvPr/>
        </p:nvSpPr>
        <p:spPr>
          <a:xfrm>
            <a:off x="5434980" y="1928992"/>
            <a:ext cx="2743200" cy="128818"/>
          </a:xfrm>
          <a:prstGeom prst="rect">
            <a:avLst/>
          </a:prstGeom>
          <a:noFill/>
          <a:ln/>
        </p:spPr>
        <p:txBody>
          <a:bodyPr wrap="squar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a:t>
            </a:r>
            <a:endParaRPr lang="en-US" sz="837" dirty="0"/>
          </a:p>
        </p:txBody>
      </p:sp>
      <p:sp>
        <p:nvSpPr>
          <p:cNvPr id="17" name="Text 14"/>
          <p:cNvSpPr/>
          <p:nvPr/>
        </p:nvSpPr>
        <p:spPr>
          <a:xfrm>
            <a:off x="857250" y="3925200"/>
            <a:ext cx="457200" cy="207749"/>
          </a:xfrm>
          <a:prstGeom prst="rect">
            <a:avLst/>
          </a:prstGeom>
          <a:noFill/>
          <a:ln/>
        </p:spPr>
        <p:txBody>
          <a:bodyPr wrap="square" lIns="0" tIns="0" rIns="0" bIns="0" rtlCol="0" anchor="ctr">
            <a:spAutoFit/>
          </a:bodyPr>
          <a:lstStyle/>
          <a:p>
            <a:pPr marL="0" indent="0" algn="ctr">
              <a:buNone/>
            </a:pPr>
            <a:r>
              <a:rPr lang="en-US" sz="1350" b="1" dirty="0">
                <a:solidFill>
                  <a:srgbClr val="FFFFFF"/>
                </a:solidFill>
                <a:latin typeface="Noto Sans" pitchFamily="34" charset="0"/>
                <a:ea typeface="Noto Sans" pitchFamily="34" charset="-122"/>
                <a:cs typeface="Noto Sans" pitchFamily="34" charset="-120"/>
              </a:rPr>
              <a:t>  </a:t>
            </a:r>
            <a:endParaRPr lang="en-US" sz="1350" dirty="0"/>
          </a:p>
        </p:txBody>
      </p:sp>
      <p:sp>
        <p:nvSpPr>
          <p:cNvPr id="18" name="Text 15"/>
          <p:cNvSpPr/>
          <p:nvPr/>
        </p:nvSpPr>
        <p:spPr>
          <a:xfrm>
            <a:off x="1505190" y="3895832"/>
            <a:ext cx="65" cy="160941"/>
          </a:xfrm>
          <a:prstGeom prst="rect">
            <a:avLst/>
          </a:prstGeom>
          <a:noFill/>
          <a:ln/>
        </p:spPr>
        <p:txBody>
          <a:bodyPr wrap="none" lIns="0" tIns="0" rIns="0" bIns="0" rtlCol="0" anchor="ctr">
            <a:spAutoFit/>
          </a:bodyPr>
          <a:lstStyle/>
          <a:p>
            <a:pPr marL="0" indent="0">
              <a:buNone/>
            </a:pPr>
            <a:endParaRPr lang="en-US" sz="1046" dirty="0"/>
          </a:p>
        </p:txBody>
      </p:sp>
      <p:sp>
        <p:nvSpPr>
          <p:cNvPr id="19" name="Text 16"/>
          <p:cNvSpPr/>
          <p:nvPr/>
        </p:nvSpPr>
        <p:spPr>
          <a:xfrm>
            <a:off x="981031" y="4157524"/>
            <a:ext cx="68930" cy="184666"/>
          </a:xfrm>
          <a:prstGeom prst="rect">
            <a:avLst/>
          </a:prstGeom>
          <a:noFill/>
          <a:ln/>
        </p:spPr>
        <p:txBody>
          <a:bodyPr wrap="none" lIns="0" tIns="0" rIns="0" bIns="0" rtlCol="0" anchor="ctr">
            <a:spAutoFit/>
          </a:bodyPr>
          <a:lstStyle/>
          <a:p>
            <a:pPr marL="0" indent="0">
              <a:buNone/>
            </a:pPr>
            <a:r>
              <a:rPr lang="en-US" sz="1200" b="1" dirty="0">
                <a:solidFill>
                  <a:srgbClr val="1A93A7"/>
                </a:solidFill>
                <a:latin typeface="Times New Roman" panose="02020603050405020304" pitchFamily="18" charset="0"/>
                <a:ea typeface="Noto Sans" pitchFamily="34" charset="-122"/>
                <a:cs typeface="Times New Roman" panose="02020603050405020304" pitchFamily="18" charset="0"/>
              </a:rPr>
              <a:t>e</a:t>
            </a:r>
            <a:endParaRPr lang="en-US" sz="1200" dirty="0">
              <a:latin typeface="Times New Roman" panose="02020603050405020304" pitchFamily="18" charset="0"/>
              <a:cs typeface="Times New Roman" panose="02020603050405020304" pitchFamily="18" charset="0"/>
            </a:endParaRPr>
          </a:p>
        </p:txBody>
      </p:sp>
      <p:sp>
        <p:nvSpPr>
          <p:cNvPr id="20" name="Text 17"/>
          <p:cNvSpPr/>
          <p:nvPr/>
        </p:nvSpPr>
        <p:spPr>
          <a:xfrm>
            <a:off x="938868" y="4322345"/>
            <a:ext cx="2743200" cy="128818"/>
          </a:xfrm>
          <a:prstGeom prst="rect">
            <a:avLst/>
          </a:prstGeom>
          <a:noFill/>
          <a:ln/>
        </p:spPr>
        <p:txBody>
          <a:bodyPr wrap="square" lIns="0" tIns="0" rIns="0" bIns="0" rtlCol="0" anchor="ctr">
            <a:spAutoFit/>
          </a:bodyPr>
          <a:lstStyle/>
          <a:p>
            <a:pPr marL="0" indent="0">
              <a:buNone/>
            </a:pPr>
            <a:endParaRPr lang="en-US" sz="837" dirty="0"/>
          </a:p>
        </p:txBody>
      </p:sp>
      <p:sp>
        <p:nvSpPr>
          <p:cNvPr id="22" name="Text 19"/>
          <p:cNvSpPr/>
          <p:nvPr/>
        </p:nvSpPr>
        <p:spPr>
          <a:xfrm>
            <a:off x="5086350" y="3925200"/>
            <a:ext cx="3637172" cy="207749"/>
          </a:xfrm>
          <a:prstGeom prst="rect">
            <a:avLst/>
          </a:prstGeom>
          <a:noFill/>
          <a:ln/>
        </p:spPr>
        <p:txBody>
          <a:bodyPr wrap="square" lIns="0" tIns="0" rIns="0" bIns="0" rtlCol="0" anchor="ctr">
            <a:spAutoFit/>
          </a:bodyPr>
          <a:lstStyle/>
          <a:p>
            <a:pPr marL="0" indent="0" algn="ctr">
              <a:buNone/>
            </a:pPr>
            <a:r>
              <a:rPr lang="en-US" sz="1350" b="1" dirty="0">
                <a:solidFill>
                  <a:srgbClr val="FFFFFF"/>
                </a:solidFill>
                <a:latin typeface="Noto Sans" pitchFamily="34" charset="0"/>
                <a:ea typeface="Noto Sans" pitchFamily="34" charset="-122"/>
                <a:cs typeface="Noto Sans" pitchFamily="34" charset="-120"/>
              </a:rPr>
              <a:t> </a:t>
            </a:r>
            <a:endParaRPr lang="en-US" sz="1350" dirty="0"/>
          </a:p>
        </p:txBody>
      </p:sp>
      <p:sp>
        <p:nvSpPr>
          <p:cNvPr id="23" name="Text 20"/>
          <p:cNvSpPr/>
          <p:nvPr/>
        </p:nvSpPr>
        <p:spPr>
          <a:xfrm>
            <a:off x="5271354" y="3956603"/>
            <a:ext cx="3655506" cy="160941"/>
          </a:xfrm>
          <a:prstGeom prst="rect">
            <a:avLst/>
          </a:prstGeom>
          <a:noFill/>
          <a:ln/>
        </p:spPr>
        <p:txBody>
          <a:bodyPr wrap="square" lIns="0" tIns="0" rIns="0" bIns="0" rtlCol="0" anchor="ctr">
            <a:spAutoFit/>
          </a:bodyPr>
          <a:lstStyle/>
          <a:p>
            <a:pPr marL="0" indent="0">
              <a:buNone/>
            </a:pPr>
            <a:endParaRPr lang="en-US" sz="1046" dirty="0"/>
          </a:p>
        </p:txBody>
      </p:sp>
      <p:sp>
        <p:nvSpPr>
          <p:cNvPr id="24" name="Text 21"/>
          <p:cNvSpPr/>
          <p:nvPr/>
        </p:nvSpPr>
        <p:spPr>
          <a:xfrm>
            <a:off x="4754487" y="4218900"/>
            <a:ext cx="3969035" cy="169277"/>
          </a:xfrm>
          <a:prstGeom prst="rect">
            <a:avLst/>
          </a:prstGeom>
          <a:noFill/>
          <a:ln/>
        </p:spPr>
        <p:txBody>
          <a:bodyPr wrap="none" lIns="0" tIns="0" rIns="0" bIns="0" rtlCol="0" anchor="ctr">
            <a:spAutoFit/>
          </a:bodyPr>
          <a:lstStyle/>
          <a:p>
            <a:pPr marL="0" indent="0">
              <a:buNone/>
            </a:pPr>
            <a:r>
              <a:rPr lang="en-US" sz="1100" b="1" dirty="0">
                <a:solidFill>
                  <a:srgbClr val="1A93A7"/>
                </a:solidFill>
                <a:latin typeface="Times New Roman" panose="02020603050405020304" pitchFamily="18" charset="0"/>
                <a:ea typeface="Noto Sans" pitchFamily="34" charset="-122"/>
                <a:cs typeface="Times New Roman" panose="02020603050405020304" pitchFamily="18" charset="0"/>
              </a:rPr>
              <a:t>Cultural Transition and NCLEX Instructor – Ramallah, Palestine</a:t>
            </a:r>
            <a:endParaRPr lang="en-US" sz="1100" dirty="0">
              <a:latin typeface="Times New Roman" panose="02020603050405020304" pitchFamily="18" charset="0"/>
              <a:cs typeface="Times New Roman" panose="02020603050405020304" pitchFamily="18" charset="0"/>
            </a:endParaRPr>
          </a:p>
        </p:txBody>
      </p:sp>
      <p:sp>
        <p:nvSpPr>
          <p:cNvPr id="25" name="Text 22"/>
          <p:cNvSpPr/>
          <p:nvPr/>
        </p:nvSpPr>
        <p:spPr>
          <a:xfrm>
            <a:off x="4876106" y="5044980"/>
            <a:ext cx="3859124" cy="138499"/>
          </a:xfrm>
          <a:prstGeom prst="rect">
            <a:avLst/>
          </a:prstGeom>
          <a:noFill/>
          <a:ln/>
        </p:spPr>
        <p:txBody>
          <a:bodyPr wrap="square" lIns="0" tIns="0" rIns="0" bIns="0" rtlCol="0" anchor="ctr">
            <a:spAutoFit/>
          </a:bodyPr>
          <a:lstStyle/>
          <a:p>
            <a:pPr marL="0" indent="0">
              <a:buNone/>
            </a:pPr>
            <a:endParaRPr lang="en-US" sz="900" dirty="0"/>
          </a:p>
        </p:txBody>
      </p:sp>
      <p:sp>
        <p:nvSpPr>
          <p:cNvPr id="27" name="TextBox 26">
            <a:extLst>
              <a:ext uri="{FF2B5EF4-FFF2-40B4-BE49-F238E27FC236}">
                <a16:creationId xmlns:a16="http://schemas.microsoft.com/office/drawing/2014/main" id="{3214390C-1F5B-C456-8E53-43736C8ECB70}"/>
              </a:ext>
            </a:extLst>
          </p:cNvPr>
          <p:cNvSpPr txBox="1"/>
          <p:nvPr/>
        </p:nvSpPr>
        <p:spPr>
          <a:xfrm>
            <a:off x="873380" y="1623260"/>
            <a:ext cx="6139382" cy="3693319"/>
          </a:xfrm>
          <a:prstGeom prst="rect">
            <a:avLst/>
          </a:prstGeom>
          <a:noFill/>
        </p:spPr>
        <p:txBody>
          <a:bodyPr wrap="square" rtlCol="0">
            <a:spAutoFit/>
          </a:bodyPr>
          <a:lstStyle/>
          <a:p>
            <a:pPr algn="ctr"/>
            <a:endParaRPr lang="en-US" sz="1200" b="1" dirty="0">
              <a:solidFill>
                <a:srgbClr val="0A7C8E"/>
              </a:solidFill>
              <a:latin typeface="Montserrat" pitchFamily="34" charset="0"/>
              <a:cs typeface="Times New Roman" panose="02020603050405020304" pitchFamily="18" charset="0"/>
            </a:endParaRPr>
          </a:p>
          <a:p>
            <a:pPr algn="ctr"/>
            <a:endParaRPr lang="en-US" sz="1200" b="1" dirty="0">
              <a:solidFill>
                <a:srgbClr val="0A7C8E"/>
              </a:solidFill>
              <a:latin typeface="Montserrat" pitchFamily="34" charset="0"/>
              <a:cs typeface="Times New Roman" panose="02020603050405020304" pitchFamily="18" charset="0"/>
            </a:endParaRPr>
          </a:p>
          <a:p>
            <a:pPr algn="ctr"/>
            <a:endParaRPr lang="en-US" sz="1200" b="1" dirty="0">
              <a:solidFill>
                <a:srgbClr val="0A7C8E"/>
              </a:solidFill>
              <a:latin typeface="Montserrat" pitchFamily="34" charset="0"/>
              <a:cs typeface="Times New Roman" panose="02020603050405020304" pitchFamily="18" charset="0"/>
            </a:endParaRPr>
          </a:p>
          <a:p>
            <a:pPr algn="ctr"/>
            <a:endParaRPr lang="en-US" sz="1200" b="1" dirty="0">
              <a:solidFill>
                <a:srgbClr val="0A7C8E"/>
              </a:solidFill>
              <a:latin typeface="Montserrat" pitchFamily="34" charset="0"/>
              <a:cs typeface="Times New Roman" panose="02020603050405020304" pitchFamily="18" charset="0"/>
            </a:endParaRPr>
          </a:p>
          <a:p>
            <a:pPr algn="ctr"/>
            <a:endParaRPr lang="en-US" sz="1200" b="1" dirty="0">
              <a:solidFill>
                <a:srgbClr val="0A7C8E"/>
              </a:solidFill>
              <a:latin typeface="Montserrat" pitchFamily="34" charset="0"/>
              <a:cs typeface="Times New Roman" panose="02020603050405020304" pitchFamily="18" charset="0"/>
            </a:endParaRPr>
          </a:p>
          <a:p>
            <a:pPr algn="ctr"/>
            <a:endParaRPr lang="en-US" sz="1200" b="1" dirty="0">
              <a:solidFill>
                <a:srgbClr val="0A7C8E"/>
              </a:solidFill>
              <a:latin typeface="Montserrat" pitchFamily="34" charset="0"/>
              <a:cs typeface="Times New Roman" panose="02020603050405020304" pitchFamily="18" charset="0"/>
            </a:endParaRPr>
          </a:p>
          <a:p>
            <a:pPr algn="ctr"/>
            <a:endParaRPr lang="en-US" sz="1200" b="1" dirty="0">
              <a:solidFill>
                <a:srgbClr val="0A7C8E"/>
              </a:solidFill>
              <a:latin typeface="Montserrat" pitchFamily="34" charset="0"/>
              <a:cs typeface="Times New Roman" panose="02020603050405020304" pitchFamily="18" charset="0"/>
            </a:endParaRPr>
          </a:p>
          <a:p>
            <a:pPr algn="ctr"/>
            <a:endParaRPr lang="en-US" sz="1200" b="1" dirty="0">
              <a:solidFill>
                <a:srgbClr val="0A7C8E"/>
              </a:solidFill>
              <a:latin typeface="Montserrat" pitchFamily="34" charset="0"/>
              <a:cs typeface="Times New Roman" panose="02020603050405020304" pitchFamily="18" charset="0"/>
            </a:endParaRPr>
          </a:p>
          <a:p>
            <a:pPr algn="ctr"/>
            <a:endParaRPr lang="en-US" sz="1200" b="1" dirty="0">
              <a:solidFill>
                <a:srgbClr val="0A7C8E"/>
              </a:solidFill>
              <a:latin typeface="Montserrat" pitchFamily="34" charset="0"/>
              <a:cs typeface="Times New Roman" panose="02020603050405020304" pitchFamily="18" charset="0"/>
            </a:endParaRPr>
          </a:p>
          <a:p>
            <a:pPr algn="ctr"/>
            <a:endParaRPr lang="en-US" sz="1200" b="1" dirty="0">
              <a:solidFill>
                <a:srgbClr val="0A7C8E"/>
              </a:solidFill>
              <a:latin typeface="Montserrat" pitchFamily="34" charset="0"/>
              <a:cs typeface="Times New Roman" panose="02020603050405020304" pitchFamily="18" charset="0"/>
            </a:endParaRPr>
          </a:p>
          <a:p>
            <a:pPr algn="ctr"/>
            <a:endParaRPr lang="en-US" sz="1200" b="1" dirty="0">
              <a:solidFill>
                <a:srgbClr val="0A7C8E"/>
              </a:solidFill>
              <a:latin typeface="Montserrat" pitchFamily="34" charset="0"/>
              <a:cs typeface="Times New Roman" panose="02020603050405020304" pitchFamily="18" charset="0"/>
            </a:endParaRPr>
          </a:p>
          <a:p>
            <a:pPr algn="ctr"/>
            <a:r>
              <a:rPr lang="en-US" sz="1400" b="1" dirty="0">
                <a:solidFill>
                  <a:srgbClr val="FFFF00"/>
                </a:solidFill>
                <a:latin typeface="Montserrat" pitchFamily="34" charset="0"/>
                <a:cs typeface="Times New Roman" panose="02020603050405020304" pitchFamily="18" charset="0"/>
              </a:rPr>
              <a:t>Dr. Fidaa Abu Ali, PhD, MPH, SON, BSN</a:t>
            </a:r>
          </a:p>
          <a:p>
            <a:pPr algn="ctr"/>
            <a:r>
              <a:rPr lang="en-US" sz="1400" b="1" dirty="0">
                <a:solidFill>
                  <a:srgbClr val="FFFF00"/>
                </a:solidFill>
                <a:latin typeface="Times New Roman" panose="02020603050405020304" pitchFamily="18" charset="0"/>
                <a:cs typeface="Times New Roman" panose="02020603050405020304" pitchFamily="18" charset="0"/>
              </a:rPr>
              <a:t>Clinical expertise, Academic leadership, Digital innovation – Nablus, Palestine</a:t>
            </a:r>
          </a:p>
          <a:p>
            <a:pPr algn="ctr"/>
            <a:endParaRPr lang="en-US" sz="1000" b="1" dirty="0">
              <a:solidFill>
                <a:srgbClr val="0A7C8E"/>
              </a:solidFill>
              <a:latin typeface="Montserrat" pitchFamily="34" charset="0"/>
              <a:cs typeface="Times New Roman" panose="02020603050405020304" pitchFamily="18" charset="0"/>
            </a:endParaRPr>
          </a:p>
          <a:p>
            <a:pPr algn="ctr"/>
            <a:r>
              <a:rPr lang="en-US" sz="1600" dirty="0">
                <a:solidFill>
                  <a:schemeClr val="accent1">
                    <a:lumMod val="50000"/>
                  </a:schemeClr>
                </a:solidFill>
                <a:latin typeface="Times New Roman" panose="02020603050405020304" pitchFamily="18" charset="0"/>
                <a:cs typeface="Times New Roman" panose="02020603050405020304" pitchFamily="18" charset="0"/>
              </a:rPr>
              <a:t>PhD in the Philosophy of Nursing, Experienced nursing and public health professional, an MPH, and a BScN. Skilled in clinical care, academic leadership, project management, and digital education. Proven impact across Palestine’s healthcare and higher education sectors.</a:t>
            </a:r>
          </a:p>
        </p:txBody>
      </p:sp>
      <p:sp>
        <p:nvSpPr>
          <p:cNvPr id="31" name="TextBox 30">
            <a:extLst>
              <a:ext uri="{FF2B5EF4-FFF2-40B4-BE49-F238E27FC236}">
                <a16:creationId xmlns:a16="http://schemas.microsoft.com/office/drawing/2014/main" id="{E07EA6FB-3039-11D5-4F6D-14258704401B}"/>
              </a:ext>
            </a:extLst>
          </p:cNvPr>
          <p:cNvSpPr txBox="1"/>
          <p:nvPr/>
        </p:nvSpPr>
        <p:spPr>
          <a:xfrm>
            <a:off x="4467726" y="1945942"/>
            <a:ext cx="4194016" cy="538609"/>
          </a:xfrm>
          <a:prstGeom prst="rect">
            <a:avLst/>
          </a:prstGeom>
          <a:noFill/>
        </p:spPr>
        <p:txBody>
          <a:bodyPr wrap="square" rtlCol="0">
            <a:spAutoFit/>
          </a:bodyPr>
          <a:lstStyle/>
          <a:p>
            <a:r>
              <a:rPr lang="en-US" sz="1100" b="1" dirty="0">
                <a:solidFill>
                  <a:srgbClr val="1A93A7"/>
                </a:solidFill>
                <a:latin typeface="Times New Roman" panose="02020603050405020304" pitchFamily="18" charset="0"/>
                <a:ea typeface="Noto Sans" pitchFamily="34" charset="-122"/>
                <a:cs typeface="Times New Roman" panose="02020603050405020304" pitchFamily="18" charset="0"/>
              </a:rPr>
              <a:t>Cultural Transition and NCLEX Instructor – Ramallah, Palestine</a:t>
            </a:r>
            <a:endParaRPr lang="en-US" sz="1100" dirty="0">
              <a:latin typeface="Times New Roman" panose="02020603050405020304" pitchFamily="18" charset="0"/>
              <a:cs typeface="Times New Roman" panose="02020603050405020304" pitchFamily="18" charset="0"/>
            </a:endParaRPr>
          </a:p>
          <a:p>
            <a:endParaRPr lang="en-US" dirty="0"/>
          </a:p>
        </p:txBody>
      </p:sp>
      <p:sp>
        <p:nvSpPr>
          <p:cNvPr id="32" name="TextBox 31">
            <a:extLst>
              <a:ext uri="{FF2B5EF4-FFF2-40B4-BE49-F238E27FC236}">
                <a16:creationId xmlns:a16="http://schemas.microsoft.com/office/drawing/2014/main" id="{9A1C27CB-689E-5052-C49F-9160667A0245}"/>
              </a:ext>
            </a:extLst>
          </p:cNvPr>
          <p:cNvSpPr txBox="1"/>
          <p:nvPr/>
        </p:nvSpPr>
        <p:spPr>
          <a:xfrm>
            <a:off x="4478378" y="2214330"/>
            <a:ext cx="4256503" cy="1200329"/>
          </a:xfrm>
          <a:prstGeom prst="rect">
            <a:avLst/>
          </a:prstGeom>
          <a:noFill/>
        </p:spPr>
        <p:txBody>
          <a:bodyPr wrap="square" rtlCol="0">
            <a:spAutoFit/>
          </a:bodyPr>
          <a:lstStyle/>
          <a:p>
            <a:r>
              <a:rPr lang="en-US" sz="1200" dirty="0">
                <a:solidFill>
                  <a:srgbClr val="333333"/>
                </a:solidFill>
                <a:latin typeface="Times New Roman" panose="02020603050405020304" pitchFamily="18" charset="0"/>
                <a:ea typeface="Noto Sans" pitchFamily="34" charset="-122"/>
                <a:cs typeface="Times New Roman" panose="02020603050405020304" pitchFamily="18" charset="0"/>
              </a:rPr>
              <a:t>Doctor of Nursing Practice (EBP) Critical Care. Palestinian-American nurse with 20+ years experience in both healthcare systems. Provides cultural orientation, professional development, and personal support to help nurses adapt to U.S. healthcare environments and workplace culture. NCLEX orientation and instructor, background with critical</a:t>
            </a:r>
            <a:endParaRPr lang="en-US" sz="1200" dirty="0"/>
          </a:p>
        </p:txBody>
      </p:sp>
      <p:sp>
        <p:nvSpPr>
          <p:cNvPr id="40" name="TextBox 39">
            <a:extLst>
              <a:ext uri="{FF2B5EF4-FFF2-40B4-BE49-F238E27FC236}">
                <a16:creationId xmlns:a16="http://schemas.microsoft.com/office/drawing/2014/main" id="{310742B6-3FBE-51E9-ABD0-095C9F6666F2}"/>
              </a:ext>
            </a:extLst>
          </p:cNvPr>
          <p:cNvSpPr txBox="1"/>
          <p:nvPr/>
        </p:nvSpPr>
        <p:spPr>
          <a:xfrm>
            <a:off x="195325" y="2177575"/>
            <a:ext cx="4147145" cy="1569660"/>
          </a:xfrm>
          <a:prstGeom prst="rect">
            <a:avLst/>
          </a:prstGeom>
          <a:noFill/>
        </p:spPr>
        <p:txBody>
          <a:bodyPr wrap="square">
            <a:spAutoFit/>
          </a:bodyPr>
          <a:lstStyle/>
          <a:p>
            <a:r>
              <a:rPr lang="en-US" sz="1200" dirty="0">
                <a:latin typeface="Times New Roman" panose="02020603050405020304" pitchFamily="18" charset="0"/>
                <a:cs typeface="Times New Roman" panose="02020603050405020304" pitchFamily="18" charset="0"/>
              </a:rPr>
              <a:t>Board-certified healthcare leader and NCLEX instructor with over 15 years of clinical and administrative experience. Specialized in international nurse training, U.S. healthcare system integration, and patient-centered care. Demonstrated success in leading workforce development initiatives, driving quality improvement, and implementing strategic clinical education programs that enhance both care delivery and operational excellence</a:t>
            </a:r>
          </a:p>
        </p:txBody>
      </p:sp>
      <p:pic>
        <p:nvPicPr>
          <p:cNvPr id="42" name="Picture 41">
            <a:extLst>
              <a:ext uri="{FF2B5EF4-FFF2-40B4-BE49-F238E27FC236}">
                <a16:creationId xmlns:a16="http://schemas.microsoft.com/office/drawing/2014/main" id="{5CCAD7BE-3D52-6417-2D42-C6AEC2A351CE}"/>
              </a:ext>
            </a:extLst>
          </p:cNvPr>
          <p:cNvPicPr>
            <a:picLocks noChangeAspect="1"/>
          </p:cNvPicPr>
          <p:nvPr/>
        </p:nvPicPr>
        <p:blipFill>
          <a:blip r:embed="rId3"/>
          <a:stretch>
            <a:fillRect/>
          </a:stretch>
        </p:blipFill>
        <p:spPr>
          <a:xfrm>
            <a:off x="5848088" y="764337"/>
            <a:ext cx="1134974" cy="942468"/>
          </a:xfrm>
          <a:prstGeom prst="rect">
            <a:avLst/>
          </a:prstGeom>
        </p:spPr>
      </p:pic>
      <p:pic>
        <p:nvPicPr>
          <p:cNvPr id="43" name="Picture 42">
            <a:extLst>
              <a:ext uri="{FF2B5EF4-FFF2-40B4-BE49-F238E27FC236}">
                <a16:creationId xmlns:a16="http://schemas.microsoft.com/office/drawing/2014/main" id="{6303198B-3A6A-43F2-BFC4-FA1275D2BA31}"/>
              </a:ext>
            </a:extLst>
          </p:cNvPr>
          <p:cNvPicPr>
            <a:picLocks noChangeAspect="1"/>
          </p:cNvPicPr>
          <p:nvPr/>
        </p:nvPicPr>
        <p:blipFill>
          <a:blip r:embed="rId4"/>
          <a:stretch>
            <a:fillRect/>
          </a:stretch>
        </p:blipFill>
        <p:spPr>
          <a:xfrm>
            <a:off x="1428750" y="738223"/>
            <a:ext cx="1255066" cy="968582"/>
          </a:xfrm>
          <a:prstGeom prst="rect">
            <a:avLst/>
          </a:prstGeom>
        </p:spPr>
      </p:pic>
      <p:pic>
        <p:nvPicPr>
          <p:cNvPr id="44" name="Picture 43">
            <a:extLst>
              <a:ext uri="{FF2B5EF4-FFF2-40B4-BE49-F238E27FC236}">
                <a16:creationId xmlns:a16="http://schemas.microsoft.com/office/drawing/2014/main" id="{CF99482D-0976-E8AC-A312-6E2D9712E15B}"/>
              </a:ext>
            </a:extLst>
          </p:cNvPr>
          <p:cNvPicPr>
            <a:picLocks noChangeAspect="1"/>
          </p:cNvPicPr>
          <p:nvPr/>
        </p:nvPicPr>
        <p:blipFill>
          <a:blip r:embed="rId5"/>
          <a:stretch>
            <a:fillRect/>
          </a:stretch>
        </p:blipFill>
        <p:spPr>
          <a:xfrm>
            <a:off x="7414762" y="3423753"/>
            <a:ext cx="1246980" cy="8618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50569"/>
            <a:ext cx="9144000" cy="6070600"/>
          </a:xfrm>
          <a:prstGeom prst="rect">
            <a:avLst/>
          </a:prstGeom>
        </p:spPr>
      </p:pic>
      <p:sp>
        <p:nvSpPr>
          <p:cNvPr id="4" name="Text 1"/>
          <p:cNvSpPr/>
          <p:nvPr/>
        </p:nvSpPr>
        <p:spPr>
          <a:xfrm>
            <a:off x="-299901" y="182446"/>
            <a:ext cx="8839200" cy="369332"/>
          </a:xfrm>
          <a:prstGeom prst="rect">
            <a:avLst/>
          </a:prstGeom>
          <a:noFill/>
          <a:ln/>
        </p:spPr>
        <p:txBody>
          <a:bodyPr wrap="square" lIns="0" tIns="0" rIns="0" bIns="0" rtlCol="0" anchor="ctr">
            <a:spAutoFit/>
          </a:bodyPr>
          <a:lstStyle/>
          <a:p>
            <a:pPr marL="0" indent="0" algn="ctr">
              <a:buNone/>
            </a:pPr>
            <a:r>
              <a:rPr lang="en-US" sz="2400" b="1" dirty="0">
                <a:solidFill>
                  <a:srgbClr val="0A7C8E"/>
                </a:solidFill>
                <a:latin typeface="Times New Roman" panose="02020603050405020304" pitchFamily="18" charset="0"/>
                <a:ea typeface="Montserrat" pitchFamily="34" charset="-122"/>
                <a:cs typeface="Times New Roman" panose="02020603050405020304" pitchFamily="18" charset="0"/>
              </a:rPr>
              <a:t>Mission &amp; Vision</a:t>
            </a:r>
            <a:endParaRPr lang="en-US" sz="2400"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r:embed="rId4"/>
          <a:stretch>
            <a:fillRect/>
          </a:stretch>
        </p:blipFill>
        <p:spPr>
          <a:xfrm>
            <a:off x="2219323" y="551778"/>
            <a:ext cx="257175" cy="257175"/>
          </a:xfrm>
          <a:prstGeom prst="rect">
            <a:avLst/>
          </a:prstGeom>
        </p:spPr>
      </p:pic>
      <p:sp>
        <p:nvSpPr>
          <p:cNvPr id="8" name="Text 4"/>
          <p:cNvSpPr/>
          <p:nvPr/>
        </p:nvSpPr>
        <p:spPr>
          <a:xfrm>
            <a:off x="1788656" y="915305"/>
            <a:ext cx="1048345" cy="228600"/>
          </a:xfrm>
          <a:prstGeom prst="rect">
            <a:avLst/>
          </a:prstGeom>
          <a:noFill/>
          <a:ln/>
        </p:spPr>
        <p:txBody>
          <a:bodyPr wrap="none" lIns="0" tIns="0" rIns="0" bIns="0" rtlCol="0" anchor="ctr">
            <a:spAutoFit/>
          </a:bodyPr>
          <a:lstStyle/>
          <a:p>
            <a:pPr marL="0" indent="0" algn="ctr">
              <a:buNone/>
            </a:pPr>
            <a:r>
              <a:rPr lang="en-US" sz="1350" b="1" dirty="0">
                <a:solidFill>
                  <a:srgbClr val="1A93A7"/>
                </a:solidFill>
                <a:latin typeface="Montserrat" pitchFamily="34" charset="0"/>
                <a:ea typeface="Montserrat" pitchFamily="34" charset="-122"/>
                <a:cs typeface="Montserrat" pitchFamily="34" charset="-120"/>
              </a:rPr>
              <a:t>Our Mission</a:t>
            </a:r>
            <a:endParaRPr lang="en-US" sz="1350" dirty="0"/>
          </a:p>
        </p:txBody>
      </p:sp>
      <p:sp>
        <p:nvSpPr>
          <p:cNvPr id="9" name="Text 5"/>
          <p:cNvSpPr/>
          <p:nvPr/>
        </p:nvSpPr>
        <p:spPr>
          <a:xfrm>
            <a:off x="483581" y="882267"/>
            <a:ext cx="3705225" cy="4171976"/>
          </a:xfrm>
          <a:prstGeom prst="rect">
            <a:avLst/>
          </a:prstGeom>
          <a:noFill/>
          <a:ln/>
        </p:spPr>
        <p:txBody>
          <a:bodyPr wrap="square" lIns="0" tIns="0" rIns="0" bIns="0" rtlCol="0" anchor="ctr">
            <a:spAutoFit/>
          </a:bodyPr>
          <a:lstStyle/>
          <a:p>
            <a:pPr marL="0" indent="0" algn="ctr">
              <a:buNone/>
            </a:pPr>
            <a:endParaRPr lang="en-US" sz="1400" dirty="0">
              <a:solidFill>
                <a:srgbClr val="333333"/>
              </a:solidFill>
              <a:latin typeface="Times New Roman" panose="02020603050405020304" pitchFamily="18" charset="0"/>
              <a:ea typeface="Noto Sans" pitchFamily="34" charset="-122"/>
              <a:cs typeface="Times New Roman" panose="02020603050405020304" pitchFamily="18" charset="0"/>
            </a:endParaRPr>
          </a:p>
          <a:p>
            <a:pPr marL="285750" indent="-285750">
              <a:lnSpc>
                <a:spcPct val="150000"/>
              </a:lnSpc>
              <a:buFont typeface="Arial" panose="020B0604020202020204" pitchFamily="34" charset="0"/>
              <a:buChar char="•"/>
            </a:pPr>
            <a:r>
              <a:rPr lang="en-US" sz="1400" dirty="0">
                <a:solidFill>
                  <a:srgbClr val="333333"/>
                </a:solidFill>
                <a:latin typeface="Times New Roman" panose="02020603050405020304" pitchFamily="18" charset="0"/>
                <a:ea typeface="Noto Sans" pitchFamily="34" charset="-122"/>
                <a:cs typeface="Times New Roman" panose="02020603050405020304" pitchFamily="18" charset="0"/>
              </a:rPr>
              <a:t>To create sustainable pathways for qualified    Palestinian nurses to build rewarding careers in the United States healthcare system while addressing critical nursing shortages and fostering cross-cultural healthcare excellence.</a:t>
            </a:r>
          </a:p>
          <a:p>
            <a:pPr marL="285750" indent="-285750">
              <a:lnSpc>
                <a:spcPct val="150000"/>
              </a:lnSpc>
              <a:buFont typeface="Arial" panose="020B0604020202020204" pitchFamily="34" charset="0"/>
              <a:buChar char="•"/>
            </a:pPr>
            <a:r>
              <a:rPr lang="en-US" sz="1400" dirty="0">
                <a:solidFill>
                  <a:srgbClr val="333333"/>
                </a:solidFill>
                <a:latin typeface="Times New Roman" panose="02020603050405020304" pitchFamily="18" charset="0"/>
                <a:ea typeface="Noto Sans" pitchFamily="34" charset="-122"/>
                <a:cs typeface="Times New Roman" panose="02020603050405020304" pitchFamily="18" charset="0"/>
              </a:rPr>
              <a:t>To e</a:t>
            </a:r>
            <a:r>
              <a:rPr lang="en-US" sz="1400" dirty="0">
                <a:latin typeface="Times New Roman" panose="02020603050405020304" pitchFamily="18" charset="0"/>
                <a:cs typeface="Times New Roman" panose="02020603050405020304" pitchFamily="18" charset="0"/>
              </a:rPr>
              <a:t>mpower Overseas Palestinian Nurses (OPN) by enhancing the affordability, security, and impact of their remittances, while fostering long-term economic development for Palestinian communities.</a:t>
            </a:r>
          </a:p>
          <a:p>
            <a:pPr marL="0" indent="0" algn="ctr">
              <a:buNone/>
            </a:pPr>
            <a:endParaRPr lang="en-US" sz="942" dirty="0">
              <a:solidFill>
                <a:srgbClr val="333333"/>
              </a:solidFill>
              <a:latin typeface="Times New Roman" panose="02020603050405020304" pitchFamily="18" charset="0"/>
              <a:ea typeface="Noto Sans" pitchFamily="34" charset="-122"/>
              <a:cs typeface="Times New Roman" panose="02020603050405020304" pitchFamily="18" charset="0"/>
            </a:endParaRPr>
          </a:p>
          <a:p>
            <a:pPr marL="0" indent="0" algn="ctr">
              <a:buNone/>
            </a:pPr>
            <a:endParaRPr lang="en-US" sz="942" dirty="0">
              <a:solidFill>
                <a:srgbClr val="333333"/>
              </a:solidFill>
              <a:latin typeface="Noto Sans" pitchFamily="34" charset="0"/>
              <a:ea typeface="Noto Sans" pitchFamily="34" charset="-122"/>
              <a:cs typeface="Noto Sans" pitchFamily="34" charset="-120"/>
            </a:endParaRPr>
          </a:p>
          <a:p>
            <a:pPr marL="0" indent="0" algn="ctr">
              <a:buNone/>
            </a:pPr>
            <a:endParaRPr lang="en-US" sz="942" dirty="0">
              <a:solidFill>
                <a:srgbClr val="333333"/>
              </a:solidFill>
              <a:latin typeface="Noto Sans" pitchFamily="34" charset="0"/>
              <a:ea typeface="Noto Sans" pitchFamily="34" charset="-122"/>
              <a:cs typeface="Noto Sans" pitchFamily="34" charset="-120"/>
            </a:endParaRPr>
          </a:p>
          <a:p>
            <a:pPr marL="0" indent="0" algn="ctr">
              <a:buNone/>
            </a:pPr>
            <a:endParaRPr lang="en-US" sz="942" dirty="0">
              <a:solidFill>
                <a:srgbClr val="333333"/>
              </a:solidFill>
              <a:latin typeface="Noto Sans" pitchFamily="34" charset="0"/>
              <a:ea typeface="Noto Sans" pitchFamily="34" charset="-122"/>
              <a:cs typeface="Noto Sans" pitchFamily="34" charset="-120"/>
            </a:endParaRPr>
          </a:p>
          <a:p>
            <a:pPr marL="0" indent="0" algn="ctr">
              <a:buNone/>
            </a:pPr>
            <a:r>
              <a:rPr lang="en-US" sz="942" dirty="0">
                <a:solidFill>
                  <a:srgbClr val="333333"/>
                </a:solidFill>
                <a:latin typeface="Noto Sans" pitchFamily="34" charset="0"/>
                <a:ea typeface="Noto Sans" pitchFamily="34" charset="-122"/>
                <a:cs typeface="Noto Sans" pitchFamily="34" charset="-120"/>
              </a:rPr>
              <a:t> </a:t>
            </a:r>
            <a:endParaRPr lang="en-US" sz="942" dirty="0"/>
          </a:p>
        </p:txBody>
      </p:sp>
      <p:pic>
        <p:nvPicPr>
          <p:cNvPr id="12" name="Image 2" descr="preencoded.png"/>
          <p:cNvPicPr>
            <a:picLocks noChangeAspect="1"/>
          </p:cNvPicPr>
          <p:nvPr/>
        </p:nvPicPr>
        <p:blipFill>
          <a:blip r:embed="rId5"/>
          <a:stretch>
            <a:fillRect/>
          </a:stretch>
        </p:blipFill>
        <p:spPr>
          <a:xfrm>
            <a:off x="5844351" y="551778"/>
            <a:ext cx="289322" cy="257175"/>
          </a:xfrm>
          <a:prstGeom prst="rect">
            <a:avLst/>
          </a:prstGeom>
        </p:spPr>
      </p:pic>
      <p:sp>
        <p:nvSpPr>
          <p:cNvPr id="13" name="Text 8"/>
          <p:cNvSpPr/>
          <p:nvPr/>
        </p:nvSpPr>
        <p:spPr>
          <a:xfrm>
            <a:off x="5234152" y="925140"/>
            <a:ext cx="1420671" cy="207749"/>
          </a:xfrm>
          <a:prstGeom prst="rect">
            <a:avLst/>
          </a:prstGeom>
          <a:noFill/>
          <a:ln/>
        </p:spPr>
        <p:txBody>
          <a:bodyPr wrap="square" lIns="0" tIns="0" rIns="0" bIns="0" rtlCol="0" anchor="ctr">
            <a:spAutoFit/>
          </a:bodyPr>
          <a:lstStyle/>
          <a:p>
            <a:pPr marL="0" indent="0" algn="ctr">
              <a:buNone/>
            </a:pPr>
            <a:r>
              <a:rPr lang="en-US" sz="1350" b="1" dirty="0">
                <a:solidFill>
                  <a:srgbClr val="1A93A7"/>
                </a:solidFill>
                <a:latin typeface="Montserrat" pitchFamily="34" charset="0"/>
                <a:ea typeface="Montserrat" pitchFamily="34" charset="-122"/>
                <a:cs typeface="Montserrat" pitchFamily="34" charset="-120"/>
              </a:rPr>
              <a:t>Our Vision</a:t>
            </a:r>
            <a:endParaRPr lang="en-US" sz="1350" dirty="0"/>
          </a:p>
        </p:txBody>
      </p:sp>
      <p:sp>
        <p:nvSpPr>
          <p:cNvPr id="14" name="Text 9"/>
          <p:cNvSpPr/>
          <p:nvPr/>
        </p:nvSpPr>
        <p:spPr>
          <a:xfrm>
            <a:off x="4572000" y="1092905"/>
            <a:ext cx="3514725" cy="1577098"/>
          </a:xfrm>
          <a:prstGeom prst="rect">
            <a:avLst/>
          </a:prstGeom>
          <a:noFill/>
          <a:ln/>
        </p:spPr>
        <p:txBody>
          <a:bodyPr wrap="square" lIns="0" tIns="0" rIns="0" bIns="0" rtlCol="0" anchor="ctr">
            <a:spAutoFit/>
          </a:bodyPr>
          <a:lstStyle/>
          <a:p>
            <a:pPr marL="0" indent="0">
              <a:lnSpc>
                <a:spcPct val="150000"/>
              </a:lnSpc>
              <a:buNone/>
            </a:pPr>
            <a:r>
              <a:rPr lang="en-US" sz="942" dirty="0">
                <a:solidFill>
                  <a:srgbClr val="333333"/>
                </a:solidFill>
                <a:latin typeface="Noto Sans" pitchFamily="34" charset="0"/>
                <a:ea typeface="Noto Sans" pitchFamily="34" charset="-122"/>
                <a:cs typeface="Noto Sans" pitchFamily="34" charset="-120"/>
              </a:rPr>
              <a:t> </a:t>
            </a:r>
            <a:r>
              <a:rPr lang="en-US" sz="1400" dirty="0">
                <a:solidFill>
                  <a:srgbClr val="333333"/>
                </a:solidFill>
                <a:latin typeface="Times New Roman" panose="02020603050405020304" pitchFamily="18" charset="0"/>
                <a:ea typeface="Noto Sans" pitchFamily="34" charset="-122"/>
                <a:cs typeface="Times New Roman" panose="02020603050405020304" pitchFamily="18" charset="0"/>
              </a:rPr>
              <a:t>A world where healthcare talent flows freely across borders, creating opportunities for Palestinian nurses while strengthening the U.S. healthcare system through diversity, cultural competence, and professional excellence. </a:t>
            </a:r>
            <a:endParaRPr lang="en-US" sz="1400" dirty="0">
              <a:latin typeface="Times New Roman" panose="02020603050405020304" pitchFamily="18" charset="0"/>
              <a:cs typeface="Times New Roman" panose="02020603050405020304" pitchFamily="18" charset="0"/>
            </a:endParaRPr>
          </a:p>
        </p:txBody>
      </p:sp>
      <p:sp>
        <p:nvSpPr>
          <p:cNvPr id="18" name="Text 12"/>
          <p:cNvSpPr/>
          <p:nvPr/>
        </p:nvSpPr>
        <p:spPr>
          <a:xfrm>
            <a:off x="2443130" y="3953775"/>
            <a:ext cx="65" cy="207749"/>
          </a:xfrm>
          <a:prstGeom prst="rect">
            <a:avLst/>
          </a:prstGeom>
          <a:noFill/>
          <a:ln/>
        </p:spPr>
        <p:txBody>
          <a:bodyPr wrap="none" lIns="0" tIns="0" rIns="0" bIns="0" rtlCol="0" anchor="ctr">
            <a:spAutoFit/>
          </a:bodyPr>
          <a:lstStyle/>
          <a:p>
            <a:pPr marL="0" indent="0" algn="ctr">
              <a:buNone/>
            </a:pPr>
            <a:endParaRPr lang="en-US" sz="1350" dirty="0"/>
          </a:p>
        </p:txBody>
      </p:sp>
      <p:sp>
        <p:nvSpPr>
          <p:cNvPr id="19" name="Text 13"/>
          <p:cNvSpPr/>
          <p:nvPr/>
        </p:nvSpPr>
        <p:spPr>
          <a:xfrm>
            <a:off x="894141" y="4380203"/>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20" name="Text 14"/>
          <p:cNvSpPr/>
          <p:nvPr/>
        </p:nvSpPr>
        <p:spPr>
          <a:xfrm>
            <a:off x="1028226" y="4380203"/>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21" name="Text 15"/>
          <p:cNvSpPr/>
          <p:nvPr/>
        </p:nvSpPr>
        <p:spPr>
          <a:xfrm>
            <a:off x="894141" y="4655935"/>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22" name="Text 16"/>
          <p:cNvSpPr/>
          <p:nvPr/>
        </p:nvSpPr>
        <p:spPr>
          <a:xfrm>
            <a:off x="1028226" y="4655935"/>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23" name="Text 17"/>
          <p:cNvSpPr/>
          <p:nvPr/>
        </p:nvSpPr>
        <p:spPr>
          <a:xfrm>
            <a:off x="894141" y="4931667"/>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28" name="Text 21"/>
          <p:cNvSpPr/>
          <p:nvPr/>
        </p:nvSpPr>
        <p:spPr>
          <a:xfrm>
            <a:off x="6700806" y="3953775"/>
            <a:ext cx="64" cy="207749"/>
          </a:xfrm>
          <a:prstGeom prst="rect">
            <a:avLst/>
          </a:prstGeom>
          <a:noFill/>
          <a:ln/>
        </p:spPr>
        <p:txBody>
          <a:bodyPr wrap="none" lIns="0" tIns="0" rIns="0" bIns="0" rtlCol="0" anchor="ctr">
            <a:spAutoFit/>
          </a:bodyPr>
          <a:lstStyle/>
          <a:p>
            <a:pPr marL="0" indent="0" algn="ctr">
              <a:buNone/>
            </a:pPr>
            <a:endParaRPr lang="en-US" sz="1350" dirty="0"/>
          </a:p>
        </p:txBody>
      </p:sp>
      <p:sp>
        <p:nvSpPr>
          <p:cNvPr id="29" name="Text 22"/>
          <p:cNvSpPr/>
          <p:nvPr/>
        </p:nvSpPr>
        <p:spPr>
          <a:xfrm>
            <a:off x="4955195" y="4380203"/>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30" name="Text 23"/>
          <p:cNvSpPr/>
          <p:nvPr/>
        </p:nvSpPr>
        <p:spPr>
          <a:xfrm>
            <a:off x="5089280" y="4380203"/>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31" name="Text 24"/>
          <p:cNvSpPr/>
          <p:nvPr/>
        </p:nvSpPr>
        <p:spPr>
          <a:xfrm>
            <a:off x="4955195" y="4655935"/>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32" name="Text 25"/>
          <p:cNvSpPr/>
          <p:nvPr/>
        </p:nvSpPr>
        <p:spPr>
          <a:xfrm>
            <a:off x="5089280" y="4655935"/>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33" name="Text 26"/>
          <p:cNvSpPr/>
          <p:nvPr/>
        </p:nvSpPr>
        <p:spPr>
          <a:xfrm>
            <a:off x="4955195" y="4931667"/>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34" name="Text 27"/>
          <p:cNvSpPr/>
          <p:nvPr/>
        </p:nvSpPr>
        <p:spPr>
          <a:xfrm>
            <a:off x="5089280" y="4931667"/>
            <a:ext cx="65" cy="144976"/>
          </a:xfrm>
          <a:prstGeom prst="rect">
            <a:avLst/>
          </a:prstGeom>
          <a:noFill/>
          <a:ln/>
        </p:spPr>
        <p:txBody>
          <a:bodyPr wrap="none" lIns="0" tIns="0" rIns="0" bIns="0" rtlCol="0" anchor="ctr">
            <a:spAutoFit/>
          </a:bodyPr>
          <a:lstStyle/>
          <a:p>
            <a:pPr marL="0" indent="0" algn="l">
              <a:buNone/>
            </a:pPr>
            <a:endParaRPr lang="en-US" sz="94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0" y="5349456"/>
            <a:ext cx="9144000" cy="1785938"/>
          </a:xfrm>
          <a:prstGeom prst="rect">
            <a:avLst/>
          </a:prstGeom>
          <a:solidFill>
            <a:srgbClr val="1A93A7"/>
          </a:solidFill>
          <a:ln/>
        </p:spPr>
      </p:sp>
      <p:sp>
        <p:nvSpPr>
          <p:cNvPr id="4" name="Text 1"/>
          <p:cNvSpPr/>
          <p:nvPr/>
        </p:nvSpPr>
        <p:spPr>
          <a:xfrm>
            <a:off x="457200" y="457200"/>
            <a:ext cx="8229600" cy="285750"/>
          </a:xfrm>
          <a:prstGeom prst="rect">
            <a:avLst/>
          </a:prstGeom>
          <a:noFill/>
          <a:ln/>
        </p:spPr>
        <p:txBody>
          <a:bodyPr wrap="none" lIns="0" tIns="0" rIns="0" bIns="0" rtlCol="0" anchor="ctr">
            <a:spAutoFit/>
          </a:bodyPr>
          <a:lstStyle/>
          <a:p>
            <a:pPr marL="0" indent="0" algn="ctr">
              <a:buNone/>
            </a:pPr>
            <a:r>
              <a:rPr lang="en-US" sz="2025" b="1" dirty="0">
                <a:solidFill>
                  <a:srgbClr val="0A7C8E"/>
                </a:solidFill>
                <a:latin typeface="Montserrat" pitchFamily="34" charset="0"/>
                <a:ea typeface="Montserrat" pitchFamily="34" charset="-122"/>
                <a:cs typeface="Montserrat" pitchFamily="34" charset="-120"/>
              </a:rPr>
              <a:t>Market Problem</a:t>
            </a:r>
            <a:endParaRPr lang="en-US" sz="2025" dirty="0"/>
          </a:p>
        </p:txBody>
      </p:sp>
      <p:sp>
        <p:nvSpPr>
          <p:cNvPr id="5" name="Shape 2"/>
          <p:cNvSpPr/>
          <p:nvPr/>
        </p:nvSpPr>
        <p:spPr>
          <a:xfrm>
            <a:off x="18700" y="1030529"/>
            <a:ext cx="4312304" cy="3718852"/>
          </a:xfrm>
          <a:prstGeom prst="rect">
            <a:avLst/>
          </a:prstGeom>
          <a:solidFill>
            <a:srgbClr val="FFFFFF">
              <a:alpha val="95000"/>
            </a:srgbClr>
          </a:solidFill>
          <a:ln/>
        </p:spPr>
      </p:sp>
      <p:sp>
        <p:nvSpPr>
          <p:cNvPr id="6" name="Text 3"/>
          <p:cNvSpPr/>
          <p:nvPr/>
        </p:nvSpPr>
        <p:spPr>
          <a:xfrm>
            <a:off x="1313045" y="1248489"/>
            <a:ext cx="2260235" cy="246221"/>
          </a:xfrm>
          <a:prstGeom prst="rect">
            <a:avLst/>
          </a:prstGeom>
          <a:noFill/>
          <a:ln/>
        </p:spPr>
        <p:txBody>
          <a:bodyPr wrap="none" lIns="0" tIns="0" rIns="0" bIns="0" rtlCol="0" anchor="ctr">
            <a:spAutoFit/>
          </a:bodyPr>
          <a:lstStyle/>
          <a:p>
            <a:pPr marL="0" indent="0" algn="ctr">
              <a:buNone/>
            </a:pPr>
            <a:r>
              <a:rPr lang="en-US" sz="1600" b="1" dirty="0">
                <a:solidFill>
                  <a:srgbClr val="1A93A7"/>
                </a:solidFill>
                <a:latin typeface="Times New Roman" panose="02020603050405020304" pitchFamily="18" charset="0"/>
                <a:ea typeface="Montserrat" pitchFamily="34" charset="-122"/>
                <a:cs typeface="Times New Roman" panose="02020603050405020304" pitchFamily="18" charset="0"/>
              </a:rPr>
              <a:t>Palestinian Nurse Market</a:t>
            </a:r>
            <a:endParaRPr lang="en-US" sz="1600" dirty="0">
              <a:latin typeface="Times New Roman" panose="02020603050405020304" pitchFamily="18" charset="0"/>
              <a:cs typeface="Times New Roman" panose="02020603050405020304" pitchFamily="18" charset="0"/>
            </a:endParaRPr>
          </a:p>
        </p:txBody>
      </p:sp>
      <p:sp>
        <p:nvSpPr>
          <p:cNvPr id="7" name="Text 4"/>
          <p:cNvSpPr/>
          <p:nvPr/>
        </p:nvSpPr>
        <p:spPr>
          <a:xfrm>
            <a:off x="1966269" y="1674308"/>
            <a:ext cx="953787" cy="184666"/>
          </a:xfrm>
          <a:prstGeom prst="rect">
            <a:avLst/>
          </a:prstGeom>
          <a:noFill/>
          <a:ln/>
        </p:spPr>
        <p:txBody>
          <a:bodyPr wrap="none" lIns="0" tIns="0" rIns="0" bIns="0" rtlCol="0" anchor="ctr">
            <a:spAutoFit/>
          </a:bodyPr>
          <a:lstStyle/>
          <a:p>
            <a:pPr marL="0" indent="0" algn="ctr">
              <a:buNone/>
            </a:pPr>
            <a:r>
              <a:rPr lang="en-US" sz="1200" b="1" dirty="0">
                <a:solidFill>
                  <a:srgbClr val="B91C1C"/>
                </a:solidFill>
                <a:latin typeface="Times New Roman" panose="02020603050405020304" pitchFamily="18" charset="0"/>
                <a:ea typeface="Noto Sans" pitchFamily="34" charset="-122"/>
                <a:cs typeface="Times New Roman" panose="02020603050405020304" pitchFamily="18" charset="0"/>
              </a:rPr>
              <a:t>The Challenge</a:t>
            </a:r>
            <a:endParaRPr lang="en-US" sz="1200" dirty="0">
              <a:latin typeface="Times New Roman" panose="02020603050405020304" pitchFamily="18" charset="0"/>
              <a:cs typeface="Times New Roman" panose="02020603050405020304" pitchFamily="18" charset="0"/>
            </a:endParaRPr>
          </a:p>
        </p:txBody>
      </p:sp>
      <p:sp>
        <p:nvSpPr>
          <p:cNvPr id="8" name="Text 5"/>
          <p:cNvSpPr/>
          <p:nvPr/>
        </p:nvSpPr>
        <p:spPr>
          <a:xfrm>
            <a:off x="685800" y="2027035"/>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9" name="Text 6"/>
          <p:cNvSpPr/>
          <p:nvPr/>
        </p:nvSpPr>
        <p:spPr>
          <a:xfrm>
            <a:off x="819885" y="2039537"/>
            <a:ext cx="3380640" cy="338554"/>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Limited career advancement opportunities in local healthcare system</a:t>
            </a:r>
            <a:endParaRPr lang="en-US" sz="1100" dirty="0">
              <a:latin typeface="Times New Roman" panose="02020603050405020304" pitchFamily="18" charset="0"/>
              <a:cs typeface="Times New Roman" panose="02020603050405020304" pitchFamily="18" charset="0"/>
            </a:endParaRPr>
          </a:p>
        </p:txBody>
      </p:sp>
      <p:sp>
        <p:nvSpPr>
          <p:cNvPr id="10" name="Text 7"/>
          <p:cNvSpPr/>
          <p:nvPr/>
        </p:nvSpPr>
        <p:spPr>
          <a:xfrm>
            <a:off x="685800" y="2549924"/>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1" name="Text 8"/>
          <p:cNvSpPr/>
          <p:nvPr/>
        </p:nvSpPr>
        <p:spPr>
          <a:xfrm>
            <a:off x="819885" y="2647065"/>
            <a:ext cx="3380640" cy="169277"/>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Significant wage gap compared to international markets</a:t>
            </a:r>
            <a:endParaRPr lang="en-US" sz="1100" dirty="0">
              <a:latin typeface="Times New Roman" panose="02020603050405020304" pitchFamily="18" charset="0"/>
              <a:cs typeface="Times New Roman" panose="02020603050405020304" pitchFamily="18" charset="0"/>
            </a:endParaRPr>
          </a:p>
        </p:txBody>
      </p:sp>
      <p:sp>
        <p:nvSpPr>
          <p:cNvPr id="12" name="Text 9"/>
          <p:cNvSpPr/>
          <p:nvPr/>
        </p:nvSpPr>
        <p:spPr>
          <a:xfrm>
            <a:off x="685800" y="3072813"/>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3" name="Text 10"/>
          <p:cNvSpPr/>
          <p:nvPr/>
        </p:nvSpPr>
        <p:spPr>
          <a:xfrm>
            <a:off x="819885" y="3060663"/>
            <a:ext cx="3170740" cy="169277"/>
          </a:xfrm>
          <a:prstGeom prst="rect">
            <a:avLst/>
          </a:prstGeom>
          <a:noFill/>
          <a:ln/>
        </p:spPr>
        <p:txBody>
          <a:bodyPr wrap="non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Political instability affecting healthcare infrastructure</a:t>
            </a:r>
            <a:endParaRPr lang="en-US" sz="1100" dirty="0">
              <a:latin typeface="Times New Roman" panose="02020603050405020304" pitchFamily="18" charset="0"/>
              <a:cs typeface="Times New Roman" panose="02020603050405020304" pitchFamily="18" charset="0"/>
            </a:endParaRPr>
          </a:p>
        </p:txBody>
      </p:sp>
      <p:sp>
        <p:nvSpPr>
          <p:cNvPr id="14" name="Text 11"/>
          <p:cNvSpPr/>
          <p:nvPr/>
        </p:nvSpPr>
        <p:spPr>
          <a:xfrm>
            <a:off x="685800" y="3377120"/>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5" name="Text 12"/>
          <p:cNvSpPr/>
          <p:nvPr/>
        </p:nvSpPr>
        <p:spPr>
          <a:xfrm>
            <a:off x="819885" y="3389623"/>
            <a:ext cx="3380640" cy="338554"/>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High unemployment rate among qualified nursing graduates</a:t>
            </a:r>
            <a:endParaRPr lang="en-US" sz="1100" dirty="0">
              <a:latin typeface="Times New Roman" panose="02020603050405020304" pitchFamily="18" charset="0"/>
              <a:cs typeface="Times New Roman" panose="02020603050405020304" pitchFamily="18" charset="0"/>
            </a:endParaRPr>
          </a:p>
        </p:txBody>
      </p:sp>
      <p:sp>
        <p:nvSpPr>
          <p:cNvPr id="16" name="Text 13"/>
          <p:cNvSpPr/>
          <p:nvPr/>
        </p:nvSpPr>
        <p:spPr>
          <a:xfrm>
            <a:off x="685800" y="3900009"/>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7" name="Text 14"/>
          <p:cNvSpPr/>
          <p:nvPr/>
        </p:nvSpPr>
        <p:spPr>
          <a:xfrm>
            <a:off x="819885" y="3912512"/>
            <a:ext cx="3380640" cy="338554"/>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Complex barriers to international employment opportunities</a:t>
            </a:r>
            <a:endParaRPr lang="en-US" sz="1100" dirty="0">
              <a:latin typeface="Times New Roman" panose="02020603050405020304" pitchFamily="18" charset="0"/>
              <a:cs typeface="Times New Roman" panose="02020603050405020304" pitchFamily="18" charset="0"/>
            </a:endParaRPr>
          </a:p>
        </p:txBody>
      </p:sp>
      <p:sp>
        <p:nvSpPr>
          <p:cNvPr id="18" name="Shape 15"/>
          <p:cNvSpPr/>
          <p:nvPr/>
        </p:nvSpPr>
        <p:spPr>
          <a:xfrm>
            <a:off x="4520316" y="1030529"/>
            <a:ext cx="4448453" cy="3718852"/>
          </a:xfrm>
          <a:prstGeom prst="rect">
            <a:avLst/>
          </a:prstGeom>
          <a:solidFill>
            <a:srgbClr val="FFFFFF">
              <a:alpha val="95000"/>
            </a:srgbClr>
          </a:solidFill>
          <a:ln/>
        </p:spPr>
      </p:sp>
      <p:sp>
        <p:nvSpPr>
          <p:cNvPr id="19" name="Text 16"/>
          <p:cNvSpPr/>
          <p:nvPr/>
        </p:nvSpPr>
        <p:spPr>
          <a:xfrm>
            <a:off x="5783118" y="1248490"/>
            <a:ext cx="1835438" cy="246221"/>
          </a:xfrm>
          <a:prstGeom prst="rect">
            <a:avLst/>
          </a:prstGeom>
          <a:noFill/>
          <a:ln/>
        </p:spPr>
        <p:txBody>
          <a:bodyPr wrap="none" lIns="0" tIns="0" rIns="0" bIns="0" rtlCol="0" anchor="ctr">
            <a:spAutoFit/>
          </a:bodyPr>
          <a:lstStyle/>
          <a:p>
            <a:pPr marL="0" indent="0" algn="ctr">
              <a:buNone/>
            </a:pPr>
            <a:r>
              <a:rPr lang="en-US" sz="1600" b="1" dirty="0">
                <a:solidFill>
                  <a:srgbClr val="1A93A7"/>
                </a:solidFill>
                <a:latin typeface="Times New Roman" panose="02020603050405020304" pitchFamily="18" charset="0"/>
                <a:ea typeface="Montserrat" pitchFamily="34" charset="-122"/>
                <a:cs typeface="Times New Roman" panose="02020603050405020304" pitchFamily="18" charset="0"/>
              </a:rPr>
              <a:t>U.S. Nursing Market</a:t>
            </a:r>
            <a:endParaRPr lang="en-US" sz="1600" dirty="0">
              <a:latin typeface="Times New Roman" panose="02020603050405020304" pitchFamily="18" charset="0"/>
              <a:cs typeface="Times New Roman" panose="02020603050405020304" pitchFamily="18" charset="0"/>
            </a:endParaRPr>
          </a:p>
        </p:txBody>
      </p:sp>
      <p:sp>
        <p:nvSpPr>
          <p:cNvPr id="20" name="Text 17"/>
          <p:cNvSpPr/>
          <p:nvPr/>
        </p:nvSpPr>
        <p:spPr>
          <a:xfrm>
            <a:off x="6223944" y="1674308"/>
            <a:ext cx="953787" cy="184666"/>
          </a:xfrm>
          <a:prstGeom prst="rect">
            <a:avLst/>
          </a:prstGeom>
          <a:noFill/>
          <a:ln/>
        </p:spPr>
        <p:txBody>
          <a:bodyPr wrap="none" lIns="0" tIns="0" rIns="0" bIns="0" rtlCol="0" anchor="ctr">
            <a:spAutoFit/>
          </a:bodyPr>
          <a:lstStyle/>
          <a:p>
            <a:pPr marL="0" indent="0" algn="ctr">
              <a:buNone/>
            </a:pPr>
            <a:r>
              <a:rPr lang="en-US" sz="1200" b="1" dirty="0">
                <a:solidFill>
                  <a:srgbClr val="B91C1C"/>
                </a:solidFill>
                <a:latin typeface="Times New Roman" panose="02020603050405020304" pitchFamily="18" charset="0"/>
                <a:ea typeface="Noto Sans" pitchFamily="34" charset="-122"/>
                <a:cs typeface="Times New Roman" panose="02020603050405020304" pitchFamily="18" charset="0"/>
              </a:rPr>
              <a:t>The Challenge</a:t>
            </a:r>
            <a:endParaRPr lang="en-US" sz="1200" dirty="0">
              <a:latin typeface="Times New Roman" panose="02020603050405020304" pitchFamily="18" charset="0"/>
              <a:cs typeface="Times New Roman" panose="02020603050405020304" pitchFamily="18" charset="0"/>
            </a:endParaRPr>
          </a:p>
        </p:txBody>
      </p:sp>
      <p:sp>
        <p:nvSpPr>
          <p:cNvPr id="21" name="Text 18"/>
          <p:cNvSpPr/>
          <p:nvPr/>
        </p:nvSpPr>
        <p:spPr>
          <a:xfrm>
            <a:off x="4943475" y="2027035"/>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22" name="Text 19"/>
          <p:cNvSpPr/>
          <p:nvPr/>
        </p:nvSpPr>
        <p:spPr>
          <a:xfrm>
            <a:off x="5077560" y="2039537"/>
            <a:ext cx="3380640" cy="338554"/>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Critical nursing shortage projected to reach 1.1 million by 2030</a:t>
            </a:r>
            <a:endParaRPr lang="en-US" sz="1100" dirty="0">
              <a:latin typeface="Times New Roman" panose="02020603050405020304" pitchFamily="18" charset="0"/>
              <a:cs typeface="Times New Roman" panose="02020603050405020304" pitchFamily="18" charset="0"/>
            </a:endParaRPr>
          </a:p>
        </p:txBody>
      </p:sp>
      <p:sp>
        <p:nvSpPr>
          <p:cNvPr id="23" name="Text 20"/>
          <p:cNvSpPr/>
          <p:nvPr/>
        </p:nvSpPr>
        <p:spPr>
          <a:xfrm>
            <a:off x="4943475" y="2549924"/>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24" name="Text 21"/>
          <p:cNvSpPr/>
          <p:nvPr/>
        </p:nvSpPr>
        <p:spPr>
          <a:xfrm>
            <a:off x="5077560" y="2647065"/>
            <a:ext cx="3380640" cy="169277"/>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Aging nursing workforce with 1/3 nearing retirement age</a:t>
            </a:r>
            <a:endParaRPr lang="en-US" sz="1100" dirty="0">
              <a:latin typeface="Times New Roman" panose="02020603050405020304" pitchFamily="18" charset="0"/>
              <a:cs typeface="Times New Roman" panose="02020603050405020304" pitchFamily="18" charset="0"/>
            </a:endParaRPr>
          </a:p>
        </p:txBody>
      </p:sp>
      <p:sp>
        <p:nvSpPr>
          <p:cNvPr id="25" name="Text 22"/>
          <p:cNvSpPr/>
          <p:nvPr/>
        </p:nvSpPr>
        <p:spPr>
          <a:xfrm>
            <a:off x="4943475" y="3072813"/>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26" name="Text 23"/>
          <p:cNvSpPr/>
          <p:nvPr/>
        </p:nvSpPr>
        <p:spPr>
          <a:xfrm>
            <a:off x="5077560" y="3085316"/>
            <a:ext cx="3380640" cy="338554"/>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Increasing healthcare demands from aging U.S. population </a:t>
            </a:r>
            <a:endParaRPr lang="en-US" sz="1100" dirty="0">
              <a:latin typeface="Times New Roman" panose="02020603050405020304" pitchFamily="18" charset="0"/>
              <a:cs typeface="Times New Roman" panose="02020603050405020304" pitchFamily="18" charset="0"/>
            </a:endParaRPr>
          </a:p>
        </p:txBody>
      </p:sp>
      <p:sp>
        <p:nvSpPr>
          <p:cNvPr id="27" name="Text 24"/>
          <p:cNvSpPr/>
          <p:nvPr/>
        </p:nvSpPr>
        <p:spPr>
          <a:xfrm>
            <a:off x="4943475" y="3595702"/>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28" name="Text 25"/>
          <p:cNvSpPr/>
          <p:nvPr/>
        </p:nvSpPr>
        <p:spPr>
          <a:xfrm>
            <a:off x="5077560" y="3608205"/>
            <a:ext cx="3380640" cy="338554"/>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Nursing schools unable to meet demand for new graduates</a:t>
            </a:r>
            <a:endParaRPr lang="en-US" sz="1100" dirty="0">
              <a:latin typeface="Times New Roman" panose="02020603050405020304" pitchFamily="18" charset="0"/>
              <a:cs typeface="Times New Roman" panose="02020603050405020304" pitchFamily="18" charset="0"/>
            </a:endParaRPr>
          </a:p>
        </p:txBody>
      </p:sp>
      <p:sp>
        <p:nvSpPr>
          <p:cNvPr id="29" name="Text 26"/>
          <p:cNvSpPr/>
          <p:nvPr/>
        </p:nvSpPr>
        <p:spPr>
          <a:xfrm>
            <a:off x="4943475" y="4118591"/>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30" name="Text 27"/>
          <p:cNvSpPr/>
          <p:nvPr/>
        </p:nvSpPr>
        <p:spPr>
          <a:xfrm>
            <a:off x="5077560" y="4131093"/>
            <a:ext cx="3380640" cy="338554"/>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High turnover rates and burnout among existing nursing staff</a:t>
            </a:r>
            <a:endParaRPr lang="en-US" sz="1100" dirty="0">
              <a:latin typeface="Times New Roman" panose="02020603050405020304" pitchFamily="18" charset="0"/>
              <a:cs typeface="Times New Roman" panose="02020603050405020304" pitchFamily="18" charset="0"/>
            </a:endParaRPr>
          </a:p>
        </p:txBody>
      </p:sp>
      <p:sp>
        <p:nvSpPr>
          <p:cNvPr id="33" name="Text 30"/>
          <p:cNvSpPr/>
          <p:nvPr/>
        </p:nvSpPr>
        <p:spPr>
          <a:xfrm>
            <a:off x="4571967" y="4543664"/>
            <a:ext cx="65" cy="207749"/>
          </a:xfrm>
          <a:prstGeom prst="rect">
            <a:avLst/>
          </a:prstGeom>
          <a:noFill/>
          <a:ln/>
        </p:spPr>
        <p:txBody>
          <a:bodyPr wrap="none" lIns="0" tIns="0" rIns="0" bIns="0" rtlCol="0" anchor="ctr">
            <a:spAutoFit/>
          </a:bodyPr>
          <a:lstStyle/>
          <a:p>
            <a:pPr marL="0" indent="0" algn="ctr">
              <a:buNone/>
            </a:pP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85345"/>
            <a:ext cx="9144000" cy="5352931"/>
          </a:xfrm>
          <a:prstGeom prst="rect">
            <a:avLst/>
          </a:prstGeom>
        </p:spPr>
      </p:pic>
      <p:sp>
        <p:nvSpPr>
          <p:cNvPr id="3" name="Shape 0"/>
          <p:cNvSpPr/>
          <p:nvPr/>
        </p:nvSpPr>
        <p:spPr>
          <a:xfrm>
            <a:off x="0" y="4167513"/>
            <a:ext cx="9144000" cy="1097942"/>
          </a:xfrm>
          <a:prstGeom prst="rect">
            <a:avLst/>
          </a:prstGeom>
          <a:solidFill>
            <a:srgbClr val="1A93A7"/>
          </a:solidFill>
          <a:ln/>
        </p:spPr>
      </p:sp>
      <p:sp>
        <p:nvSpPr>
          <p:cNvPr id="4" name="Text 1"/>
          <p:cNvSpPr/>
          <p:nvPr/>
        </p:nvSpPr>
        <p:spPr>
          <a:xfrm>
            <a:off x="314325" y="283493"/>
            <a:ext cx="8229600" cy="285750"/>
          </a:xfrm>
          <a:prstGeom prst="rect">
            <a:avLst/>
          </a:prstGeom>
          <a:noFill/>
          <a:ln/>
        </p:spPr>
        <p:txBody>
          <a:bodyPr wrap="none" lIns="0" tIns="0" rIns="0" bIns="0" rtlCol="0" anchor="ctr">
            <a:spAutoFit/>
          </a:bodyPr>
          <a:lstStyle/>
          <a:p>
            <a:pPr marL="0" indent="0" algn="ctr">
              <a:buNone/>
            </a:pPr>
            <a:r>
              <a:rPr lang="en-US" sz="2025" b="1" dirty="0">
                <a:solidFill>
                  <a:srgbClr val="0A7C8E"/>
                </a:solidFill>
                <a:latin typeface="Montserrat" pitchFamily="34" charset="0"/>
                <a:ea typeface="Montserrat" pitchFamily="34" charset="-122"/>
                <a:cs typeface="Montserrat" pitchFamily="34" charset="-120"/>
              </a:rPr>
              <a:t>Palestinian Nurse Market</a:t>
            </a:r>
            <a:endParaRPr lang="en-US" sz="2025" dirty="0"/>
          </a:p>
        </p:txBody>
      </p:sp>
      <p:sp>
        <p:nvSpPr>
          <p:cNvPr id="6" name="Text 3"/>
          <p:cNvSpPr/>
          <p:nvPr/>
        </p:nvSpPr>
        <p:spPr>
          <a:xfrm>
            <a:off x="875130" y="885558"/>
            <a:ext cx="2404111" cy="207749"/>
          </a:xfrm>
          <a:prstGeom prst="rect">
            <a:avLst/>
          </a:prstGeom>
          <a:noFill/>
          <a:ln/>
        </p:spPr>
        <p:txBody>
          <a:bodyPr wrap="square" lIns="0" tIns="0" rIns="0" bIns="0" rtlCol="0" anchor="ctr">
            <a:spAutoFit/>
          </a:bodyPr>
          <a:lstStyle/>
          <a:p>
            <a:pPr marL="0" indent="0">
              <a:buNone/>
            </a:pPr>
            <a:r>
              <a:rPr lang="en-US" sz="1350" b="1" dirty="0">
                <a:solidFill>
                  <a:srgbClr val="1A93A7"/>
                </a:solidFill>
                <a:latin typeface="Montserrat" pitchFamily="34" charset="0"/>
                <a:ea typeface="Montserrat" pitchFamily="34" charset="-122"/>
                <a:cs typeface="Montserrat" pitchFamily="34" charset="-120"/>
              </a:rPr>
              <a:t>           Market Overview</a:t>
            </a:r>
            <a:endParaRPr lang="en-US" sz="1350" dirty="0"/>
          </a:p>
        </p:txBody>
      </p:sp>
      <p:sp>
        <p:nvSpPr>
          <p:cNvPr id="7" name="Text 4"/>
          <p:cNvSpPr/>
          <p:nvPr/>
        </p:nvSpPr>
        <p:spPr>
          <a:xfrm>
            <a:off x="685800" y="1694153"/>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8" name="Text 5"/>
          <p:cNvSpPr/>
          <p:nvPr/>
        </p:nvSpPr>
        <p:spPr>
          <a:xfrm>
            <a:off x="734160" y="1507400"/>
            <a:ext cx="3380640" cy="323165"/>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050" dirty="0">
                <a:solidFill>
                  <a:srgbClr val="333333"/>
                </a:solidFill>
                <a:latin typeface="Times New Roman" panose="02020603050405020304" pitchFamily="18" charset="0"/>
                <a:ea typeface="Noto Sans" pitchFamily="34" charset="-122"/>
                <a:cs typeface="Times New Roman" panose="02020603050405020304" pitchFamily="18" charset="0"/>
              </a:rPr>
              <a:t>Palestinian nursing education produces 2000+ graduates annually</a:t>
            </a:r>
            <a:endParaRPr lang="en-US" sz="1050" dirty="0">
              <a:latin typeface="Times New Roman" panose="02020603050405020304" pitchFamily="18" charset="0"/>
              <a:cs typeface="Times New Roman" panose="02020603050405020304" pitchFamily="18" charset="0"/>
            </a:endParaRPr>
          </a:p>
        </p:txBody>
      </p:sp>
      <p:sp>
        <p:nvSpPr>
          <p:cNvPr id="9" name="Text 6"/>
          <p:cNvSpPr/>
          <p:nvPr/>
        </p:nvSpPr>
        <p:spPr>
          <a:xfrm>
            <a:off x="685800" y="2217042"/>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0" name="Text 7"/>
          <p:cNvSpPr/>
          <p:nvPr/>
        </p:nvSpPr>
        <p:spPr>
          <a:xfrm>
            <a:off x="734160" y="1879748"/>
            <a:ext cx="3380640" cy="484748"/>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endParaRPr lang="en-US" sz="1050" dirty="0">
              <a:solidFill>
                <a:srgbClr val="333333"/>
              </a:solidFill>
              <a:latin typeface="Times New Roman" panose="02020603050405020304" pitchFamily="18" charset="0"/>
              <a:ea typeface="Noto Sans" pitchFamily="34" charset="-122"/>
              <a:cs typeface="Times New Roman" panose="02020603050405020304" pitchFamily="18" charset="0"/>
            </a:endParaRPr>
          </a:p>
          <a:p>
            <a:pPr marL="171450" indent="-171450" algn="l">
              <a:buFont typeface="Arial" panose="020B0604020202020204" pitchFamily="34" charset="0"/>
              <a:buChar char="•"/>
            </a:pPr>
            <a:r>
              <a:rPr lang="en-US" sz="1050" dirty="0">
                <a:solidFill>
                  <a:srgbClr val="333333"/>
                </a:solidFill>
                <a:latin typeface="Times New Roman" panose="02020603050405020304" pitchFamily="18" charset="0"/>
                <a:ea typeface="Noto Sans" pitchFamily="34" charset="-122"/>
                <a:cs typeface="Times New Roman" panose="02020603050405020304" pitchFamily="18" charset="0"/>
              </a:rPr>
              <a:t>Local healthcare system can only absorb 40% of new graduates</a:t>
            </a:r>
            <a:endParaRPr lang="en-US" sz="1050" dirty="0">
              <a:latin typeface="Times New Roman" panose="02020603050405020304" pitchFamily="18" charset="0"/>
              <a:cs typeface="Times New Roman" panose="02020603050405020304" pitchFamily="18" charset="0"/>
            </a:endParaRPr>
          </a:p>
        </p:txBody>
      </p:sp>
      <p:sp>
        <p:nvSpPr>
          <p:cNvPr id="11" name="Text 8"/>
          <p:cNvSpPr/>
          <p:nvPr/>
        </p:nvSpPr>
        <p:spPr>
          <a:xfrm>
            <a:off x="685800" y="2739931"/>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2" name="Text 9"/>
          <p:cNvSpPr/>
          <p:nvPr/>
        </p:nvSpPr>
        <p:spPr>
          <a:xfrm>
            <a:off x="685800" y="2286817"/>
            <a:ext cx="3380640" cy="484748"/>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endParaRPr lang="en-US" sz="1050" dirty="0">
              <a:solidFill>
                <a:srgbClr val="333333"/>
              </a:solidFill>
              <a:latin typeface="Times New Roman" panose="02020603050405020304" pitchFamily="18" charset="0"/>
              <a:ea typeface="Noto Sans" pitchFamily="34" charset="-122"/>
              <a:cs typeface="Times New Roman" panose="02020603050405020304" pitchFamily="18" charset="0"/>
            </a:endParaRPr>
          </a:p>
          <a:p>
            <a:pPr marL="171450" indent="-171450" algn="l">
              <a:buFont typeface="Arial" panose="020B0604020202020204" pitchFamily="34" charset="0"/>
              <a:buChar char="•"/>
            </a:pPr>
            <a:r>
              <a:rPr lang="en-US" sz="1050" dirty="0">
                <a:solidFill>
                  <a:srgbClr val="333333"/>
                </a:solidFill>
                <a:latin typeface="Times New Roman" panose="02020603050405020304" pitchFamily="18" charset="0"/>
                <a:ea typeface="Noto Sans" pitchFamily="34" charset="-122"/>
                <a:cs typeface="Times New Roman" panose="02020603050405020304" pitchFamily="18" charset="0"/>
              </a:rPr>
              <a:t>Average nurse salary: $800-1,200/</a:t>
            </a:r>
            <a:r>
              <a:rPr lang="en-US" sz="1050" dirty="0" err="1">
                <a:solidFill>
                  <a:srgbClr val="333333"/>
                </a:solidFill>
                <a:latin typeface="Times New Roman" panose="02020603050405020304" pitchFamily="18" charset="0"/>
                <a:ea typeface="Noto Sans" pitchFamily="34" charset="-122"/>
                <a:cs typeface="Times New Roman" panose="02020603050405020304" pitchFamily="18" charset="0"/>
              </a:rPr>
              <a:t>mont</a:t>
            </a:r>
            <a:endParaRPr lang="en-US" sz="1050" dirty="0">
              <a:solidFill>
                <a:srgbClr val="333333"/>
              </a:solidFill>
              <a:latin typeface="Times New Roman" panose="02020603050405020304" pitchFamily="18" charset="0"/>
              <a:ea typeface="Noto Sans" pitchFamily="34" charset="-122"/>
              <a:cs typeface="Times New Roman" panose="02020603050405020304" pitchFamily="18" charset="0"/>
            </a:endParaRPr>
          </a:p>
          <a:p>
            <a:pPr marL="171450" indent="-171450" algn="l">
              <a:buFont typeface="Arial" panose="020B0604020202020204" pitchFamily="34" charset="0"/>
              <a:buChar char="•"/>
            </a:pPr>
            <a:endParaRPr lang="en-US" sz="1050" dirty="0">
              <a:latin typeface="Times New Roman" panose="02020603050405020304" pitchFamily="18" charset="0"/>
              <a:cs typeface="Times New Roman" panose="02020603050405020304" pitchFamily="18" charset="0"/>
            </a:endParaRPr>
          </a:p>
        </p:txBody>
      </p:sp>
      <p:sp>
        <p:nvSpPr>
          <p:cNvPr id="13" name="Text 10"/>
          <p:cNvSpPr/>
          <p:nvPr/>
        </p:nvSpPr>
        <p:spPr>
          <a:xfrm>
            <a:off x="685800" y="3262820"/>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4" name="Text 11"/>
          <p:cNvSpPr/>
          <p:nvPr/>
        </p:nvSpPr>
        <p:spPr>
          <a:xfrm>
            <a:off x="685800" y="2550789"/>
            <a:ext cx="3494940" cy="646331"/>
          </a:xfrm>
          <a:prstGeom prst="rect">
            <a:avLst/>
          </a:prstGeom>
          <a:noFill/>
          <a:ln/>
        </p:spPr>
        <p:txBody>
          <a:bodyPr wrap="square" lIns="0" tIns="0" rIns="0" bIns="0" rtlCol="0" anchor="ctr">
            <a:spAutoFit/>
          </a:bodyPr>
          <a:lstStyle/>
          <a:p>
            <a:pPr marL="171450" indent="-171450">
              <a:buFont typeface="Arial" panose="020B0604020202020204" pitchFamily="34" charset="0"/>
              <a:buChar char="•"/>
            </a:pPr>
            <a:endParaRPr lang="en-US" sz="105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050" dirty="0">
                <a:latin typeface="Times New Roman" panose="02020603050405020304" pitchFamily="18" charset="0"/>
                <a:cs typeface="Times New Roman" panose="02020603050405020304" pitchFamily="18" charset="0"/>
              </a:rPr>
              <a:t>A nationwide WHO‑led survey across the West Bank (including East Jerusalem) and Gaza Strip reports over 25,211 nurses in total </a:t>
            </a:r>
          </a:p>
        </p:txBody>
      </p:sp>
      <p:sp>
        <p:nvSpPr>
          <p:cNvPr id="15" name="Text 12"/>
          <p:cNvSpPr/>
          <p:nvPr/>
        </p:nvSpPr>
        <p:spPr>
          <a:xfrm>
            <a:off x="685800" y="3159019"/>
            <a:ext cx="2864399" cy="307777"/>
          </a:xfrm>
          <a:prstGeom prst="rect">
            <a:avLst/>
          </a:prstGeom>
          <a:noFill/>
          <a:ln/>
        </p:spPr>
        <p:txBody>
          <a:bodyPr wrap="square" lIns="0" tIns="0" rIns="0" bIns="0" rtlCol="0" anchor="ctr">
            <a:spAutoFit/>
          </a:bodyPr>
          <a:lstStyle/>
          <a:p>
            <a:pPr marL="171450" indent="-171450">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Active–Employed 14,593 out of 25,211</a:t>
            </a:r>
          </a:p>
        </p:txBody>
      </p:sp>
      <p:sp>
        <p:nvSpPr>
          <p:cNvPr id="16" name="Text 13"/>
          <p:cNvSpPr/>
          <p:nvPr/>
        </p:nvSpPr>
        <p:spPr>
          <a:xfrm>
            <a:off x="819885" y="3785709"/>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8" name="Text 15"/>
          <p:cNvSpPr/>
          <p:nvPr/>
        </p:nvSpPr>
        <p:spPr>
          <a:xfrm>
            <a:off x="1072456" y="4285331"/>
            <a:ext cx="65" cy="311624"/>
          </a:xfrm>
          <a:prstGeom prst="rect">
            <a:avLst/>
          </a:prstGeom>
          <a:noFill/>
          <a:ln/>
        </p:spPr>
        <p:txBody>
          <a:bodyPr wrap="none" lIns="0" tIns="0" rIns="0" bIns="0" rtlCol="0" anchor="ctr">
            <a:spAutoFit/>
          </a:bodyPr>
          <a:lstStyle/>
          <a:p>
            <a:pPr marL="0" indent="0">
              <a:buNone/>
            </a:pPr>
            <a:endParaRPr lang="en-US" sz="2025" dirty="0"/>
          </a:p>
        </p:txBody>
      </p:sp>
      <p:sp>
        <p:nvSpPr>
          <p:cNvPr id="19" name="Text 16"/>
          <p:cNvSpPr/>
          <p:nvPr/>
        </p:nvSpPr>
        <p:spPr>
          <a:xfrm>
            <a:off x="617041" y="4703178"/>
            <a:ext cx="1557338" cy="128818"/>
          </a:xfrm>
          <a:prstGeom prst="rect">
            <a:avLst/>
          </a:prstGeom>
          <a:noFill/>
          <a:ln/>
        </p:spPr>
        <p:txBody>
          <a:bodyPr wrap="square" lIns="0" tIns="0" rIns="0" bIns="0" rtlCol="0" anchor="ctr">
            <a:spAutoFit/>
          </a:bodyPr>
          <a:lstStyle/>
          <a:p>
            <a:pPr marL="0" indent="0" algn="ctr">
              <a:buNone/>
            </a:pPr>
            <a:endParaRPr lang="en-US" sz="837" dirty="0"/>
          </a:p>
        </p:txBody>
      </p:sp>
      <p:sp>
        <p:nvSpPr>
          <p:cNvPr id="20" name="Shape 17"/>
          <p:cNvSpPr/>
          <p:nvPr/>
        </p:nvSpPr>
        <p:spPr>
          <a:xfrm>
            <a:off x="1589466" y="4167513"/>
            <a:ext cx="1900238" cy="1086366"/>
          </a:xfrm>
          <a:prstGeom prst="rect">
            <a:avLst/>
          </a:prstGeom>
          <a:solidFill>
            <a:srgbClr val="FFFFFF">
              <a:alpha val="95000"/>
            </a:srgbClr>
          </a:solidFill>
          <a:ln/>
        </p:spPr>
      </p:sp>
      <p:sp>
        <p:nvSpPr>
          <p:cNvPr id="21" name="Text 18"/>
          <p:cNvSpPr/>
          <p:nvPr/>
        </p:nvSpPr>
        <p:spPr>
          <a:xfrm>
            <a:off x="2266336" y="4216823"/>
            <a:ext cx="546497" cy="385763"/>
          </a:xfrm>
          <a:prstGeom prst="rect">
            <a:avLst/>
          </a:prstGeom>
          <a:noFill/>
          <a:ln/>
        </p:spPr>
        <p:txBody>
          <a:bodyPr wrap="none" lIns="0" tIns="0" rIns="0" bIns="0" rtlCol="0" anchor="ctr">
            <a:spAutoFit/>
          </a:bodyPr>
          <a:lstStyle/>
          <a:p>
            <a:pPr marL="0" indent="0">
              <a:buNone/>
            </a:pPr>
            <a:r>
              <a:rPr lang="en-US" sz="2025" b="1" dirty="0">
                <a:solidFill>
                  <a:srgbClr val="0A7C8E"/>
                </a:solidFill>
                <a:latin typeface="Montserrat" pitchFamily="34" charset="0"/>
                <a:ea typeface="Montserrat" pitchFamily="34" charset="-122"/>
                <a:cs typeface="Montserrat" pitchFamily="34" charset="-120"/>
              </a:rPr>
              <a:t>85%</a:t>
            </a:r>
            <a:endParaRPr lang="en-US" sz="2025" dirty="0"/>
          </a:p>
        </p:txBody>
      </p:sp>
      <p:sp>
        <p:nvSpPr>
          <p:cNvPr id="22" name="Text 19"/>
          <p:cNvSpPr/>
          <p:nvPr/>
        </p:nvSpPr>
        <p:spPr>
          <a:xfrm>
            <a:off x="1771873" y="4662039"/>
            <a:ext cx="1557338" cy="553998"/>
          </a:xfrm>
          <a:prstGeom prst="rect">
            <a:avLst/>
          </a:prstGeom>
          <a:noFill/>
          <a:ln/>
        </p:spPr>
        <p:txBody>
          <a:bodyPr wrap="square" lIns="0" tIns="0" rIns="0" bIns="0" rtlCol="0" anchor="ctr">
            <a:spAutoFit/>
          </a:bodyPr>
          <a:lstStyle/>
          <a:p>
            <a:pPr marL="0" indent="0" algn="ctr">
              <a:buNone/>
            </a:pPr>
            <a:r>
              <a:rPr lang="en-US" sz="1200" dirty="0">
                <a:solidFill>
                  <a:srgbClr val="555555"/>
                </a:solidFill>
                <a:latin typeface="Times New Roman" panose="02020603050405020304" pitchFamily="18" charset="0"/>
                <a:ea typeface="Noto Sans" pitchFamily="34" charset="-122"/>
                <a:cs typeface="Times New Roman" panose="02020603050405020304" pitchFamily="18" charset="0"/>
              </a:rPr>
              <a:t>Nurses Interested in International Opportunities</a:t>
            </a:r>
            <a:endParaRPr lang="en-US" sz="1200" dirty="0">
              <a:latin typeface="Times New Roman" panose="02020603050405020304" pitchFamily="18" charset="0"/>
              <a:cs typeface="Times New Roman" panose="02020603050405020304" pitchFamily="18" charset="0"/>
            </a:endParaRPr>
          </a:p>
        </p:txBody>
      </p:sp>
      <p:sp>
        <p:nvSpPr>
          <p:cNvPr id="23" name="Shape 20"/>
          <p:cNvSpPr/>
          <p:nvPr/>
        </p:nvSpPr>
        <p:spPr>
          <a:xfrm>
            <a:off x="4594566" y="849174"/>
            <a:ext cx="3971925" cy="4424320"/>
          </a:xfrm>
          <a:prstGeom prst="rect">
            <a:avLst/>
          </a:prstGeom>
          <a:solidFill>
            <a:srgbClr val="FFFFFF">
              <a:alpha val="95000"/>
            </a:srgbClr>
          </a:solidFill>
          <a:ln/>
        </p:spPr>
        <p:txBody>
          <a:bodyPr/>
          <a:lstStyle/>
          <a:p>
            <a:endParaRPr lang="en-US" dirty="0"/>
          </a:p>
          <a:p>
            <a:endParaRPr lang="en-US" dirty="0"/>
          </a:p>
          <a:p>
            <a:endParaRPr lang="en-US" sz="12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endParaRPr lang="en-US" dirty="0"/>
          </a:p>
          <a:p>
            <a:pPr algn="ctr"/>
            <a:endParaRPr lang="en-US" b="1" dirty="0">
              <a:solidFill>
                <a:srgbClr val="0A7C8E"/>
              </a:solidFill>
              <a:latin typeface="Montserrat" pitchFamily="34" charset="0"/>
              <a:ea typeface="Montserrat" pitchFamily="34" charset="-122"/>
              <a:cs typeface="Montserrat" pitchFamily="34" charset="-120"/>
            </a:endParaRPr>
          </a:p>
          <a:p>
            <a:pPr algn="ctr"/>
            <a:r>
              <a:rPr lang="en-US" b="1" dirty="0">
                <a:solidFill>
                  <a:srgbClr val="0A7C8E"/>
                </a:solidFill>
                <a:latin typeface="Montserrat" pitchFamily="34" charset="0"/>
                <a:ea typeface="Montserrat" pitchFamily="34" charset="-122"/>
                <a:cs typeface="Montserrat" pitchFamily="34" charset="-120"/>
              </a:rPr>
              <a:t>40%</a:t>
            </a:r>
            <a:endParaRPr lang="en-US" dirty="0"/>
          </a:p>
          <a:p>
            <a:pPr algn="ctr"/>
            <a:r>
              <a:rPr lang="en-US" sz="1400" dirty="0">
                <a:solidFill>
                  <a:srgbClr val="555555"/>
                </a:solidFill>
                <a:latin typeface="Times New Roman" panose="02020603050405020304" pitchFamily="18" charset="0"/>
                <a:ea typeface="Noto Sans" pitchFamily="34" charset="-122"/>
                <a:cs typeface="Times New Roman" panose="02020603050405020304" pitchFamily="18" charset="0"/>
              </a:rPr>
              <a:t>Unemployment Rate Among Recent Nursing Graduates</a:t>
            </a: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endParaRPr lang="en-US" dirty="0"/>
          </a:p>
        </p:txBody>
      </p:sp>
      <p:sp>
        <p:nvSpPr>
          <p:cNvPr id="24" name="Text 21"/>
          <p:cNvSpPr/>
          <p:nvPr/>
        </p:nvSpPr>
        <p:spPr>
          <a:xfrm>
            <a:off x="4363185" y="885341"/>
            <a:ext cx="4152230" cy="807913"/>
          </a:xfrm>
          <a:prstGeom prst="rect">
            <a:avLst/>
          </a:prstGeom>
          <a:noFill/>
          <a:ln/>
        </p:spPr>
        <p:txBody>
          <a:bodyPr wrap="square" lIns="0" tIns="0" rIns="0" bIns="0" rtlCol="0" anchor="ctr">
            <a:spAutoFit/>
          </a:bodyPr>
          <a:lstStyle/>
          <a:p>
            <a:pPr marL="0" indent="0">
              <a:buNone/>
            </a:pPr>
            <a:r>
              <a:rPr lang="en-US" sz="1350" b="1" dirty="0">
                <a:solidFill>
                  <a:srgbClr val="1A93A7"/>
                </a:solidFill>
                <a:latin typeface="Montserrat" pitchFamily="34" charset="0"/>
                <a:ea typeface="Montserrat" pitchFamily="34" charset="-122"/>
                <a:cs typeface="Montserrat" pitchFamily="34" charset="-120"/>
              </a:rPr>
              <a:t>       Employment/Unemployment Breakdown</a:t>
            </a:r>
          </a:p>
          <a:p>
            <a:pPr marL="0" indent="0">
              <a:buNone/>
            </a:pPr>
            <a:endParaRPr lang="en-US" sz="1350" b="1" dirty="0">
              <a:solidFill>
                <a:srgbClr val="1A93A7"/>
              </a:solidFill>
              <a:latin typeface="Montserrat" pitchFamily="34" charset="0"/>
            </a:endParaRPr>
          </a:p>
          <a:p>
            <a:pPr marL="0" indent="0">
              <a:buNone/>
            </a:pPr>
            <a:endParaRPr lang="en-US" sz="1200" b="1" dirty="0">
              <a:solidFill>
                <a:srgbClr val="1A93A7"/>
              </a:solidFill>
              <a:latin typeface="Times New Roman" panose="02020603050405020304" pitchFamily="18" charset="0"/>
              <a:cs typeface="Times New Roman" panose="02020603050405020304" pitchFamily="18" charset="0"/>
            </a:endParaRPr>
          </a:p>
          <a:p>
            <a:pPr marL="0" indent="0">
              <a:buNone/>
            </a:pPr>
            <a:endParaRPr lang="en-US" sz="1350" dirty="0"/>
          </a:p>
        </p:txBody>
      </p:sp>
      <p:pic>
        <p:nvPicPr>
          <p:cNvPr id="31" name="Picture 30">
            <a:extLst>
              <a:ext uri="{FF2B5EF4-FFF2-40B4-BE49-F238E27FC236}">
                <a16:creationId xmlns:a16="http://schemas.microsoft.com/office/drawing/2014/main" id="{68EC0CF4-7F13-8FCA-B94A-DAFC2B351A9F}"/>
              </a:ext>
            </a:extLst>
          </p:cNvPr>
          <p:cNvPicPr>
            <a:picLocks noChangeAspect="1"/>
          </p:cNvPicPr>
          <p:nvPr/>
        </p:nvPicPr>
        <p:blipFill>
          <a:blip r:embed="rId4"/>
          <a:stretch>
            <a:fillRect/>
          </a:stretch>
        </p:blipFill>
        <p:spPr>
          <a:xfrm>
            <a:off x="4800600" y="1134924"/>
            <a:ext cx="3743325" cy="32047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07363"/>
            <a:ext cx="9144000" cy="6160691"/>
          </a:xfrm>
          <a:prstGeom prst="rect">
            <a:avLst/>
          </a:prstGeom>
        </p:spPr>
      </p:pic>
      <p:sp>
        <p:nvSpPr>
          <p:cNvPr id="3" name="Shape 0"/>
          <p:cNvSpPr/>
          <p:nvPr/>
        </p:nvSpPr>
        <p:spPr>
          <a:xfrm>
            <a:off x="0" y="4711576"/>
            <a:ext cx="9087244" cy="1785938"/>
          </a:xfrm>
          <a:prstGeom prst="rect">
            <a:avLst/>
          </a:prstGeom>
          <a:solidFill>
            <a:srgbClr val="1A93A7"/>
          </a:solidFill>
          <a:ln/>
        </p:spPr>
      </p:sp>
      <p:sp>
        <p:nvSpPr>
          <p:cNvPr id="4" name="Text 1"/>
          <p:cNvSpPr/>
          <p:nvPr/>
        </p:nvSpPr>
        <p:spPr>
          <a:xfrm>
            <a:off x="3067309" y="254785"/>
            <a:ext cx="2753959" cy="369332"/>
          </a:xfrm>
          <a:prstGeom prst="rect">
            <a:avLst/>
          </a:prstGeom>
          <a:noFill/>
          <a:ln/>
        </p:spPr>
        <p:txBody>
          <a:bodyPr wrap="none" lIns="0" tIns="0" rIns="0" bIns="0" rtlCol="0" anchor="ctr">
            <a:spAutoFit/>
          </a:bodyPr>
          <a:lstStyle/>
          <a:p>
            <a:pPr marL="0" indent="0" algn="ctr">
              <a:buNone/>
            </a:pPr>
            <a:r>
              <a:rPr lang="en-US" sz="2400" b="1" dirty="0">
                <a:solidFill>
                  <a:srgbClr val="0A7C8E"/>
                </a:solidFill>
                <a:latin typeface="Times New Roman" panose="02020603050405020304" pitchFamily="18" charset="0"/>
                <a:ea typeface="Montserrat" pitchFamily="34" charset="-122"/>
                <a:cs typeface="Times New Roman" panose="02020603050405020304" pitchFamily="18" charset="0"/>
              </a:rPr>
              <a:t>U.S. Nursing Market</a:t>
            </a:r>
            <a:endParaRPr lang="en-US" sz="2400" dirty="0">
              <a:latin typeface="Times New Roman" panose="02020603050405020304" pitchFamily="18" charset="0"/>
              <a:cs typeface="Times New Roman" panose="02020603050405020304" pitchFamily="18" charset="0"/>
            </a:endParaRPr>
          </a:p>
        </p:txBody>
      </p:sp>
      <p:sp>
        <p:nvSpPr>
          <p:cNvPr id="5" name="Shape 2"/>
          <p:cNvSpPr/>
          <p:nvPr/>
        </p:nvSpPr>
        <p:spPr>
          <a:xfrm>
            <a:off x="436145" y="624548"/>
            <a:ext cx="3971925" cy="1668170"/>
          </a:xfrm>
          <a:prstGeom prst="rect">
            <a:avLst/>
          </a:prstGeom>
          <a:solidFill>
            <a:srgbClr val="FFFFFF">
              <a:alpha val="95000"/>
            </a:srgbClr>
          </a:solidFill>
          <a:ln/>
        </p:spPr>
        <p:txBody>
          <a:bodyPr/>
          <a:lstStyle/>
          <a:p>
            <a:endParaRPr lang="en-US" dirty="0"/>
          </a:p>
        </p:txBody>
      </p:sp>
      <p:sp>
        <p:nvSpPr>
          <p:cNvPr id="6" name="Text 3"/>
          <p:cNvSpPr/>
          <p:nvPr/>
        </p:nvSpPr>
        <p:spPr>
          <a:xfrm>
            <a:off x="1437815" y="1267725"/>
            <a:ext cx="2762710" cy="207749"/>
          </a:xfrm>
          <a:prstGeom prst="rect">
            <a:avLst/>
          </a:prstGeom>
          <a:noFill/>
          <a:ln/>
        </p:spPr>
        <p:txBody>
          <a:bodyPr wrap="square" lIns="0" tIns="0" rIns="0" bIns="0" rtlCol="0" anchor="ctr">
            <a:spAutoFit/>
          </a:bodyPr>
          <a:lstStyle/>
          <a:p>
            <a:pPr marL="0" indent="0">
              <a:buNone/>
            </a:pPr>
            <a:r>
              <a:rPr lang="en-US" sz="1350" b="1" dirty="0">
                <a:solidFill>
                  <a:srgbClr val="1A93A7"/>
                </a:solidFill>
                <a:latin typeface="Montserrat" pitchFamily="34" charset="0"/>
                <a:ea typeface="Montserrat" pitchFamily="34" charset="-122"/>
                <a:cs typeface="Montserrat" pitchFamily="34" charset="-120"/>
              </a:rPr>
              <a:t>Market Overview</a:t>
            </a:r>
            <a:endParaRPr lang="en-US" sz="1350" dirty="0"/>
          </a:p>
        </p:txBody>
      </p:sp>
      <p:sp>
        <p:nvSpPr>
          <p:cNvPr id="7" name="Text 4"/>
          <p:cNvSpPr/>
          <p:nvPr/>
        </p:nvSpPr>
        <p:spPr>
          <a:xfrm>
            <a:off x="685800" y="1731307"/>
            <a:ext cx="3514725" cy="507831"/>
          </a:xfrm>
          <a:prstGeom prst="rect">
            <a:avLst/>
          </a:prstGeom>
          <a:noFill/>
          <a:ln/>
        </p:spPr>
        <p:txBody>
          <a:bodyPr wrap="squar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a:t>
            </a: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The U.S. nursing market faces a critical shortage that continues to grow annually, creating significant opportunities for qualified international nurses. </a:t>
            </a:r>
            <a:endParaRPr lang="en-US" sz="1100" dirty="0">
              <a:latin typeface="Times New Roman" panose="02020603050405020304" pitchFamily="18" charset="0"/>
              <a:cs typeface="Times New Roman" panose="02020603050405020304" pitchFamily="18" charset="0"/>
            </a:endParaRPr>
          </a:p>
        </p:txBody>
      </p:sp>
      <p:sp>
        <p:nvSpPr>
          <p:cNvPr id="8" name="Text 5"/>
          <p:cNvSpPr/>
          <p:nvPr/>
        </p:nvSpPr>
        <p:spPr>
          <a:xfrm>
            <a:off x="685800" y="2464199"/>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9" name="Text 6"/>
          <p:cNvSpPr/>
          <p:nvPr/>
        </p:nvSpPr>
        <p:spPr>
          <a:xfrm>
            <a:off x="819885" y="2452049"/>
            <a:ext cx="2906245" cy="169277"/>
          </a:xfrm>
          <a:prstGeom prst="rect">
            <a:avLst/>
          </a:prstGeom>
          <a:noFill/>
          <a:ln/>
        </p:spPr>
        <p:txBody>
          <a:bodyPr wrap="non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Projected shortage of 1.1 million nurses by 2030</a:t>
            </a:r>
            <a:endParaRPr lang="en-US" sz="1100" dirty="0">
              <a:latin typeface="Times New Roman" panose="02020603050405020304" pitchFamily="18" charset="0"/>
              <a:cs typeface="Times New Roman" panose="02020603050405020304" pitchFamily="18" charset="0"/>
            </a:endParaRPr>
          </a:p>
        </p:txBody>
      </p:sp>
      <p:sp>
        <p:nvSpPr>
          <p:cNvPr id="10" name="Text 7"/>
          <p:cNvSpPr/>
          <p:nvPr/>
        </p:nvSpPr>
        <p:spPr>
          <a:xfrm>
            <a:off x="685800" y="2768506"/>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1" name="Text 8"/>
          <p:cNvSpPr/>
          <p:nvPr/>
        </p:nvSpPr>
        <p:spPr>
          <a:xfrm>
            <a:off x="819885" y="2786978"/>
            <a:ext cx="2873880" cy="169277"/>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Average annual salary: $80,000 - $120,000+</a:t>
            </a:r>
          </a:p>
        </p:txBody>
      </p:sp>
      <p:sp>
        <p:nvSpPr>
          <p:cNvPr id="12" name="Text 9"/>
          <p:cNvSpPr/>
          <p:nvPr/>
        </p:nvSpPr>
        <p:spPr>
          <a:xfrm>
            <a:off x="685800" y="3072813"/>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3" name="Text 10"/>
          <p:cNvSpPr/>
          <p:nvPr/>
        </p:nvSpPr>
        <p:spPr>
          <a:xfrm>
            <a:off x="819885" y="3169953"/>
            <a:ext cx="3380640" cy="169277"/>
          </a:xfrm>
          <a:prstGeom prst="rect">
            <a:avLst/>
          </a:prstGeom>
          <a:noFill/>
          <a:ln/>
        </p:spPr>
        <p:txBody>
          <a:bodyPr wrap="square" lIns="0" tIns="0" rIns="0" bIns="0" rtlCol="0" anchor="ctr">
            <a:spAutoFit/>
          </a:bodyPr>
          <a:lstStyle/>
          <a:p>
            <a:pPr algn="l"/>
            <a:endParaRPr lang="en-US" sz="1100" dirty="0">
              <a:latin typeface="Times New Roman" panose="02020603050405020304" pitchFamily="18" charset="0"/>
              <a:cs typeface="Times New Roman" panose="02020603050405020304" pitchFamily="18" charset="0"/>
            </a:endParaRPr>
          </a:p>
        </p:txBody>
      </p:sp>
      <p:sp>
        <p:nvSpPr>
          <p:cNvPr id="14" name="Text 11"/>
          <p:cNvSpPr/>
          <p:nvPr/>
        </p:nvSpPr>
        <p:spPr>
          <a:xfrm>
            <a:off x="685800" y="3595702"/>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5" name="Text 12"/>
          <p:cNvSpPr/>
          <p:nvPr/>
        </p:nvSpPr>
        <p:spPr>
          <a:xfrm>
            <a:off x="819241" y="3128290"/>
            <a:ext cx="3380640" cy="452753"/>
          </a:xfrm>
          <a:prstGeom prst="rect">
            <a:avLst/>
          </a:prstGeom>
          <a:noFill/>
          <a:ln/>
        </p:spPr>
        <p:txBody>
          <a:bodyPr wrap="square" lIns="0" tIns="0" rIns="0" bIns="0" rtlCol="0" anchor="ctr">
            <a:spAutoFit/>
          </a:bodyPr>
          <a:lstStyle/>
          <a:p>
            <a:pPr marL="171450" indent="-17145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There were approximately 22 million healthcare workers in the USA, among them </a:t>
            </a:r>
            <a:r>
              <a:rPr lang="en-US" sz="1000" b="1" dirty="0">
                <a:latin typeface="Times New Roman" panose="02020603050405020304" pitchFamily="18" charset="0"/>
                <a:cs typeface="Times New Roman" panose="02020603050405020304" pitchFamily="18" charset="0"/>
              </a:rPr>
              <a:t>4.7 million RN’S </a:t>
            </a:r>
            <a:r>
              <a:rPr lang="en-US" sz="1000" dirty="0">
                <a:latin typeface="Times New Roman" panose="02020603050405020304" pitchFamily="18" charset="0"/>
                <a:cs typeface="Times New Roman" panose="02020603050405020304" pitchFamily="18" charset="0"/>
              </a:rPr>
              <a:t>(CDC, AACN, 2025) </a:t>
            </a:r>
          </a:p>
          <a:p>
            <a:pPr marL="171450" indent="-171450" algn="l">
              <a:buFont typeface="Arial" panose="020B0604020202020204" pitchFamily="34" charset="0"/>
              <a:buChar char="•"/>
            </a:pPr>
            <a:endParaRPr lang="en-US" sz="942" dirty="0"/>
          </a:p>
        </p:txBody>
      </p:sp>
      <p:sp>
        <p:nvSpPr>
          <p:cNvPr id="16" name="Text 13"/>
          <p:cNvSpPr/>
          <p:nvPr/>
        </p:nvSpPr>
        <p:spPr>
          <a:xfrm>
            <a:off x="685800" y="4118591"/>
            <a:ext cx="65" cy="144976"/>
          </a:xfrm>
          <a:prstGeom prst="rect">
            <a:avLst/>
          </a:prstGeom>
          <a:noFill/>
          <a:ln/>
        </p:spPr>
        <p:txBody>
          <a:bodyPr wrap="none" lIns="0" tIns="0" rIns="0" bIns="0" rtlCol="0" anchor="ctr">
            <a:spAutoFit/>
          </a:bodyPr>
          <a:lstStyle/>
          <a:p>
            <a:pPr marL="0" indent="0" algn="l">
              <a:buNone/>
            </a:pPr>
            <a:endParaRPr lang="en-US" sz="942" dirty="0"/>
          </a:p>
        </p:txBody>
      </p:sp>
      <p:sp>
        <p:nvSpPr>
          <p:cNvPr id="17" name="Text 14"/>
          <p:cNvSpPr/>
          <p:nvPr/>
        </p:nvSpPr>
        <p:spPr>
          <a:xfrm>
            <a:off x="819241" y="3581474"/>
            <a:ext cx="3381284" cy="338554"/>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International nurses make up about15% of the nursing workforce</a:t>
            </a:r>
            <a:endParaRPr lang="en-US" sz="1100" dirty="0">
              <a:latin typeface="Times New Roman" panose="02020603050405020304" pitchFamily="18" charset="0"/>
              <a:cs typeface="Times New Roman" panose="02020603050405020304" pitchFamily="18" charset="0"/>
            </a:endParaRPr>
          </a:p>
        </p:txBody>
      </p:sp>
      <p:sp>
        <p:nvSpPr>
          <p:cNvPr id="18" name="Shape 15"/>
          <p:cNvSpPr/>
          <p:nvPr/>
        </p:nvSpPr>
        <p:spPr>
          <a:xfrm>
            <a:off x="4678780" y="618800"/>
            <a:ext cx="1900238" cy="857250"/>
          </a:xfrm>
          <a:prstGeom prst="rect">
            <a:avLst/>
          </a:prstGeom>
          <a:solidFill>
            <a:srgbClr val="FFFFFF">
              <a:alpha val="95000"/>
            </a:srgbClr>
          </a:solidFill>
          <a:ln/>
        </p:spPr>
      </p:sp>
      <p:sp>
        <p:nvSpPr>
          <p:cNvPr id="19" name="Text 16"/>
          <p:cNvSpPr/>
          <p:nvPr/>
        </p:nvSpPr>
        <p:spPr>
          <a:xfrm>
            <a:off x="5328484" y="1114425"/>
            <a:ext cx="673019" cy="342900"/>
          </a:xfrm>
          <a:prstGeom prst="rect">
            <a:avLst/>
          </a:prstGeom>
          <a:noFill/>
          <a:ln/>
        </p:spPr>
        <p:txBody>
          <a:bodyPr wrap="none" lIns="0" tIns="0" rIns="0" bIns="0" rtlCol="0" anchor="ctr">
            <a:spAutoFit/>
          </a:bodyPr>
          <a:lstStyle/>
          <a:p>
            <a:pPr marL="0" indent="0">
              <a:buNone/>
            </a:pPr>
            <a:r>
              <a:rPr lang="en-US" sz="1800" b="1" dirty="0">
                <a:solidFill>
                  <a:srgbClr val="0A7C8E"/>
                </a:solidFill>
                <a:latin typeface="Noto Sans" pitchFamily="34" charset="0"/>
                <a:ea typeface="Noto Sans" pitchFamily="34" charset="-122"/>
                <a:cs typeface="Noto Sans" pitchFamily="34" charset="-120"/>
              </a:rPr>
              <a:t>1.1M+</a:t>
            </a:r>
            <a:endParaRPr lang="en-US" sz="1800" dirty="0"/>
          </a:p>
        </p:txBody>
      </p:sp>
      <p:sp>
        <p:nvSpPr>
          <p:cNvPr id="20" name="Text 17"/>
          <p:cNvSpPr/>
          <p:nvPr/>
        </p:nvSpPr>
        <p:spPr>
          <a:xfrm>
            <a:off x="4829175" y="1457325"/>
            <a:ext cx="1671638" cy="342900"/>
          </a:xfrm>
          <a:prstGeom prst="rect">
            <a:avLst/>
          </a:prstGeom>
          <a:noFill/>
          <a:ln/>
        </p:spPr>
        <p:txBody>
          <a:bodyPr wrap="square" lIns="0" tIns="0" rIns="0" bIns="0" rtlCol="0" anchor="ctr">
            <a:spAutoFit/>
          </a:bodyPr>
          <a:lstStyle/>
          <a:p>
            <a:pPr marL="0" indent="0" algn="ctr">
              <a:buNone/>
            </a:pPr>
            <a:r>
              <a:rPr lang="en-US" sz="837" dirty="0">
                <a:solidFill>
                  <a:srgbClr val="333333"/>
                </a:solidFill>
                <a:latin typeface="Noto Sans" pitchFamily="34" charset="0"/>
                <a:ea typeface="Noto Sans" pitchFamily="34" charset="-122"/>
                <a:cs typeface="Noto Sans" pitchFamily="34" charset="-120"/>
              </a:rPr>
              <a:t>Projected Nurse Shortage by 2030</a:t>
            </a:r>
            <a:endParaRPr lang="en-US" sz="837" dirty="0"/>
          </a:p>
        </p:txBody>
      </p:sp>
      <p:sp>
        <p:nvSpPr>
          <p:cNvPr id="21" name="Shape 18"/>
          <p:cNvSpPr/>
          <p:nvPr/>
        </p:nvSpPr>
        <p:spPr>
          <a:xfrm>
            <a:off x="6777683" y="628650"/>
            <a:ext cx="1900238" cy="857250"/>
          </a:xfrm>
          <a:prstGeom prst="rect">
            <a:avLst/>
          </a:prstGeom>
          <a:solidFill>
            <a:srgbClr val="FFFFFF">
              <a:alpha val="95000"/>
            </a:srgbClr>
          </a:solidFill>
          <a:ln/>
        </p:spPr>
      </p:sp>
      <p:sp>
        <p:nvSpPr>
          <p:cNvPr id="22" name="Text 19"/>
          <p:cNvSpPr/>
          <p:nvPr/>
        </p:nvSpPr>
        <p:spPr>
          <a:xfrm>
            <a:off x="7311823" y="1233100"/>
            <a:ext cx="831959" cy="276999"/>
          </a:xfrm>
          <a:prstGeom prst="rect">
            <a:avLst/>
          </a:prstGeom>
          <a:noFill/>
          <a:ln/>
        </p:spPr>
        <p:txBody>
          <a:bodyPr wrap="none" lIns="0" tIns="0" rIns="0" bIns="0" rtlCol="0" anchor="ctr">
            <a:spAutoFit/>
          </a:bodyPr>
          <a:lstStyle/>
          <a:p>
            <a:pPr marL="0" indent="0">
              <a:buNone/>
            </a:pPr>
            <a:r>
              <a:rPr lang="en-US" sz="1800" b="1" dirty="0">
                <a:solidFill>
                  <a:srgbClr val="0A7C8E"/>
                </a:solidFill>
                <a:latin typeface="Noto Sans" pitchFamily="34" charset="0"/>
                <a:ea typeface="Noto Sans" pitchFamily="34" charset="-122"/>
                <a:cs typeface="Noto Sans" pitchFamily="34" charset="-120"/>
              </a:rPr>
              <a:t>$</a:t>
            </a:r>
            <a:r>
              <a:rPr lang="en-US" b="1" dirty="0">
                <a:solidFill>
                  <a:srgbClr val="0A7C8E"/>
                </a:solidFill>
                <a:latin typeface="Noto Sans" pitchFamily="34" charset="0"/>
                <a:ea typeface="Noto Sans" pitchFamily="34" charset="-122"/>
                <a:cs typeface="Noto Sans" pitchFamily="34" charset="-120"/>
              </a:rPr>
              <a:t>80,000</a:t>
            </a:r>
            <a:endParaRPr lang="en-US" sz="1800" dirty="0"/>
          </a:p>
        </p:txBody>
      </p:sp>
      <p:sp>
        <p:nvSpPr>
          <p:cNvPr id="23" name="Text 20"/>
          <p:cNvSpPr/>
          <p:nvPr/>
        </p:nvSpPr>
        <p:spPr>
          <a:xfrm>
            <a:off x="7110766" y="1543050"/>
            <a:ext cx="1251831" cy="171450"/>
          </a:xfrm>
          <a:prstGeom prst="rect">
            <a:avLst/>
          </a:prstGeom>
          <a:noFill/>
          <a:ln/>
        </p:spPr>
        <p:txBody>
          <a:bodyPr wrap="none" lIns="0" tIns="0" rIns="0" bIns="0" rtlCol="0" anchor="ctr">
            <a:spAutoFit/>
          </a:bodyPr>
          <a:lstStyle/>
          <a:p>
            <a:pPr marL="0" indent="0" algn="ctr">
              <a:buNone/>
            </a:pPr>
            <a:r>
              <a:rPr lang="en-US" sz="837" dirty="0">
                <a:solidFill>
                  <a:srgbClr val="333333"/>
                </a:solidFill>
                <a:latin typeface="Noto Sans" pitchFamily="34" charset="0"/>
                <a:ea typeface="Noto Sans" pitchFamily="34" charset="-122"/>
                <a:cs typeface="Noto Sans" pitchFamily="34" charset="-120"/>
              </a:rPr>
              <a:t>Average Starting Salary</a:t>
            </a:r>
            <a:endParaRPr lang="en-US" sz="837" dirty="0"/>
          </a:p>
        </p:txBody>
      </p:sp>
      <p:sp>
        <p:nvSpPr>
          <p:cNvPr id="24" name="Shape 21"/>
          <p:cNvSpPr/>
          <p:nvPr/>
        </p:nvSpPr>
        <p:spPr>
          <a:xfrm>
            <a:off x="4701843" y="1863124"/>
            <a:ext cx="1900238" cy="942151"/>
          </a:xfrm>
          <a:prstGeom prst="rect">
            <a:avLst/>
          </a:prstGeom>
          <a:solidFill>
            <a:srgbClr val="FFFFFF">
              <a:alpha val="95000"/>
            </a:srgbClr>
          </a:solidFill>
          <a:ln/>
        </p:spPr>
      </p:sp>
      <p:sp>
        <p:nvSpPr>
          <p:cNvPr id="25" name="Text 22"/>
          <p:cNvSpPr/>
          <p:nvPr/>
        </p:nvSpPr>
        <p:spPr>
          <a:xfrm>
            <a:off x="5395150" y="2008004"/>
            <a:ext cx="467497" cy="342900"/>
          </a:xfrm>
          <a:prstGeom prst="rect">
            <a:avLst/>
          </a:prstGeom>
          <a:noFill/>
          <a:ln/>
        </p:spPr>
        <p:txBody>
          <a:bodyPr wrap="none" lIns="0" tIns="0" rIns="0" bIns="0" rtlCol="0" anchor="ctr">
            <a:spAutoFit/>
          </a:bodyPr>
          <a:lstStyle/>
          <a:p>
            <a:pPr marL="0" indent="0">
              <a:buNone/>
            </a:pPr>
            <a:r>
              <a:rPr lang="en-US" sz="1800" b="1" dirty="0">
                <a:solidFill>
                  <a:srgbClr val="0A7C8E"/>
                </a:solidFill>
                <a:latin typeface="Noto Sans" pitchFamily="34" charset="0"/>
                <a:ea typeface="Noto Sans" pitchFamily="34" charset="-122"/>
                <a:cs typeface="Noto Sans" pitchFamily="34" charset="-120"/>
              </a:rPr>
              <a:t>15%</a:t>
            </a:r>
            <a:endParaRPr lang="en-US" sz="1800" dirty="0"/>
          </a:p>
        </p:txBody>
      </p:sp>
      <p:sp>
        <p:nvSpPr>
          <p:cNvPr id="26" name="Text 23"/>
          <p:cNvSpPr/>
          <p:nvPr/>
        </p:nvSpPr>
        <p:spPr>
          <a:xfrm>
            <a:off x="4845624" y="2400025"/>
            <a:ext cx="1638737" cy="171450"/>
          </a:xfrm>
          <a:prstGeom prst="rect">
            <a:avLst/>
          </a:prstGeom>
          <a:noFill/>
          <a:ln/>
        </p:spPr>
        <p:txBody>
          <a:bodyPr wrap="none" lIns="0" tIns="0" rIns="0" bIns="0" rtlCol="0" anchor="ctr">
            <a:spAutoFit/>
          </a:bodyPr>
          <a:lstStyle/>
          <a:p>
            <a:pPr marL="0" indent="0" algn="ctr">
              <a:buNone/>
            </a:pPr>
            <a:r>
              <a:rPr lang="en-US" sz="837" dirty="0">
                <a:solidFill>
                  <a:srgbClr val="333333"/>
                </a:solidFill>
                <a:latin typeface="Noto Sans" pitchFamily="34" charset="0"/>
                <a:ea typeface="Noto Sans" pitchFamily="34" charset="-122"/>
                <a:cs typeface="Noto Sans" pitchFamily="34" charset="-120"/>
              </a:rPr>
              <a:t>International Nurse Workforce</a:t>
            </a:r>
            <a:endParaRPr lang="en-US" sz="837" dirty="0"/>
          </a:p>
        </p:txBody>
      </p:sp>
      <p:sp>
        <p:nvSpPr>
          <p:cNvPr id="27" name="Shape 24"/>
          <p:cNvSpPr/>
          <p:nvPr/>
        </p:nvSpPr>
        <p:spPr>
          <a:xfrm>
            <a:off x="6777683" y="1858031"/>
            <a:ext cx="1900238" cy="857250"/>
          </a:xfrm>
          <a:prstGeom prst="rect">
            <a:avLst/>
          </a:prstGeom>
          <a:solidFill>
            <a:srgbClr val="FFFFFF">
              <a:alpha val="95000"/>
            </a:srgbClr>
          </a:solidFill>
          <a:ln/>
        </p:spPr>
      </p:sp>
      <p:sp>
        <p:nvSpPr>
          <p:cNvPr id="28" name="Text 25"/>
          <p:cNvSpPr/>
          <p:nvPr/>
        </p:nvSpPr>
        <p:spPr>
          <a:xfrm>
            <a:off x="7494053" y="2008004"/>
            <a:ext cx="467497" cy="342900"/>
          </a:xfrm>
          <a:prstGeom prst="rect">
            <a:avLst/>
          </a:prstGeom>
          <a:noFill/>
          <a:ln/>
        </p:spPr>
        <p:txBody>
          <a:bodyPr wrap="none" lIns="0" tIns="0" rIns="0" bIns="0" rtlCol="0" anchor="ctr">
            <a:spAutoFit/>
          </a:bodyPr>
          <a:lstStyle/>
          <a:p>
            <a:pPr marL="0" indent="0">
              <a:buNone/>
            </a:pPr>
            <a:r>
              <a:rPr lang="en-US" sz="1800" b="1" dirty="0">
                <a:solidFill>
                  <a:srgbClr val="0A7C8E"/>
                </a:solidFill>
                <a:latin typeface="Noto Sans" pitchFamily="34" charset="0"/>
                <a:ea typeface="Noto Sans" pitchFamily="34" charset="-122"/>
                <a:cs typeface="Noto Sans" pitchFamily="34" charset="-120"/>
              </a:rPr>
              <a:t>33%</a:t>
            </a:r>
            <a:endParaRPr lang="en-US" sz="1800" dirty="0"/>
          </a:p>
        </p:txBody>
      </p:sp>
      <p:sp>
        <p:nvSpPr>
          <p:cNvPr id="29" name="Text 26"/>
          <p:cNvSpPr/>
          <p:nvPr/>
        </p:nvSpPr>
        <p:spPr>
          <a:xfrm>
            <a:off x="6981662" y="2394011"/>
            <a:ext cx="1470134" cy="171450"/>
          </a:xfrm>
          <a:prstGeom prst="rect">
            <a:avLst/>
          </a:prstGeom>
          <a:noFill/>
          <a:ln/>
        </p:spPr>
        <p:txBody>
          <a:bodyPr wrap="none" lIns="0" tIns="0" rIns="0" bIns="0" rtlCol="0" anchor="ctr">
            <a:spAutoFit/>
          </a:bodyPr>
          <a:lstStyle/>
          <a:p>
            <a:pPr marL="0" indent="0" algn="ctr">
              <a:buNone/>
            </a:pPr>
            <a:r>
              <a:rPr lang="en-US" sz="837" dirty="0">
                <a:solidFill>
                  <a:srgbClr val="333333"/>
                </a:solidFill>
                <a:latin typeface="Noto Sans" pitchFamily="34" charset="0"/>
                <a:ea typeface="Noto Sans" pitchFamily="34" charset="-122"/>
                <a:cs typeface="Noto Sans" pitchFamily="34" charset="-120"/>
              </a:rPr>
              <a:t>Nurses Nearing Retirement</a:t>
            </a:r>
            <a:endParaRPr lang="en-US" sz="837" dirty="0"/>
          </a:p>
        </p:txBody>
      </p:sp>
      <p:sp>
        <p:nvSpPr>
          <p:cNvPr id="30" name="Shape 27"/>
          <p:cNvSpPr/>
          <p:nvPr/>
        </p:nvSpPr>
        <p:spPr>
          <a:xfrm>
            <a:off x="4705996" y="2690979"/>
            <a:ext cx="3971925" cy="2800350"/>
          </a:xfrm>
          <a:prstGeom prst="rect">
            <a:avLst/>
          </a:prstGeom>
          <a:solidFill>
            <a:srgbClr val="FFFFFF">
              <a:alpha val="95000"/>
            </a:srgbClr>
          </a:solidFill>
          <a:ln/>
        </p:spPr>
      </p:sp>
      <p:sp>
        <p:nvSpPr>
          <p:cNvPr id="31" name="Text 28"/>
          <p:cNvSpPr/>
          <p:nvPr/>
        </p:nvSpPr>
        <p:spPr>
          <a:xfrm>
            <a:off x="5265683" y="2884973"/>
            <a:ext cx="3213571" cy="160941"/>
          </a:xfrm>
          <a:prstGeom prst="rect">
            <a:avLst/>
          </a:prstGeom>
          <a:noFill/>
          <a:ln/>
        </p:spPr>
        <p:txBody>
          <a:bodyPr wrap="square" lIns="0" tIns="0" rIns="0" bIns="0" rtlCol="0" anchor="ctr">
            <a:spAutoFit/>
          </a:bodyPr>
          <a:lstStyle/>
          <a:p>
            <a:pPr marL="0" indent="0">
              <a:buNone/>
            </a:pPr>
            <a:r>
              <a:rPr lang="en-US" sz="1046" b="1" dirty="0">
                <a:solidFill>
                  <a:srgbClr val="1A93A7"/>
                </a:solidFill>
                <a:latin typeface="Montserrat" pitchFamily="34" charset="0"/>
                <a:ea typeface="Montserrat" pitchFamily="34" charset="-122"/>
                <a:cs typeface="Montserrat" pitchFamily="34" charset="-120"/>
              </a:rPr>
              <a:t>U.S. Nursing Shortage Projection (2025-2030)</a:t>
            </a:r>
            <a:endParaRPr lang="en-US" sz="1046" dirty="0"/>
          </a:p>
        </p:txBody>
      </p:sp>
      <p:pic>
        <p:nvPicPr>
          <p:cNvPr id="32" name="Image 1" descr="preencoded.png"/>
          <p:cNvPicPr>
            <a:picLocks noChangeAspect="1"/>
          </p:cNvPicPr>
          <p:nvPr/>
        </p:nvPicPr>
        <p:blipFill>
          <a:blip r:embed="rId4"/>
          <a:stretch>
            <a:fillRect/>
          </a:stretch>
        </p:blipFill>
        <p:spPr>
          <a:xfrm>
            <a:off x="4885269" y="3121773"/>
            <a:ext cx="3629025" cy="2143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017EA-5939-BBE4-FA43-516205828A83}"/>
              </a:ext>
            </a:extLst>
          </p:cNvPr>
          <p:cNvSpPr>
            <a:spLocks noGrp="1"/>
          </p:cNvSpPr>
          <p:nvPr>
            <p:ph type="title"/>
          </p:nvPr>
        </p:nvSpPr>
        <p:spPr/>
        <p:txBody>
          <a:bodyPr>
            <a:normAutofit/>
          </a:bodyPr>
          <a:lstStyle/>
          <a:p>
            <a:pPr algn="ctr"/>
            <a:r>
              <a:rPr lang="en-US" sz="2000" b="1" cap="none" dirty="0">
                <a:solidFill>
                  <a:srgbClr val="0A7C8E"/>
                </a:solidFill>
                <a:latin typeface="Times New Roman" panose="02020603050405020304" pitchFamily="18" charset="0"/>
                <a:ea typeface="Montserrat" pitchFamily="34" charset="-122"/>
                <a:cs typeface="Times New Roman" panose="02020603050405020304" pitchFamily="18" charset="0"/>
              </a:rPr>
              <a:t>Our Solution</a:t>
            </a:r>
            <a:endParaRPr lang="en-US" sz="2000" b="1"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DC96AB-D2FB-B67B-E552-72F809096669}"/>
              </a:ext>
            </a:extLst>
          </p:cNvPr>
          <p:cNvSpPr>
            <a:spLocks noGrp="1"/>
          </p:cNvSpPr>
          <p:nvPr>
            <p:ph idx="1"/>
          </p:nvPr>
        </p:nvSpPr>
        <p:spPr>
          <a:xfrm>
            <a:off x="514351" y="1378324"/>
            <a:ext cx="7797662" cy="2817539"/>
          </a:xfrm>
        </p:spPr>
        <p:txBody>
          <a:bodyPr>
            <a:normAutofit/>
          </a:bodyPr>
          <a:lstStyle/>
          <a:p>
            <a:pPr marL="0" indent="0">
              <a:lnSpc>
                <a:spcPct val="200000"/>
              </a:lnSpc>
              <a:buNone/>
            </a:pPr>
            <a:r>
              <a:rPr lang="en-US" sz="1300" cap="none" dirty="0">
                <a:latin typeface="Times New Roman" panose="02020603050405020304" pitchFamily="18" charset="0"/>
                <a:cs typeface="Times New Roman" panose="02020603050405020304" pitchFamily="18" charset="0"/>
                <a:sym typeface="Canva Sans"/>
              </a:rPr>
              <a:t>     We propose the establishment of ( Global Gate Health Care  ) </a:t>
            </a:r>
          </a:p>
          <a:p>
            <a:pPr marL="0" indent="0">
              <a:lnSpc>
                <a:spcPct val="200000"/>
              </a:lnSpc>
              <a:buNone/>
            </a:pPr>
            <a:r>
              <a:rPr lang="en-US" sz="1300" cap="none" dirty="0">
                <a:latin typeface="Times New Roman" panose="02020603050405020304" pitchFamily="18" charset="0"/>
                <a:ea typeface="Canva Sans"/>
                <a:cs typeface="Times New Roman" panose="02020603050405020304" pitchFamily="18" charset="0"/>
                <a:sym typeface="Canva Sans"/>
              </a:rPr>
              <a:t>    This venture aims: </a:t>
            </a:r>
            <a:r>
              <a:rPr lang="en-US" sz="2000" cap="none" dirty="0">
                <a:latin typeface="Times New Roman" panose="02020603050405020304" pitchFamily="18" charset="0"/>
                <a:ea typeface="Canva Sans"/>
                <a:cs typeface="Times New Roman" panose="02020603050405020304" pitchFamily="18" charset="0"/>
                <a:sym typeface="Canva Sans"/>
              </a:rPr>
              <a:t>🎯</a:t>
            </a:r>
          </a:p>
          <a:p>
            <a:pPr>
              <a:lnSpc>
                <a:spcPct val="200000"/>
              </a:lnSpc>
            </a:pPr>
            <a:r>
              <a:rPr lang="en-US" sz="1300" cap="none" dirty="0">
                <a:latin typeface="Times New Roman" panose="02020603050405020304" pitchFamily="18" charset="0"/>
                <a:ea typeface="Canva Sans"/>
                <a:cs typeface="Times New Roman" panose="02020603050405020304" pitchFamily="18" charset="0"/>
                <a:sym typeface="Canva Sans"/>
              </a:rPr>
              <a:t>To bridge the critical healthcare staffing gap in the U.S. by providing highly trained nurses. </a:t>
            </a:r>
            <a:r>
              <a:rPr lang="en-US" sz="2000" cap="none" dirty="0">
                <a:latin typeface="Times New Roman" panose="02020603050405020304" pitchFamily="18" charset="0"/>
                <a:ea typeface="Canva Sans"/>
                <a:cs typeface="Times New Roman" panose="02020603050405020304" pitchFamily="18" charset="0"/>
                <a:sym typeface="Canva Sans"/>
              </a:rPr>
              <a:t>⁠🔗</a:t>
            </a:r>
          </a:p>
          <a:p>
            <a:pPr>
              <a:lnSpc>
                <a:spcPct val="200000"/>
              </a:lnSpc>
            </a:pPr>
            <a:r>
              <a:rPr lang="en-US" sz="1200" cap="none" dirty="0">
                <a:latin typeface="Times New Roman" panose="02020603050405020304" pitchFamily="18" charset="0"/>
                <a:ea typeface="Canva Sans"/>
                <a:cs typeface="Times New Roman" panose="02020603050405020304" pitchFamily="18" charset="0"/>
                <a:sym typeface="Canva Sans"/>
              </a:rPr>
              <a:t>To </a:t>
            </a:r>
            <a:r>
              <a:rPr lang="en-US" sz="1200" cap="none" dirty="0">
                <a:latin typeface="Times New Roman" panose="02020603050405020304" pitchFamily="18" charset="0"/>
                <a:cs typeface="Times New Roman" panose="02020603050405020304" pitchFamily="18" charset="0"/>
              </a:rPr>
              <a:t>empower overseas Palestinian nurses (OPN) to enhance economic development for Palestinian communities</a:t>
            </a:r>
            <a:r>
              <a:rPr lang="en-US" sz="1350" cap="none" dirty="0">
                <a:latin typeface="Times New Roman" panose="02020603050405020304" pitchFamily="18" charset="0"/>
                <a:cs typeface="Times New Roman" panose="02020603050405020304" pitchFamily="18" charset="0"/>
              </a:rPr>
              <a:t>.  </a:t>
            </a:r>
            <a:r>
              <a:rPr lang="en-US" sz="2000" cap="none"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pic>
        <p:nvPicPr>
          <p:cNvPr id="6" name="Picture 2" descr="Dr. Fidaa  S.  Abu Ali">
            <a:extLst>
              <a:ext uri="{FF2B5EF4-FFF2-40B4-BE49-F238E27FC236}">
                <a16:creationId xmlns:a16="http://schemas.microsoft.com/office/drawing/2014/main" id="{2C0DFF2C-A72D-808F-8D28-BE79226F51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7060" y="1432226"/>
            <a:ext cx="1933128" cy="718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9772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F845C-14E5-F46D-C759-1293D29AB39B}"/>
              </a:ext>
            </a:extLst>
          </p:cNvPr>
          <p:cNvSpPr>
            <a:spLocks noGrp="1"/>
          </p:cNvSpPr>
          <p:nvPr>
            <p:ph type="title"/>
          </p:nvPr>
        </p:nvSpPr>
        <p:spPr>
          <a:xfrm>
            <a:off x="514351" y="70213"/>
            <a:ext cx="7797662" cy="1314450"/>
          </a:xfrm>
        </p:spPr>
        <p:txBody>
          <a:bodyPr>
            <a:normAutofit/>
          </a:bodyPr>
          <a:lstStyle/>
          <a:p>
            <a:pPr algn="ctr"/>
            <a:r>
              <a:rPr lang="en-US" sz="2000" b="1" dirty="0">
                <a:solidFill>
                  <a:srgbClr val="0A7C8E"/>
                </a:solidFill>
                <a:latin typeface="Times New Roman" panose="02020603050405020304" pitchFamily="18" charset="0"/>
                <a:ea typeface="Montserrat" pitchFamily="34" charset="-122"/>
                <a:cs typeface="Times New Roman" panose="02020603050405020304" pitchFamily="18" charset="0"/>
              </a:rPr>
              <a:t>Strategic Collaborations</a:t>
            </a:r>
            <a:br>
              <a:rPr lang="en-US" sz="2000" b="1" dirty="0">
                <a:solidFill>
                  <a:srgbClr val="0A7C8E"/>
                </a:solidFill>
                <a:latin typeface="Montserrat" pitchFamily="34" charset="0"/>
                <a:ea typeface="Montserrat" pitchFamily="34" charset="-122"/>
                <a:cs typeface="Montserrat" pitchFamily="34" charset="-120"/>
              </a:rPr>
            </a:br>
            <a:endParaRPr lang="en-US"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5ADFF84-D5F1-57B7-FD2E-82B26766F50B}"/>
              </a:ext>
            </a:extLst>
          </p:cNvPr>
          <p:cNvSpPr>
            <a:spLocks noGrp="1"/>
          </p:cNvSpPr>
          <p:nvPr>
            <p:ph idx="1"/>
          </p:nvPr>
        </p:nvSpPr>
        <p:spPr>
          <a:xfrm>
            <a:off x="0" y="1436914"/>
            <a:ext cx="9017002" cy="3758837"/>
          </a:xfrm>
        </p:spPr>
        <p:txBody>
          <a:bodyPr>
            <a:normAutofit lnSpcReduction="10000"/>
          </a:bodyPr>
          <a:lstStyle/>
          <a:p>
            <a:r>
              <a:rPr lang="en-US" sz="1400" b="1" cap="none" dirty="0">
                <a:solidFill>
                  <a:srgbClr val="0A7C8E"/>
                </a:solidFill>
                <a:latin typeface="Times New Roman" panose="02020603050405020304" pitchFamily="18" charset="0"/>
                <a:ea typeface="Montserrat" pitchFamily="34" charset="-122"/>
                <a:cs typeface="Times New Roman" panose="02020603050405020304" pitchFamily="18" charset="0"/>
              </a:rPr>
              <a:t>Academic Partnership:</a:t>
            </a:r>
            <a:endParaRPr lang="en-US" sz="1400" b="1" dirty="0">
              <a:solidFill>
                <a:srgbClr val="0A7C8E"/>
              </a:solidFill>
              <a:latin typeface="Times New Roman" panose="02020603050405020304" pitchFamily="18" charset="0"/>
              <a:ea typeface="Montserrat" pitchFamily="34" charset="-122"/>
              <a:cs typeface="Times New Roman" panose="02020603050405020304" pitchFamily="18" charset="0"/>
            </a:endParaRPr>
          </a:p>
          <a:p>
            <a:pPr marL="0" indent="0">
              <a:buNone/>
            </a:pPr>
            <a:r>
              <a:rPr lang="en-US" sz="1200" b="1" dirty="0">
                <a:solidFill>
                  <a:srgbClr val="0A7C8E"/>
                </a:solidFill>
                <a:latin typeface="Times New Roman" panose="02020603050405020304" pitchFamily="18" charset="0"/>
                <a:ea typeface="Montserrat" pitchFamily="34" charset="-122"/>
                <a:cs typeface="Times New Roman" panose="02020603050405020304" pitchFamily="18" charset="0"/>
              </a:rPr>
              <a:t>                                                                    1- </a:t>
            </a:r>
            <a:r>
              <a:rPr lang="en-US" sz="1200" b="1" cap="none" dirty="0">
                <a:solidFill>
                  <a:srgbClr val="0A7C8E"/>
                </a:solidFill>
                <a:latin typeface="Times New Roman" panose="02020603050405020304" pitchFamily="18" charset="0"/>
                <a:ea typeface="Montserrat" pitchFamily="34" charset="-122"/>
                <a:cs typeface="Times New Roman" panose="02020603050405020304" pitchFamily="18" charset="0"/>
              </a:rPr>
              <a:t>Palestinian nursing council - Palestine </a:t>
            </a:r>
            <a:endParaRPr lang="en-US" sz="1200" b="1" dirty="0">
              <a:solidFill>
                <a:srgbClr val="0A7C8E"/>
              </a:solidFill>
              <a:latin typeface="Times New Roman" panose="02020603050405020304" pitchFamily="18" charset="0"/>
              <a:ea typeface="Montserrat" pitchFamily="34" charset="-122"/>
              <a:cs typeface="Times New Roman" panose="02020603050405020304" pitchFamily="18" charset="0"/>
            </a:endParaRPr>
          </a:p>
          <a:p>
            <a:pPr marL="0" indent="0">
              <a:buNone/>
            </a:pPr>
            <a:r>
              <a:rPr lang="en-US" sz="1200" b="1" dirty="0">
                <a:solidFill>
                  <a:srgbClr val="0A7C8E"/>
                </a:solidFill>
                <a:latin typeface="Times New Roman" panose="02020603050405020304" pitchFamily="18" charset="0"/>
                <a:ea typeface="Montserrat" pitchFamily="34" charset="-122"/>
                <a:cs typeface="Times New Roman" panose="02020603050405020304" pitchFamily="18" charset="0"/>
              </a:rPr>
              <a:t>                                                                    2- </a:t>
            </a:r>
            <a:r>
              <a:rPr lang="en-US" sz="1200" b="1" cap="none" dirty="0">
                <a:solidFill>
                  <a:srgbClr val="0A7C8E"/>
                </a:solidFill>
                <a:latin typeface="Times New Roman" panose="02020603050405020304" pitchFamily="18" charset="0"/>
                <a:ea typeface="Montserrat" pitchFamily="34" charset="-122"/>
                <a:cs typeface="Times New Roman" panose="02020603050405020304" pitchFamily="18" charset="0"/>
              </a:rPr>
              <a:t>Bier </a:t>
            </a:r>
            <a:r>
              <a:rPr lang="en-US" sz="1200" b="1" cap="none" dirty="0" err="1">
                <a:solidFill>
                  <a:srgbClr val="0A7C8E"/>
                </a:solidFill>
                <a:latin typeface="Times New Roman" panose="02020603050405020304" pitchFamily="18" charset="0"/>
                <a:ea typeface="Montserrat" pitchFamily="34" charset="-122"/>
                <a:cs typeface="Times New Roman" panose="02020603050405020304" pitchFamily="18" charset="0"/>
              </a:rPr>
              <a:t>Ziet</a:t>
            </a:r>
            <a:r>
              <a:rPr lang="en-US" sz="1200" b="1" cap="none" dirty="0">
                <a:solidFill>
                  <a:srgbClr val="0A7C8E"/>
                </a:solidFill>
                <a:latin typeface="Times New Roman" panose="02020603050405020304" pitchFamily="18" charset="0"/>
                <a:ea typeface="Montserrat" pitchFamily="34" charset="-122"/>
                <a:cs typeface="Times New Roman" panose="02020603050405020304" pitchFamily="18" charset="0"/>
              </a:rPr>
              <a:t> University – Palestine  </a:t>
            </a:r>
          </a:p>
          <a:p>
            <a:pPr marL="0" indent="0">
              <a:buNone/>
            </a:pPr>
            <a:r>
              <a:rPr lang="en-US" sz="1200" b="1" cap="none" dirty="0">
                <a:solidFill>
                  <a:srgbClr val="0A7C8E"/>
                </a:solidFill>
                <a:latin typeface="Times New Roman" panose="02020603050405020304" pitchFamily="18" charset="0"/>
                <a:ea typeface="Montserrat" pitchFamily="34" charset="-122"/>
                <a:cs typeface="Times New Roman" panose="02020603050405020304" pitchFamily="18" charset="0"/>
              </a:rPr>
              <a:t>                                                                    3- </a:t>
            </a:r>
            <a:r>
              <a:rPr lang="en-US" sz="1200" b="1" cap="none" dirty="0" err="1">
                <a:solidFill>
                  <a:srgbClr val="0A7C8E"/>
                </a:solidFill>
                <a:latin typeface="Times New Roman" panose="02020603050405020304" pitchFamily="18" charset="0"/>
                <a:ea typeface="Montserrat" pitchFamily="34" charset="-122"/>
                <a:cs typeface="Times New Roman" panose="02020603050405020304" pitchFamily="18" charset="0"/>
              </a:rPr>
              <a:t>UWarld</a:t>
            </a:r>
            <a:r>
              <a:rPr lang="en-US" sz="1200" b="1" cap="none" dirty="0">
                <a:solidFill>
                  <a:srgbClr val="0A7C8E"/>
                </a:solidFill>
                <a:latin typeface="Times New Roman" panose="02020603050405020304" pitchFamily="18" charset="0"/>
                <a:ea typeface="Montserrat" pitchFamily="34" charset="-122"/>
                <a:cs typeface="Times New Roman" panose="02020603050405020304" pitchFamily="18" charset="0"/>
              </a:rPr>
              <a:t> (Technology partner) – USA </a:t>
            </a:r>
          </a:p>
          <a:p>
            <a:r>
              <a:rPr lang="en-US" sz="1400" b="1" cap="none" dirty="0">
                <a:solidFill>
                  <a:srgbClr val="0A7C8E"/>
                </a:solidFill>
                <a:latin typeface="Times New Roman" panose="02020603050405020304" pitchFamily="18" charset="0"/>
                <a:ea typeface="Montserrat" pitchFamily="34" charset="-122"/>
                <a:cs typeface="Times New Roman" panose="02020603050405020304" pitchFamily="18" charset="0"/>
              </a:rPr>
              <a:t>Healthcare Partner :                   </a:t>
            </a:r>
            <a:r>
              <a:rPr lang="en-US" sz="1200" b="1" cap="none" dirty="0">
                <a:solidFill>
                  <a:srgbClr val="0A7C8E"/>
                </a:solidFill>
                <a:latin typeface="Times New Roman" panose="02020603050405020304" pitchFamily="18" charset="0"/>
                <a:ea typeface="Montserrat" pitchFamily="34" charset="-122"/>
                <a:cs typeface="Times New Roman" panose="02020603050405020304" pitchFamily="18" charset="0"/>
              </a:rPr>
              <a:t>1- WWSS (</a:t>
            </a:r>
            <a:r>
              <a:rPr lang="en-US" sz="1200" b="1" cap="none" dirty="0" err="1">
                <a:solidFill>
                  <a:srgbClr val="0A7C8E"/>
                </a:solidFill>
                <a:latin typeface="Times New Roman" panose="02020603050405020304" pitchFamily="18" charset="0"/>
                <a:ea typeface="Montserrat" pitchFamily="34" charset="-122"/>
                <a:cs typeface="Times New Roman" panose="02020603050405020304" pitchFamily="18" charset="0"/>
              </a:rPr>
              <a:t>Westways</a:t>
            </a:r>
            <a:r>
              <a:rPr lang="en-US" sz="1200" b="1" cap="none" dirty="0">
                <a:solidFill>
                  <a:srgbClr val="0A7C8E"/>
                </a:solidFill>
                <a:latin typeface="Times New Roman" panose="02020603050405020304" pitchFamily="18" charset="0"/>
                <a:ea typeface="Montserrat" pitchFamily="34" charset="-122"/>
                <a:cs typeface="Times New Roman" panose="02020603050405020304" pitchFamily="18" charset="0"/>
              </a:rPr>
              <a:t> Staffing Services) – USA:                     </a:t>
            </a:r>
          </a:p>
          <a:p>
            <a:pPr marL="0" indent="0">
              <a:buNone/>
            </a:pPr>
            <a:r>
              <a:rPr lang="en-US" sz="1400" b="1" cap="none" dirty="0">
                <a:solidFill>
                  <a:srgbClr val="0070C0"/>
                </a:solidFill>
                <a:latin typeface="Times New Roman" panose="02020603050405020304" pitchFamily="18" charset="0"/>
                <a:ea typeface="Montserrat" pitchFamily="34" charset="-122"/>
                <a:cs typeface="Times New Roman" panose="02020603050405020304" pitchFamily="18" charset="0"/>
              </a:rPr>
              <a:t>                                                                          . </a:t>
            </a:r>
            <a:r>
              <a:rPr lang="en-US" sz="1200" b="1" cap="none" dirty="0">
                <a:solidFill>
                  <a:srgbClr val="0070C0"/>
                </a:solidFill>
                <a:latin typeface="Times New Roman" panose="02020603050405020304" pitchFamily="18" charset="0"/>
                <a:ea typeface="Noto Sans" pitchFamily="34" charset="-122"/>
                <a:cs typeface="Times New Roman" panose="02020603050405020304" pitchFamily="18" charset="0"/>
              </a:rPr>
              <a:t>Healthcare Employment Network</a:t>
            </a:r>
          </a:p>
          <a:p>
            <a:pPr marL="0" indent="0">
              <a:buNone/>
            </a:pPr>
            <a:r>
              <a:rPr lang="en-US" sz="1200" b="1" cap="none" dirty="0">
                <a:solidFill>
                  <a:srgbClr val="0070C0"/>
                </a:solidFill>
                <a:latin typeface="Times New Roman" panose="02020603050405020304" pitchFamily="18" charset="0"/>
                <a:ea typeface="Noto Sans" pitchFamily="34" charset="-122"/>
                <a:cs typeface="Times New Roman" panose="02020603050405020304" pitchFamily="18" charset="0"/>
              </a:rPr>
              <a:t>                                                                                      . U.S. State Department (Government relation) </a:t>
            </a:r>
          </a:p>
          <a:p>
            <a:pPr marL="0" indent="0">
              <a:buNone/>
            </a:pPr>
            <a:r>
              <a:rPr lang="en-US" sz="1200" b="1" cap="none" dirty="0">
                <a:solidFill>
                  <a:srgbClr val="0070C0"/>
                </a:solidFill>
                <a:latin typeface="Times New Roman" panose="02020603050405020304" pitchFamily="18" charset="0"/>
                <a:ea typeface="Noto Sans" pitchFamily="34" charset="-122"/>
                <a:cs typeface="Times New Roman" panose="02020603050405020304" pitchFamily="18" charset="0"/>
              </a:rPr>
              <a:t>                                                                                 </a:t>
            </a:r>
            <a:endParaRPr lang="en-US" sz="1100" dirty="0">
              <a:solidFill>
                <a:srgbClr val="0070C0"/>
              </a:solidFill>
            </a:endParaRPr>
          </a:p>
          <a:p>
            <a:pPr marL="0" indent="0">
              <a:buNone/>
            </a:pPr>
            <a:endParaRPr lang="en-US" sz="1200" cap="none" dirty="0">
              <a:latin typeface="Times New Roman" panose="02020603050405020304" pitchFamily="18" charset="0"/>
              <a:cs typeface="Times New Roman" panose="02020603050405020304" pitchFamily="18" charset="0"/>
            </a:endParaRPr>
          </a:p>
          <a:p>
            <a:pPr marL="0" indent="0">
              <a:buNone/>
            </a:pPr>
            <a:r>
              <a:rPr lang="en-US" sz="1300" b="1" cap="none" dirty="0">
                <a:solidFill>
                  <a:srgbClr val="00B0F0"/>
                </a:solidFill>
                <a:latin typeface="Times New Roman" panose="02020603050405020304" pitchFamily="18" charset="0"/>
                <a:ea typeface="Montserrat" pitchFamily="34" charset="-122"/>
                <a:cs typeface="Times New Roman" panose="02020603050405020304" pitchFamily="18" charset="0"/>
              </a:rPr>
              <a:t>G</a:t>
            </a:r>
            <a:r>
              <a:rPr lang="en-US" sz="1300" cap="none" dirty="0">
                <a:solidFill>
                  <a:srgbClr val="00B0F0"/>
                </a:solidFill>
                <a:latin typeface="Times New Roman" panose="02020603050405020304" pitchFamily="18" charset="0"/>
                <a:cs typeface="Times New Roman" panose="02020603050405020304" pitchFamily="18" charset="0"/>
              </a:rPr>
              <a:t>lobal gate in collaboration with Bier </a:t>
            </a:r>
            <a:r>
              <a:rPr lang="en-US" sz="1300" cap="none" dirty="0" err="1">
                <a:solidFill>
                  <a:srgbClr val="00B0F0"/>
                </a:solidFill>
                <a:latin typeface="Times New Roman" panose="02020603050405020304" pitchFamily="18" charset="0"/>
                <a:cs typeface="Times New Roman" panose="02020603050405020304" pitchFamily="18" charset="0"/>
              </a:rPr>
              <a:t>Ziet</a:t>
            </a:r>
            <a:r>
              <a:rPr lang="en-US" sz="1300" cap="none" dirty="0">
                <a:solidFill>
                  <a:srgbClr val="00B0F0"/>
                </a:solidFill>
                <a:latin typeface="Times New Roman" panose="02020603050405020304" pitchFamily="18" charset="0"/>
                <a:cs typeface="Times New Roman" panose="02020603050405020304" pitchFamily="18" charset="0"/>
              </a:rPr>
              <a:t> university proposes the development and delivery of missing or insufficient coursework to address curriculum gaps identified by the U.S. state boards of nursing</a:t>
            </a:r>
            <a:r>
              <a:rPr lang="en-US" sz="1300" b="1" cap="none" dirty="0">
                <a:solidFill>
                  <a:srgbClr val="00B0F0"/>
                </a:solidFill>
                <a:latin typeface="Times New Roman" panose="02020603050405020304" pitchFamily="18" charset="0"/>
                <a:ea typeface="Montserrat" pitchFamily="34" charset="-122"/>
                <a:cs typeface="Times New Roman" panose="02020603050405020304" pitchFamily="18" charset="0"/>
              </a:rPr>
              <a:t>                                             </a:t>
            </a:r>
          </a:p>
          <a:p>
            <a:pPr marL="0" indent="0">
              <a:buNone/>
            </a:pPr>
            <a:r>
              <a:rPr lang="en-US" sz="1300" b="1" cap="none" dirty="0">
                <a:solidFill>
                  <a:srgbClr val="0A7C8E"/>
                </a:solidFill>
                <a:latin typeface="Times New Roman" panose="02020603050405020304" pitchFamily="18" charset="0"/>
                <a:ea typeface="Montserrat" pitchFamily="34" charset="-122"/>
                <a:cs typeface="Times New Roman" panose="02020603050405020304" pitchFamily="18" charset="0"/>
              </a:rPr>
              <a:t>                           </a:t>
            </a:r>
          </a:p>
          <a:p>
            <a:pPr marL="0" indent="0">
              <a:buNone/>
            </a:pPr>
            <a:endParaRPr lang="en-US" sz="1400" b="1" cap="none" dirty="0">
              <a:solidFill>
                <a:srgbClr val="0A7C8E"/>
              </a:solidFill>
              <a:latin typeface="Times New Roman" panose="02020603050405020304" pitchFamily="18" charset="0"/>
              <a:ea typeface="Montserrat" pitchFamily="34" charset="-122"/>
              <a:cs typeface="Times New Roman" panose="02020603050405020304" pitchFamily="18" charset="0"/>
            </a:endParaRPr>
          </a:p>
          <a:p>
            <a:pPr marL="0" indent="0">
              <a:buNone/>
            </a:pPr>
            <a:endParaRPr lang="en-US" sz="1400" b="1" cap="none" dirty="0">
              <a:solidFill>
                <a:srgbClr val="0A7C8E"/>
              </a:solidFill>
              <a:latin typeface="Times New Roman" panose="02020603050405020304" pitchFamily="18" charset="0"/>
              <a:ea typeface="Montserrat" pitchFamily="34" charset="-122"/>
              <a:cs typeface="Times New Roman" panose="02020603050405020304" pitchFamily="18" charset="0"/>
            </a:endParaRPr>
          </a:p>
          <a:p>
            <a:pPr marL="0" indent="0">
              <a:buNone/>
            </a:pPr>
            <a:endParaRPr lang="en-US" sz="1400" b="1" cap="none" dirty="0">
              <a:solidFill>
                <a:srgbClr val="0A7C8E"/>
              </a:solidFill>
              <a:latin typeface="Times New Roman" panose="02020603050405020304" pitchFamily="18" charset="0"/>
              <a:ea typeface="Montserrat" pitchFamily="34" charset="-122"/>
              <a:cs typeface="Times New Roman" panose="02020603050405020304" pitchFamily="18" charset="0"/>
            </a:endParaRPr>
          </a:p>
          <a:p>
            <a:pPr marL="0" indent="0">
              <a:buNone/>
            </a:pPr>
            <a:endParaRPr lang="en-US" sz="1400" b="1" cap="none" dirty="0">
              <a:solidFill>
                <a:srgbClr val="0A7C8E"/>
              </a:solidFill>
              <a:latin typeface="Times New Roman" panose="02020603050405020304" pitchFamily="18" charset="0"/>
              <a:ea typeface="Montserrat" pitchFamily="34" charset="-122"/>
              <a:cs typeface="Times New Roman" panose="02020603050405020304" pitchFamily="18" charset="0"/>
            </a:endParaRPr>
          </a:p>
          <a:p>
            <a:pPr marL="0" indent="0">
              <a:buNone/>
            </a:pPr>
            <a:endParaRPr lang="en-US" sz="1400" b="1" cap="none" dirty="0">
              <a:solidFill>
                <a:srgbClr val="0A7C8E"/>
              </a:solidFill>
              <a:latin typeface="Times New Roman" panose="02020603050405020304" pitchFamily="18" charset="0"/>
              <a:ea typeface="Montserrat" pitchFamily="34" charset="-122"/>
              <a:cs typeface="Times New Roman" panose="02020603050405020304" pitchFamily="18" charset="0"/>
            </a:endParaRPr>
          </a:p>
          <a:p>
            <a:pPr marL="0" indent="0">
              <a:buNone/>
            </a:pPr>
            <a:endParaRPr lang="en-US" sz="1400" b="1" cap="none" dirty="0">
              <a:solidFill>
                <a:srgbClr val="0A7C8E"/>
              </a:solidFill>
              <a:latin typeface="Times New Roman" panose="02020603050405020304" pitchFamily="18" charset="0"/>
              <a:ea typeface="Montserrat" pitchFamily="34" charset="-122"/>
              <a:cs typeface="Times New Roman" panose="02020603050405020304" pitchFamily="18" charset="0"/>
            </a:endParaRPr>
          </a:p>
          <a:p>
            <a:pPr marL="0" indent="0">
              <a:buNone/>
            </a:pPr>
            <a:endParaRPr lang="en-US" sz="1400" b="1" cap="none" dirty="0">
              <a:solidFill>
                <a:srgbClr val="0A7C8E"/>
              </a:solidFill>
              <a:latin typeface="Times New Roman" panose="02020603050405020304" pitchFamily="18" charset="0"/>
              <a:ea typeface="Montserrat" pitchFamily="34" charset="-122"/>
              <a:cs typeface="Times New Roman" panose="02020603050405020304" pitchFamily="18" charset="0"/>
            </a:endParaRPr>
          </a:p>
          <a:p>
            <a:pPr marL="0" indent="0">
              <a:buNone/>
            </a:pPr>
            <a:endParaRPr lang="en-US" sz="1400" b="1" cap="none" dirty="0">
              <a:solidFill>
                <a:srgbClr val="0A7C8E"/>
              </a:solidFill>
              <a:latin typeface="Times New Roman" panose="02020603050405020304" pitchFamily="18" charset="0"/>
              <a:ea typeface="Montserrat" pitchFamily="34" charset="-122"/>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5" name="Image 2" descr="preencoded.png">
            <a:extLst>
              <a:ext uri="{FF2B5EF4-FFF2-40B4-BE49-F238E27FC236}">
                <a16:creationId xmlns:a16="http://schemas.microsoft.com/office/drawing/2014/main" id="{35284705-1368-C04C-A19E-BEEA1AD13A1C}"/>
              </a:ext>
            </a:extLst>
          </p:cNvPr>
          <p:cNvPicPr>
            <a:picLocks noChangeAspect="1"/>
          </p:cNvPicPr>
          <p:nvPr/>
        </p:nvPicPr>
        <p:blipFill>
          <a:blip r:embed="rId3"/>
          <a:stretch>
            <a:fillRect/>
          </a:stretch>
        </p:blipFill>
        <p:spPr>
          <a:xfrm>
            <a:off x="2213206" y="1436914"/>
            <a:ext cx="350615" cy="254725"/>
          </a:xfrm>
          <a:prstGeom prst="rect">
            <a:avLst/>
          </a:prstGeom>
        </p:spPr>
      </p:pic>
      <p:pic>
        <p:nvPicPr>
          <p:cNvPr id="7" name="Picture 2">
            <a:extLst>
              <a:ext uri="{FF2B5EF4-FFF2-40B4-BE49-F238E27FC236}">
                <a16:creationId xmlns:a16="http://schemas.microsoft.com/office/drawing/2014/main" id="{69DC879A-D3B3-4F19-D4EF-612D45C6D2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5601" y="1678899"/>
            <a:ext cx="520619" cy="35413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Westways Staffing Services Reviews: Pros And Cons of Working ...">
            <a:extLst>
              <a:ext uri="{FF2B5EF4-FFF2-40B4-BE49-F238E27FC236}">
                <a16:creationId xmlns:a16="http://schemas.microsoft.com/office/drawing/2014/main" id="{0A4D0961-6A1D-9029-3E93-69B0005FCB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9011" y="2617534"/>
            <a:ext cx="520619" cy="418012"/>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 1" descr="preencoded.png">
            <a:extLst>
              <a:ext uri="{FF2B5EF4-FFF2-40B4-BE49-F238E27FC236}">
                <a16:creationId xmlns:a16="http://schemas.microsoft.com/office/drawing/2014/main" id="{FBF28EDE-6E4B-5C70-429F-B8FF0B139835}"/>
              </a:ext>
            </a:extLst>
          </p:cNvPr>
          <p:cNvPicPr>
            <a:picLocks noChangeAspect="1"/>
          </p:cNvPicPr>
          <p:nvPr/>
        </p:nvPicPr>
        <p:blipFill>
          <a:blip r:embed="rId6"/>
          <a:stretch>
            <a:fillRect/>
          </a:stretch>
        </p:blipFill>
        <p:spPr>
          <a:xfrm>
            <a:off x="1909071" y="2681410"/>
            <a:ext cx="520619" cy="286122"/>
          </a:xfrm>
          <a:prstGeom prst="rect">
            <a:avLst/>
          </a:prstGeom>
        </p:spPr>
      </p:pic>
      <p:pic>
        <p:nvPicPr>
          <p:cNvPr id="6" name="Picture 5">
            <a:extLst>
              <a:ext uri="{FF2B5EF4-FFF2-40B4-BE49-F238E27FC236}">
                <a16:creationId xmlns:a16="http://schemas.microsoft.com/office/drawing/2014/main" id="{D3903A96-7EF1-8E63-FEC1-2ACF0BE4348E}"/>
              </a:ext>
            </a:extLst>
          </p:cNvPr>
          <p:cNvPicPr>
            <a:picLocks noChangeAspect="1"/>
          </p:cNvPicPr>
          <p:nvPr/>
        </p:nvPicPr>
        <p:blipFill>
          <a:blip r:embed="rId7"/>
          <a:stretch>
            <a:fillRect/>
          </a:stretch>
        </p:blipFill>
        <p:spPr>
          <a:xfrm>
            <a:off x="5337758" y="2117538"/>
            <a:ext cx="588462" cy="231485"/>
          </a:xfrm>
          <a:prstGeom prst="rect">
            <a:avLst/>
          </a:prstGeom>
        </p:spPr>
      </p:pic>
    </p:spTree>
    <p:extLst>
      <p:ext uri="{BB962C8B-B14F-4D97-AF65-F5344CB8AC3E}">
        <p14:creationId xmlns:p14="http://schemas.microsoft.com/office/powerpoint/2010/main" val="94338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93723"/>
          </a:xfrm>
          <a:prstGeom prst="rect">
            <a:avLst/>
          </a:prstGeom>
        </p:spPr>
      </p:pic>
      <p:sp>
        <p:nvSpPr>
          <p:cNvPr id="4" name="Text 1"/>
          <p:cNvSpPr/>
          <p:nvPr/>
        </p:nvSpPr>
        <p:spPr>
          <a:xfrm>
            <a:off x="2926517" y="18340"/>
            <a:ext cx="3290966" cy="934871"/>
          </a:xfrm>
          <a:prstGeom prst="rect">
            <a:avLst/>
          </a:prstGeom>
          <a:noFill/>
          <a:ln/>
        </p:spPr>
        <p:txBody>
          <a:bodyPr wrap="none" lIns="0" tIns="0" rIns="0" bIns="0" rtlCol="0" anchor="ctr">
            <a:spAutoFit/>
          </a:bodyPr>
          <a:lstStyle/>
          <a:p>
            <a:pPr marL="0" indent="0" algn="ctr">
              <a:buNone/>
            </a:pPr>
            <a:r>
              <a:rPr lang="en-US" sz="2025" b="1" dirty="0">
                <a:solidFill>
                  <a:srgbClr val="0A7C8E"/>
                </a:solidFill>
                <a:latin typeface="Montserrat" pitchFamily="34" charset="0"/>
                <a:ea typeface="Montserrat" pitchFamily="34" charset="-122"/>
                <a:cs typeface="Montserrat" pitchFamily="34" charset="-120"/>
              </a:rPr>
              <a:t>Strategic Collaborations</a:t>
            </a:r>
          </a:p>
          <a:p>
            <a:pPr marL="0" indent="0">
              <a:buNone/>
            </a:pPr>
            <a:r>
              <a:rPr lang="en-US" sz="2025" b="1" dirty="0">
                <a:solidFill>
                  <a:srgbClr val="0A7C8E"/>
                </a:solidFill>
                <a:latin typeface="Montserrat" pitchFamily="34" charset="0"/>
                <a:ea typeface="Montserrat" pitchFamily="34" charset="-122"/>
                <a:cs typeface="Montserrat" pitchFamily="34" charset="-120"/>
              </a:rPr>
              <a:t>             Continue …</a:t>
            </a:r>
          </a:p>
          <a:p>
            <a:pPr marL="0" indent="0" algn="ctr">
              <a:buNone/>
            </a:pPr>
            <a:endParaRPr lang="en-US" sz="2025" dirty="0"/>
          </a:p>
        </p:txBody>
      </p:sp>
      <p:sp>
        <p:nvSpPr>
          <p:cNvPr id="5" name="Text 2"/>
          <p:cNvSpPr/>
          <p:nvPr/>
        </p:nvSpPr>
        <p:spPr>
          <a:xfrm>
            <a:off x="1714500" y="774528"/>
            <a:ext cx="5715000" cy="553998"/>
          </a:xfrm>
          <a:prstGeom prst="rect">
            <a:avLst/>
          </a:prstGeom>
          <a:noFill/>
          <a:ln/>
        </p:spPr>
        <p:txBody>
          <a:bodyPr wrap="square" lIns="0" tIns="0" rIns="0" bIns="0" rtlCol="0" anchor="ctr">
            <a:spAutoFit/>
          </a:bodyPr>
          <a:lstStyle/>
          <a:p>
            <a:pPr marL="0" indent="0" algn="ctr">
              <a:buNone/>
            </a:pPr>
            <a:r>
              <a:rPr lang="en-US" sz="942" dirty="0">
                <a:solidFill>
                  <a:srgbClr val="333333"/>
                </a:solidFill>
                <a:latin typeface="Noto Sans" pitchFamily="34" charset="0"/>
                <a:ea typeface="Noto Sans" pitchFamily="34" charset="-122"/>
                <a:cs typeface="Noto Sans" pitchFamily="34" charset="-120"/>
              </a:rPr>
              <a:t> </a:t>
            </a:r>
            <a:r>
              <a:rPr lang="en-US" sz="1200" dirty="0">
                <a:solidFill>
                  <a:srgbClr val="333333"/>
                </a:solidFill>
                <a:latin typeface="Times New Roman" panose="02020603050405020304" pitchFamily="18" charset="0"/>
                <a:ea typeface="Noto Sans" pitchFamily="34" charset="-122"/>
                <a:cs typeface="Times New Roman" panose="02020603050405020304" pitchFamily="18" charset="0"/>
              </a:rPr>
              <a:t>Our program is strengthened by strategic partnerships across healthcare, education, and government sectors, creating a robust ecosystem to support Palestinian nurses' transition to U.S. practice. </a:t>
            </a:r>
            <a:endParaRPr lang="en-US" sz="1200" dirty="0">
              <a:latin typeface="Times New Roman" panose="02020603050405020304" pitchFamily="18" charset="0"/>
              <a:cs typeface="Times New Roman" panose="02020603050405020304" pitchFamily="18" charset="0"/>
            </a:endParaRPr>
          </a:p>
        </p:txBody>
      </p:sp>
      <p:sp>
        <p:nvSpPr>
          <p:cNvPr id="6" name="Shape 3"/>
          <p:cNvSpPr/>
          <p:nvPr/>
        </p:nvSpPr>
        <p:spPr>
          <a:xfrm>
            <a:off x="342900" y="1502978"/>
            <a:ext cx="1152878" cy="235744"/>
          </a:xfrm>
          <a:prstGeom prst="roundRect">
            <a:avLst/>
          </a:prstGeom>
          <a:solidFill>
            <a:srgbClr val="1A93A7"/>
          </a:solidFill>
          <a:ln/>
        </p:spPr>
      </p:sp>
      <p:sp>
        <p:nvSpPr>
          <p:cNvPr id="7" name="Text 4"/>
          <p:cNvSpPr/>
          <p:nvPr/>
        </p:nvSpPr>
        <p:spPr>
          <a:xfrm>
            <a:off x="342900" y="1502978"/>
            <a:ext cx="1152878" cy="235744"/>
          </a:xfrm>
          <a:prstGeom prst="rect">
            <a:avLst/>
          </a:prstGeom>
          <a:noFill/>
          <a:ln/>
        </p:spPr>
        <p:txBody>
          <a:bodyPr wrap="square" lIns="102108" tIns="51054" rIns="102108" bIns="51054" rtlCol="0" anchor="ctr">
            <a:spAutoFit/>
          </a:bodyPr>
          <a:lstStyle/>
          <a:p>
            <a:pPr marL="0" indent="0">
              <a:buNone/>
            </a:pPr>
            <a:r>
              <a:rPr lang="en-US" sz="732" b="1" dirty="0">
                <a:solidFill>
                  <a:srgbClr val="FFFFFF"/>
                </a:solidFill>
                <a:latin typeface="Noto Sans" pitchFamily="34" charset="0"/>
                <a:ea typeface="Noto Sans" pitchFamily="34" charset="-122"/>
                <a:cs typeface="Noto Sans" pitchFamily="34" charset="-120"/>
              </a:rPr>
              <a:t>Healthcare Partners</a:t>
            </a:r>
            <a:endParaRPr lang="en-US" sz="732" dirty="0"/>
          </a:p>
        </p:txBody>
      </p:sp>
      <p:sp>
        <p:nvSpPr>
          <p:cNvPr id="8" name="Shape 5"/>
          <p:cNvSpPr/>
          <p:nvPr/>
        </p:nvSpPr>
        <p:spPr>
          <a:xfrm>
            <a:off x="342900" y="1810159"/>
            <a:ext cx="2666991" cy="1107281"/>
          </a:xfrm>
          <a:prstGeom prst="rect">
            <a:avLst/>
          </a:prstGeom>
          <a:solidFill>
            <a:srgbClr val="FFFFFF">
              <a:alpha val="95000"/>
            </a:srgbClr>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9" name="Shape 6"/>
          <p:cNvSpPr/>
          <p:nvPr/>
        </p:nvSpPr>
        <p:spPr>
          <a:xfrm>
            <a:off x="457200" y="1924459"/>
            <a:ext cx="178594" cy="357188"/>
          </a:xfrm>
          <a:prstGeom prst="roundRect">
            <a:avLst/>
          </a:prstGeom>
          <a:solidFill>
            <a:srgbClr val="0A7C8E">
              <a:alpha val="10000"/>
            </a:srgbClr>
          </a:solidFill>
          <a:ln/>
        </p:spPr>
      </p:sp>
      <p:pic>
        <p:nvPicPr>
          <p:cNvPr id="10" name="Image 1" descr="preencoded.png"/>
          <p:cNvPicPr>
            <a:picLocks noChangeAspect="1"/>
          </p:cNvPicPr>
          <p:nvPr/>
        </p:nvPicPr>
        <p:blipFill>
          <a:blip r:embed="rId4"/>
          <a:stretch>
            <a:fillRect/>
          </a:stretch>
        </p:blipFill>
        <p:spPr>
          <a:xfrm>
            <a:off x="457200" y="2031616"/>
            <a:ext cx="178594" cy="142875"/>
          </a:xfrm>
          <a:prstGeom prst="rect">
            <a:avLst/>
          </a:prstGeom>
        </p:spPr>
      </p:pic>
      <p:sp>
        <p:nvSpPr>
          <p:cNvPr id="11" name="Text 7"/>
          <p:cNvSpPr/>
          <p:nvPr/>
        </p:nvSpPr>
        <p:spPr>
          <a:xfrm>
            <a:off x="743647" y="1807847"/>
            <a:ext cx="2145497" cy="192881"/>
          </a:xfrm>
          <a:prstGeom prst="rect">
            <a:avLst/>
          </a:prstGeom>
          <a:noFill/>
          <a:ln/>
        </p:spPr>
        <p:txBody>
          <a:bodyPr wrap="none" lIns="0" tIns="0" rIns="0" bIns="0" rtlCol="0" anchor="ctr">
            <a:spAutoFit/>
          </a:bodyPr>
          <a:lstStyle/>
          <a:p>
            <a:pPr marL="0" indent="0">
              <a:buNone/>
            </a:pPr>
            <a:r>
              <a:rPr lang="en-US" sz="942" b="1" dirty="0">
                <a:solidFill>
                  <a:srgbClr val="0A7C8E"/>
                </a:solidFill>
                <a:latin typeface="Montserrat" pitchFamily="34" charset="0"/>
                <a:ea typeface="Montserrat" pitchFamily="34" charset="-122"/>
                <a:cs typeface="Montserrat" pitchFamily="34" charset="-120"/>
              </a:rPr>
              <a:t>American Hospital Association</a:t>
            </a:r>
            <a:endParaRPr lang="en-US" sz="942" dirty="0"/>
          </a:p>
        </p:txBody>
      </p:sp>
      <p:sp>
        <p:nvSpPr>
          <p:cNvPr id="12" name="Text 8"/>
          <p:cNvSpPr/>
          <p:nvPr/>
        </p:nvSpPr>
        <p:spPr>
          <a:xfrm>
            <a:off x="750094" y="2052244"/>
            <a:ext cx="2145497" cy="160734"/>
          </a:xfrm>
          <a:prstGeom prst="rect">
            <a:avLst/>
          </a:prstGeom>
          <a:noFill/>
          <a:ln/>
        </p:spPr>
        <p:txBody>
          <a:bodyPr wrap="none" lIns="0" tIns="0" rIns="0" bIns="0" rtlCol="0" anchor="ctr">
            <a:spAutoFit/>
          </a:bodyPr>
          <a:lstStyle/>
          <a:p>
            <a:pPr marL="0" indent="0">
              <a:buNone/>
            </a:pPr>
            <a:r>
              <a:rPr lang="en-US" sz="785" b="1" dirty="0">
                <a:solidFill>
                  <a:srgbClr val="1A93A7"/>
                </a:solidFill>
                <a:latin typeface="Noto Sans" pitchFamily="34" charset="0"/>
                <a:ea typeface="Noto Sans" pitchFamily="34" charset="-122"/>
                <a:cs typeface="Noto Sans" pitchFamily="34" charset="-120"/>
              </a:rPr>
              <a:t>Healthcare Employment Network</a:t>
            </a:r>
            <a:endParaRPr lang="en-US" sz="785" dirty="0"/>
          </a:p>
        </p:txBody>
      </p:sp>
      <p:sp>
        <p:nvSpPr>
          <p:cNvPr id="13" name="Text 9"/>
          <p:cNvSpPr/>
          <p:nvPr/>
        </p:nvSpPr>
        <p:spPr>
          <a:xfrm>
            <a:off x="743646" y="2231282"/>
            <a:ext cx="2145497" cy="677108"/>
          </a:xfrm>
          <a:prstGeom prst="rect">
            <a:avLst/>
          </a:prstGeom>
          <a:noFill/>
          <a:ln/>
        </p:spPr>
        <p:txBody>
          <a:bodyPr wrap="square" lIns="0" tIns="0" rIns="0" bIns="0" rtlCol="0" anchor="ctr">
            <a:spAutoFit/>
          </a:bodyPr>
          <a:lstStyle/>
          <a:p>
            <a:pPr marL="0" indent="0">
              <a:buNone/>
            </a:pPr>
            <a:r>
              <a:rPr lang="en-US" sz="1100" dirty="0">
                <a:solidFill>
                  <a:srgbClr val="333333"/>
                </a:solidFill>
                <a:latin typeface="Noto Sans" pitchFamily="34" charset="0"/>
                <a:ea typeface="Noto Sans" pitchFamily="34" charset="-122"/>
                <a:cs typeface="Noto Sans" pitchFamily="34" charset="-120"/>
              </a:rPr>
              <a:t> </a:t>
            </a: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Provides direct placement opportunities at hospitals across the United States. </a:t>
            </a:r>
          </a:p>
          <a:p>
            <a:pPr marL="0" indent="0">
              <a:buNone/>
            </a:pPr>
            <a:r>
              <a:rPr lang="en-US" sz="1100" b="1" i="1" dirty="0">
                <a:solidFill>
                  <a:srgbClr val="333333"/>
                </a:solidFill>
                <a:latin typeface="Times New Roman" panose="02020603050405020304" pitchFamily="18" charset="0"/>
                <a:ea typeface="Noto Sans" pitchFamily="34" charset="-122"/>
                <a:cs typeface="Times New Roman" panose="02020603050405020304" pitchFamily="18" charset="0"/>
              </a:rPr>
              <a:t>Through WWSS</a:t>
            </a:r>
            <a:endParaRPr lang="en-US" sz="1100" b="1" i="1" dirty="0">
              <a:latin typeface="Times New Roman" panose="02020603050405020304" pitchFamily="18" charset="0"/>
              <a:cs typeface="Times New Roman" panose="02020603050405020304" pitchFamily="18" charset="0"/>
            </a:endParaRPr>
          </a:p>
        </p:txBody>
      </p:sp>
      <p:sp>
        <p:nvSpPr>
          <p:cNvPr id="14" name="Shape 10"/>
          <p:cNvSpPr/>
          <p:nvPr/>
        </p:nvSpPr>
        <p:spPr>
          <a:xfrm>
            <a:off x="3238491" y="1502978"/>
            <a:ext cx="1191890" cy="235744"/>
          </a:xfrm>
          <a:prstGeom prst="roundRect">
            <a:avLst/>
          </a:prstGeom>
          <a:solidFill>
            <a:srgbClr val="1A93A7"/>
          </a:solidFill>
          <a:ln/>
        </p:spPr>
      </p:sp>
      <p:sp>
        <p:nvSpPr>
          <p:cNvPr id="15" name="Text 11"/>
          <p:cNvSpPr/>
          <p:nvPr/>
        </p:nvSpPr>
        <p:spPr>
          <a:xfrm>
            <a:off x="3238491" y="1502978"/>
            <a:ext cx="1191890" cy="235744"/>
          </a:xfrm>
          <a:prstGeom prst="rect">
            <a:avLst/>
          </a:prstGeom>
          <a:noFill/>
          <a:ln/>
        </p:spPr>
        <p:txBody>
          <a:bodyPr wrap="square" lIns="102108" tIns="51054" rIns="102108" bIns="51054" rtlCol="0" anchor="ctr">
            <a:spAutoFit/>
          </a:bodyPr>
          <a:lstStyle/>
          <a:p>
            <a:pPr marL="0" indent="0">
              <a:buNone/>
            </a:pPr>
            <a:r>
              <a:rPr lang="en-US" sz="732" b="1" dirty="0">
                <a:solidFill>
                  <a:srgbClr val="FFFFFF"/>
                </a:solidFill>
                <a:latin typeface="Noto Sans" pitchFamily="34" charset="0"/>
                <a:ea typeface="Noto Sans" pitchFamily="34" charset="-122"/>
                <a:cs typeface="Noto Sans" pitchFamily="34" charset="-120"/>
              </a:rPr>
              <a:t>Educational Partners</a:t>
            </a:r>
            <a:endParaRPr lang="en-US" sz="732" dirty="0"/>
          </a:p>
        </p:txBody>
      </p:sp>
      <p:sp>
        <p:nvSpPr>
          <p:cNvPr id="16" name="Shape 12"/>
          <p:cNvSpPr/>
          <p:nvPr/>
        </p:nvSpPr>
        <p:spPr>
          <a:xfrm>
            <a:off x="3238491" y="1810159"/>
            <a:ext cx="2666991" cy="1000125"/>
          </a:xfrm>
          <a:prstGeom prst="rect">
            <a:avLst/>
          </a:prstGeom>
          <a:solidFill>
            <a:srgbClr val="FFFFFF">
              <a:alpha val="95000"/>
            </a:srgbClr>
          </a:solidFill>
          <a:ln/>
        </p:spPr>
      </p:sp>
      <p:sp>
        <p:nvSpPr>
          <p:cNvPr id="17" name="Shape 13"/>
          <p:cNvSpPr/>
          <p:nvPr/>
        </p:nvSpPr>
        <p:spPr>
          <a:xfrm>
            <a:off x="3352791" y="1924459"/>
            <a:ext cx="191486" cy="357188"/>
          </a:xfrm>
          <a:prstGeom prst="roundRect">
            <a:avLst/>
          </a:prstGeom>
          <a:solidFill>
            <a:srgbClr val="0A7C8E">
              <a:alpha val="10000"/>
            </a:srgbClr>
          </a:solidFill>
          <a:ln/>
        </p:spPr>
      </p:sp>
      <p:pic>
        <p:nvPicPr>
          <p:cNvPr id="18" name="Image 2" descr="preencoded.png"/>
          <p:cNvPicPr>
            <a:picLocks noChangeAspect="1"/>
          </p:cNvPicPr>
          <p:nvPr/>
        </p:nvPicPr>
        <p:blipFill>
          <a:blip r:embed="rId5"/>
          <a:stretch>
            <a:fillRect/>
          </a:stretch>
        </p:blipFill>
        <p:spPr>
          <a:xfrm>
            <a:off x="3359237" y="2031616"/>
            <a:ext cx="178594" cy="142875"/>
          </a:xfrm>
          <a:prstGeom prst="rect">
            <a:avLst/>
          </a:prstGeom>
        </p:spPr>
      </p:pic>
      <p:sp>
        <p:nvSpPr>
          <p:cNvPr id="19" name="Text 14"/>
          <p:cNvSpPr/>
          <p:nvPr/>
        </p:nvSpPr>
        <p:spPr>
          <a:xfrm>
            <a:off x="3658577" y="1924459"/>
            <a:ext cx="2132605" cy="192881"/>
          </a:xfrm>
          <a:prstGeom prst="rect">
            <a:avLst/>
          </a:prstGeom>
          <a:noFill/>
          <a:ln/>
        </p:spPr>
        <p:txBody>
          <a:bodyPr wrap="none" lIns="0" tIns="0" rIns="0" bIns="0" rtlCol="0" anchor="ctr">
            <a:spAutoFit/>
          </a:bodyPr>
          <a:lstStyle/>
          <a:p>
            <a:pPr marL="0" indent="0">
              <a:buNone/>
            </a:pPr>
            <a:r>
              <a:rPr lang="en-US" sz="942" b="1" dirty="0">
                <a:solidFill>
                  <a:srgbClr val="0A7C8E"/>
                </a:solidFill>
                <a:latin typeface="Montserrat" pitchFamily="34" charset="0"/>
                <a:ea typeface="Montserrat" pitchFamily="34" charset="-122"/>
                <a:cs typeface="Montserrat" pitchFamily="34" charset="-120"/>
              </a:rPr>
              <a:t>Palestinian Nursing Council</a:t>
            </a:r>
            <a:endParaRPr lang="en-US" sz="942" dirty="0"/>
          </a:p>
        </p:txBody>
      </p:sp>
      <p:sp>
        <p:nvSpPr>
          <p:cNvPr id="20" name="Text 15"/>
          <p:cNvSpPr/>
          <p:nvPr/>
        </p:nvSpPr>
        <p:spPr>
          <a:xfrm>
            <a:off x="3658577" y="2117341"/>
            <a:ext cx="2132605" cy="160734"/>
          </a:xfrm>
          <a:prstGeom prst="rect">
            <a:avLst/>
          </a:prstGeom>
          <a:noFill/>
          <a:ln/>
        </p:spPr>
        <p:txBody>
          <a:bodyPr wrap="none" lIns="0" tIns="0" rIns="0" bIns="0" rtlCol="0" anchor="ctr">
            <a:spAutoFit/>
          </a:bodyPr>
          <a:lstStyle/>
          <a:p>
            <a:pPr marL="0" indent="0">
              <a:buNone/>
            </a:pPr>
            <a:r>
              <a:rPr lang="en-US" sz="785" b="1" dirty="0">
                <a:solidFill>
                  <a:srgbClr val="1A93A7"/>
                </a:solidFill>
                <a:latin typeface="Noto Sans" pitchFamily="34" charset="0"/>
                <a:ea typeface="Noto Sans" pitchFamily="34" charset="-122"/>
                <a:cs typeface="Noto Sans" pitchFamily="34" charset="-120"/>
              </a:rPr>
              <a:t>Credential Verification</a:t>
            </a:r>
            <a:endParaRPr lang="en-US" sz="785" dirty="0"/>
          </a:p>
        </p:txBody>
      </p:sp>
      <p:sp>
        <p:nvSpPr>
          <p:cNvPr id="21" name="Text 16"/>
          <p:cNvSpPr/>
          <p:nvPr/>
        </p:nvSpPr>
        <p:spPr>
          <a:xfrm>
            <a:off x="3658576" y="2320938"/>
            <a:ext cx="2132605" cy="507831"/>
          </a:xfrm>
          <a:prstGeom prst="rect">
            <a:avLst/>
          </a:prstGeom>
          <a:noFill/>
          <a:ln/>
        </p:spPr>
        <p:txBody>
          <a:bodyPr wrap="square" lIns="0" tIns="0" rIns="0" bIns="0" rtlCol="0" anchor="ctr">
            <a:spAutoFit/>
          </a:bodyPr>
          <a:lstStyle/>
          <a:p>
            <a:pPr marL="0" indent="0">
              <a:buNone/>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Facilitates credential verification and ensures educational standards alignment. </a:t>
            </a:r>
            <a:endParaRPr lang="en-US" sz="1100" dirty="0">
              <a:latin typeface="Times New Roman" panose="02020603050405020304" pitchFamily="18" charset="0"/>
              <a:cs typeface="Times New Roman" panose="02020603050405020304" pitchFamily="18" charset="0"/>
            </a:endParaRPr>
          </a:p>
        </p:txBody>
      </p:sp>
      <p:sp>
        <p:nvSpPr>
          <p:cNvPr id="22" name="Shape 17"/>
          <p:cNvSpPr/>
          <p:nvPr/>
        </p:nvSpPr>
        <p:spPr>
          <a:xfrm>
            <a:off x="6134081" y="1502978"/>
            <a:ext cx="1263802" cy="235744"/>
          </a:xfrm>
          <a:prstGeom prst="roundRect">
            <a:avLst/>
          </a:prstGeom>
          <a:solidFill>
            <a:srgbClr val="1A93A7"/>
          </a:solidFill>
          <a:ln/>
        </p:spPr>
      </p:sp>
      <p:sp>
        <p:nvSpPr>
          <p:cNvPr id="23" name="Text 18"/>
          <p:cNvSpPr/>
          <p:nvPr/>
        </p:nvSpPr>
        <p:spPr>
          <a:xfrm>
            <a:off x="6134081" y="1502978"/>
            <a:ext cx="1263802" cy="235744"/>
          </a:xfrm>
          <a:prstGeom prst="rect">
            <a:avLst/>
          </a:prstGeom>
          <a:noFill/>
          <a:ln/>
        </p:spPr>
        <p:txBody>
          <a:bodyPr wrap="square" lIns="102108" tIns="51054" rIns="102108" bIns="51054" rtlCol="0" anchor="ctr">
            <a:spAutoFit/>
          </a:bodyPr>
          <a:lstStyle/>
          <a:p>
            <a:pPr marL="0" indent="0">
              <a:buNone/>
            </a:pPr>
            <a:r>
              <a:rPr lang="en-US" sz="732" b="1" dirty="0">
                <a:solidFill>
                  <a:srgbClr val="FFFFFF"/>
                </a:solidFill>
                <a:latin typeface="Noto Sans" pitchFamily="34" charset="0"/>
                <a:ea typeface="Noto Sans" pitchFamily="34" charset="-122"/>
                <a:cs typeface="Noto Sans" pitchFamily="34" charset="-120"/>
              </a:rPr>
              <a:t>Government Relations</a:t>
            </a:r>
            <a:endParaRPr lang="en-US" sz="732" dirty="0"/>
          </a:p>
        </p:txBody>
      </p:sp>
      <p:sp>
        <p:nvSpPr>
          <p:cNvPr id="24" name="Shape 19"/>
          <p:cNvSpPr/>
          <p:nvPr/>
        </p:nvSpPr>
        <p:spPr>
          <a:xfrm>
            <a:off x="6134081" y="1810159"/>
            <a:ext cx="2667019" cy="1000125"/>
          </a:xfrm>
          <a:prstGeom prst="rect">
            <a:avLst/>
          </a:prstGeom>
          <a:solidFill>
            <a:srgbClr val="FFFFFF">
              <a:alpha val="95000"/>
            </a:srgbClr>
          </a:solidFill>
          <a:ln/>
        </p:spPr>
      </p:sp>
      <p:sp>
        <p:nvSpPr>
          <p:cNvPr id="25" name="Shape 20"/>
          <p:cNvSpPr/>
          <p:nvPr/>
        </p:nvSpPr>
        <p:spPr>
          <a:xfrm>
            <a:off x="6248381" y="1924459"/>
            <a:ext cx="250059" cy="357188"/>
          </a:xfrm>
          <a:prstGeom prst="roundRect">
            <a:avLst/>
          </a:prstGeom>
          <a:solidFill>
            <a:srgbClr val="0A7C8E">
              <a:alpha val="10000"/>
            </a:srgbClr>
          </a:solidFill>
          <a:ln/>
        </p:spPr>
      </p:sp>
      <p:pic>
        <p:nvPicPr>
          <p:cNvPr id="26" name="Image 3" descr="preencoded.png"/>
          <p:cNvPicPr>
            <a:picLocks noChangeAspect="1"/>
          </p:cNvPicPr>
          <p:nvPr/>
        </p:nvPicPr>
        <p:blipFill>
          <a:blip r:embed="rId6"/>
          <a:stretch>
            <a:fillRect/>
          </a:stretch>
        </p:blipFill>
        <p:spPr>
          <a:xfrm>
            <a:off x="6301960" y="2031616"/>
            <a:ext cx="142875" cy="142875"/>
          </a:xfrm>
          <a:prstGeom prst="rect">
            <a:avLst/>
          </a:prstGeom>
        </p:spPr>
      </p:pic>
      <p:sp>
        <p:nvSpPr>
          <p:cNvPr id="27" name="Text 21"/>
          <p:cNvSpPr/>
          <p:nvPr/>
        </p:nvSpPr>
        <p:spPr>
          <a:xfrm>
            <a:off x="6612741" y="1924459"/>
            <a:ext cx="2074059" cy="192881"/>
          </a:xfrm>
          <a:prstGeom prst="rect">
            <a:avLst/>
          </a:prstGeom>
          <a:noFill/>
          <a:ln/>
        </p:spPr>
        <p:txBody>
          <a:bodyPr wrap="none" lIns="0" tIns="0" rIns="0" bIns="0" rtlCol="0" anchor="ctr">
            <a:spAutoFit/>
          </a:bodyPr>
          <a:lstStyle/>
          <a:p>
            <a:pPr marL="0" indent="0">
              <a:buNone/>
            </a:pPr>
            <a:r>
              <a:rPr lang="en-US" sz="942" b="1" dirty="0">
                <a:solidFill>
                  <a:srgbClr val="0A7C8E"/>
                </a:solidFill>
                <a:latin typeface="Montserrat" pitchFamily="34" charset="0"/>
                <a:ea typeface="Montserrat" pitchFamily="34" charset="-122"/>
                <a:cs typeface="Montserrat" pitchFamily="34" charset="-120"/>
              </a:rPr>
              <a:t>U.S. State Department</a:t>
            </a:r>
            <a:endParaRPr lang="en-US" sz="942" dirty="0"/>
          </a:p>
        </p:txBody>
      </p:sp>
      <p:sp>
        <p:nvSpPr>
          <p:cNvPr id="28" name="Text 22"/>
          <p:cNvSpPr/>
          <p:nvPr/>
        </p:nvSpPr>
        <p:spPr>
          <a:xfrm>
            <a:off x="6612741" y="2117341"/>
            <a:ext cx="2074059" cy="160734"/>
          </a:xfrm>
          <a:prstGeom prst="rect">
            <a:avLst/>
          </a:prstGeom>
          <a:noFill/>
          <a:ln/>
        </p:spPr>
        <p:txBody>
          <a:bodyPr wrap="none" lIns="0" tIns="0" rIns="0" bIns="0" rtlCol="0" anchor="ctr">
            <a:spAutoFit/>
          </a:bodyPr>
          <a:lstStyle/>
          <a:p>
            <a:pPr marL="0" indent="0">
              <a:buNone/>
            </a:pPr>
            <a:r>
              <a:rPr lang="en-US" sz="785" b="1" dirty="0">
                <a:solidFill>
                  <a:srgbClr val="1A93A7"/>
                </a:solidFill>
                <a:latin typeface="Noto Sans" pitchFamily="34" charset="0"/>
                <a:ea typeface="Noto Sans" pitchFamily="34" charset="-122"/>
                <a:cs typeface="Noto Sans" pitchFamily="34" charset="-120"/>
              </a:rPr>
              <a:t>Healthcare Workforce Initiative</a:t>
            </a:r>
            <a:endParaRPr lang="en-US" sz="785" dirty="0"/>
          </a:p>
        </p:txBody>
      </p:sp>
      <p:sp>
        <p:nvSpPr>
          <p:cNvPr id="29" name="Text 23"/>
          <p:cNvSpPr/>
          <p:nvPr/>
        </p:nvSpPr>
        <p:spPr>
          <a:xfrm>
            <a:off x="6498440" y="2277977"/>
            <a:ext cx="2074059" cy="523220"/>
          </a:xfrm>
          <a:prstGeom prst="rect">
            <a:avLst/>
          </a:prstGeom>
          <a:noFill/>
          <a:ln/>
        </p:spPr>
        <p:txBody>
          <a:bodyPr wrap="square" lIns="0" tIns="0" rIns="0" bIns="0" rtlCol="0" anchor="ctr">
            <a:spAutoFit/>
          </a:bodyPr>
          <a:lstStyle/>
          <a:p>
            <a:pPr marL="0" indent="0">
              <a:buNone/>
            </a:pP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Special visa pathway program for healthcare professionals. </a:t>
            </a:r>
          </a:p>
          <a:p>
            <a:pPr marL="0" indent="0">
              <a:buNone/>
            </a:pPr>
            <a:r>
              <a:rPr lang="en-US" sz="1100" b="1" i="1" dirty="0">
                <a:latin typeface="Times New Roman" panose="02020603050405020304" pitchFamily="18" charset="0"/>
                <a:cs typeface="Times New Roman" panose="02020603050405020304" pitchFamily="18" charset="0"/>
              </a:rPr>
              <a:t>Through WWSS</a:t>
            </a:r>
          </a:p>
        </p:txBody>
      </p:sp>
      <p:sp>
        <p:nvSpPr>
          <p:cNvPr id="31" name="Text 25"/>
          <p:cNvSpPr/>
          <p:nvPr/>
        </p:nvSpPr>
        <p:spPr>
          <a:xfrm>
            <a:off x="342900" y="3098880"/>
            <a:ext cx="1053982" cy="215765"/>
          </a:xfrm>
          <a:prstGeom prst="rect">
            <a:avLst/>
          </a:prstGeom>
          <a:noFill/>
          <a:ln/>
        </p:spPr>
        <p:txBody>
          <a:bodyPr wrap="square" lIns="102108" tIns="51054" rIns="102108" bIns="51054" rtlCol="0" anchor="ctr">
            <a:spAutoFit/>
          </a:bodyPr>
          <a:lstStyle/>
          <a:p>
            <a:pPr marL="0" indent="0">
              <a:buNone/>
            </a:pPr>
            <a:endParaRPr lang="en-US" sz="732" dirty="0"/>
          </a:p>
        </p:txBody>
      </p:sp>
      <p:sp>
        <p:nvSpPr>
          <p:cNvPr id="37" name="Text 30"/>
          <p:cNvSpPr/>
          <p:nvPr/>
        </p:nvSpPr>
        <p:spPr>
          <a:xfrm>
            <a:off x="793933" y="4007183"/>
            <a:ext cx="2101658" cy="120802"/>
          </a:xfrm>
          <a:prstGeom prst="rect">
            <a:avLst/>
          </a:prstGeom>
          <a:noFill/>
          <a:ln/>
        </p:spPr>
        <p:txBody>
          <a:bodyPr wrap="square" lIns="0" tIns="0" rIns="0" bIns="0" rtlCol="0" anchor="ctr">
            <a:spAutoFit/>
          </a:bodyPr>
          <a:lstStyle/>
          <a:p>
            <a:pPr marL="0" indent="0">
              <a:buNone/>
            </a:pPr>
            <a:endParaRPr lang="en-US" sz="785" dirty="0"/>
          </a:p>
        </p:txBody>
      </p:sp>
      <p:sp>
        <p:nvSpPr>
          <p:cNvPr id="38" name="Shape 31"/>
          <p:cNvSpPr/>
          <p:nvPr/>
        </p:nvSpPr>
        <p:spPr>
          <a:xfrm>
            <a:off x="3238491" y="3088891"/>
            <a:ext cx="1173389" cy="235744"/>
          </a:xfrm>
          <a:prstGeom prst="roundRect">
            <a:avLst/>
          </a:prstGeom>
          <a:solidFill>
            <a:srgbClr val="1A93A7"/>
          </a:solidFill>
          <a:ln/>
        </p:spPr>
      </p:sp>
      <p:sp>
        <p:nvSpPr>
          <p:cNvPr id="39" name="Text 32"/>
          <p:cNvSpPr/>
          <p:nvPr/>
        </p:nvSpPr>
        <p:spPr>
          <a:xfrm>
            <a:off x="3238491" y="3098880"/>
            <a:ext cx="1173389" cy="215765"/>
          </a:xfrm>
          <a:prstGeom prst="rect">
            <a:avLst/>
          </a:prstGeom>
          <a:noFill/>
          <a:ln/>
        </p:spPr>
        <p:txBody>
          <a:bodyPr wrap="square" lIns="102108" tIns="51054" rIns="102108" bIns="51054" rtlCol="0" anchor="ctr">
            <a:spAutoFit/>
          </a:bodyPr>
          <a:lstStyle/>
          <a:p>
            <a:pPr marL="0" indent="0">
              <a:buNone/>
            </a:pPr>
            <a:r>
              <a:rPr lang="en-US" sz="732" b="1" dirty="0">
                <a:solidFill>
                  <a:srgbClr val="FFFFFF"/>
                </a:solidFill>
                <a:latin typeface="Noto Sans" pitchFamily="34" charset="0"/>
                <a:ea typeface="Noto Sans" pitchFamily="34" charset="-122"/>
                <a:cs typeface="Noto Sans" pitchFamily="34" charset="-120"/>
              </a:rPr>
              <a:t>Technology Partners</a:t>
            </a:r>
            <a:endParaRPr lang="en-US" sz="732" dirty="0"/>
          </a:p>
        </p:txBody>
      </p:sp>
      <p:sp>
        <p:nvSpPr>
          <p:cNvPr id="40" name="Shape 33"/>
          <p:cNvSpPr/>
          <p:nvPr/>
        </p:nvSpPr>
        <p:spPr>
          <a:xfrm>
            <a:off x="3238491" y="3396072"/>
            <a:ext cx="2666991" cy="1000125"/>
          </a:xfrm>
          <a:prstGeom prst="rect">
            <a:avLst/>
          </a:prstGeom>
          <a:solidFill>
            <a:srgbClr val="FFFFFF">
              <a:alpha val="95000"/>
            </a:srgbClr>
          </a:solidFill>
          <a:ln/>
        </p:spPr>
      </p:sp>
      <p:sp>
        <p:nvSpPr>
          <p:cNvPr id="41" name="Shape 34"/>
          <p:cNvSpPr/>
          <p:nvPr/>
        </p:nvSpPr>
        <p:spPr>
          <a:xfrm>
            <a:off x="3352791" y="3510372"/>
            <a:ext cx="199048" cy="357188"/>
          </a:xfrm>
          <a:prstGeom prst="roundRect">
            <a:avLst/>
          </a:prstGeom>
          <a:solidFill>
            <a:srgbClr val="0A7C8E">
              <a:alpha val="10000"/>
            </a:srgbClr>
          </a:solidFill>
          <a:ln/>
        </p:spPr>
      </p:sp>
      <p:pic>
        <p:nvPicPr>
          <p:cNvPr id="42" name="Image 5" descr="preencoded.png"/>
          <p:cNvPicPr>
            <a:picLocks noChangeAspect="1"/>
          </p:cNvPicPr>
          <p:nvPr/>
        </p:nvPicPr>
        <p:blipFill>
          <a:blip r:embed="rId7"/>
          <a:stretch>
            <a:fillRect/>
          </a:stretch>
        </p:blipFill>
        <p:spPr>
          <a:xfrm>
            <a:off x="3363004" y="3617528"/>
            <a:ext cx="178594" cy="142875"/>
          </a:xfrm>
          <a:prstGeom prst="rect">
            <a:avLst/>
          </a:prstGeom>
        </p:spPr>
      </p:pic>
      <p:sp>
        <p:nvSpPr>
          <p:cNvPr id="43" name="Text 35"/>
          <p:cNvSpPr/>
          <p:nvPr/>
        </p:nvSpPr>
        <p:spPr>
          <a:xfrm>
            <a:off x="3666139" y="3534324"/>
            <a:ext cx="480901" cy="144976"/>
          </a:xfrm>
          <a:prstGeom prst="rect">
            <a:avLst/>
          </a:prstGeom>
          <a:noFill/>
          <a:ln/>
        </p:spPr>
        <p:txBody>
          <a:bodyPr wrap="none" lIns="0" tIns="0" rIns="0" bIns="0" rtlCol="0" anchor="ctr">
            <a:spAutoFit/>
          </a:bodyPr>
          <a:lstStyle/>
          <a:p>
            <a:pPr marL="0" indent="0">
              <a:buNone/>
            </a:pPr>
            <a:r>
              <a:rPr lang="en-US" sz="942" b="1" dirty="0" err="1">
                <a:solidFill>
                  <a:srgbClr val="0A7C8E"/>
                </a:solidFill>
                <a:latin typeface="Montserrat" pitchFamily="34" charset="0"/>
              </a:rPr>
              <a:t>UWarld</a:t>
            </a:r>
            <a:endParaRPr lang="en-US" sz="942" dirty="0"/>
          </a:p>
        </p:txBody>
      </p:sp>
      <p:sp>
        <p:nvSpPr>
          <p:cNvPr id="44" name="Text 36"/>
          <p:cNvSpPr/>
          <p:nvPr/>
        </p:nvSpPr>
        <p:spPr>
          <a:xfrm>
            <a:off x="3666139" y="3703253"/>
            <a:ext cx="2125042" cy="160734"/>
          </a:xfrm>
          <a:prstGeom prst="rect">
            <a:avLst/>
          </a:prstGeom>
          <a:noFill/>
          <a:ln/>
        </p:spPr>
        <p:txBody>
          <a:bodyPr wrap="none" lIns="0" tIns="0" rIns="0" bIns="0" rtlCol="0" anchor="ctr">
            <a:spAutoFit/>
          </a:bodyPr>
          <a:lstStyle/>
          <a:p>
            <a:pPr marL="0" indent="0">
              <a:buNone/>
            </a:pPr>
            <a:r>
              <a:rPr lang="en-US" sz="785" b="1" dirty="0">
                <a:solidFill>
                  <a:srgbClr val="1A93A7"/>
                </a:solidFill>
                <a:latin typeface="Noto Sans" pitchFamily="34" charset="0"/>
                <a:ea typeface="Noto Sans" pitchFamily="34" charset="-122"/>
                <a:cs typeface="Noto Sans" pitchFamily="34" charset="-120"/>
              </a:rPr>
              <a:t>Digital Learning Platform</a:t>
            </a:r>
            <a:endParaRPr lang="en-US" sz="785" dirty="0"/>
          </a:p>
        </p:txBody>
      </p:sp>
      <p:sp>
        <p:nvSpPr>
          <p:cNvPr id="45" name="Text 37"/>
          <p:cNvSpPr/>
          <p:nvPr/>
        </p:nvSpPr>
        <p:spPr>
          <a:xfrm>
            <a:off x="3666139" y="3906850"/>
            <a:ext cx="2125042" cy="321469"/>
          </a:xfrm>
          <a:prstGeom prst="rect">
            <a:avLst/>
          </a:prstGeom>
          <a:noFill/>
          <a:ln/>
        </p:spPr>
        <p:txBody>
          <a:bodyPr wrap="square" lIns="0" tIns="0" rIns="0" bIns="0" rtlCol="0" anchor="ctr">
            <a:spAutoFit/>
          </a:bodyPr>
          <a:lstStyle/>
          <a:p>
            <a:pPr marL="0" indent="0">
              <a:buNone/>
            </a:pPr>
            <a:r>
              <a:rPr lang="en-US" sz="785" dirty="0">
                <a:solidFill>
                  <a:srgbClr val="333333"/>
                </a:solidFill>
                <a:latin typeface="Noto Sans" pitchFamily="34" charset="0"/>
                <a:ea typeface="Noto Sans" pitchFamily="34" charset="-122"/>
                <a:cs typeface="Noto Sans" pitchFamily="34" charset="-120"/>
              </a:rPr>
              <a:t> Provides customized e-learning platform with NCLEX simulation technology. </a:t>
            </a:r>
            <a:endParaRPr lang="en-US" sz="785" dirty="0"/>
          </a:p>
        </p:txBody>
      </p:sp>
      <p:sp>
        <p:nvSpPr>
          <p:cNvPr id="47" name="Text 39"/>
          <p:cNvSpPr/>
          <p:nvPr/>
        </p:nvSpPr>
        <p:spPr>
          <a:xfrm>
            <a:off x="6134081" y="3098880"/>
            <a:ext cx="1188095" cy="215765"/>
          </a:xfrm>
          <a:prstGeom prst="rect">
            <a:avLst/>
          </a:prstGeom>
          <a:noFill/>
          <a:ln/>
        </p:spPr>
        <p:txBody>
          <a:bodyPr wrap="square" lIns="102108" tIns="51054" rIns="102108" bIns="51054" rtlCol="0" anchor="ctr">
            <a:spAutoFit/>
          </a:bodyPr>
          <a:lstStyle/>
          <a:p>
            <a:pPr marL="0" indent="0">
              <a:buNone/>
            </a:pPr>
            <a:endParaRPr lang="en-US" sz="732" dirty="0"/>
          </a:p>
        </p:txBody>
      </p:sp>
      <p:sp>
        <p:nvSpPr>
          <p:cNvPr id="51" name="Text 42"/>
          <p:cNvSpPr/>
          <p:nvPr/>
        </p:nvSpPr>
        <p:spPr>
          <a:xfrm>
            <a:off x="6594156" y="3630765"/>
            <a:ext cx="2092644" cy="144976"/>
          </a:xfrm>
          <a:prstGeom prst="rect">
            <a:avLst/>
          </a:prstGeom>
          <a:noFill/>
          <a:ln/>
        </p:spPr>
        <p:txBody>
          <a:bodyPr wrap="square" lIns="0" tIns="0" rIns="0" bIns="0" rtlCol="0" anchor="ctr">
            <a:spAutoFit/>
          </a:bodyPr>
          <a:lstStyle/>
          <a:p>
            <a:pPr marL="0" indent="0">
              <a:buNone/>
            </a:pPr>
            <a:endParaRPr lang="en-US" sz="942" dirty="0"/>
          </a:p>
        </p:txBody>
      </p:sp>
      <p:sp>
        <p:nvSpPr>
          <p:cNvPr id="53" name="Text 44"/>
          <p:cNvSpPr/>
          <p:nvPr/>
        </p:nvSpPr>
        <p:spPr>
          <a:xfrm>
            <a:off x="6594156" y="4200064"/>
            <a:ext cx="2092644" cy="120802"/>
          </a:xfrm>
          <a:prstGeom prst="rect">
            <a:avLst/>
          </a:prstGeom>
          <a:noFill/>
          <a:ln/>
        </p:spPr>
        <p:txBody>
          <a:bodyPr wrap="square" lIns="0" tIns="0" rIns="0" bIns="0" rtlCol="0" anchor="ctr">
            <a:spAutoFit/>
          </a:bodyPr>
          <a:lstStyle/>
          <a:p>
            <a:pPr marL="0" indent="0">
              <a:buNone/>
            </a:pPr>
            <a:endParaRPr lang="en-US" sz="78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1"/>
          <p:cNvSpPr/>
          <p:nvPr/>
        </p:nvSpPr>
        <p:spPr>
          <a:xfrm>
            <a:off x="2813313" y="161145"/>
            <a:ext cx="3517373" cy="307777"/>
          </a:xfrm>
          <a:prstGeom prst="rect">
            <a:avLst/>
          </a:prstGeom>
          <a:noFill/>
          <a:ln/>
        </p:spPr>
        <p:txBody>
          <a:bodyPr wrap="none" lIns="0" tIns="0" rIns="0" bIns="0" rtlCol="0" anchor="ctr">
            <a:spAutoFit/>
          </a:bodyPr>
          <a:lstStyle/>
          <a:p>
            <a:pPr marL="0" indent="0" algn="ctr">
              <a:buNone/>
            </a:pPr>
            <a:r>
              <a:rPr lang="en-US" sz="2000" b="1" dirty="0">
                <a:solidFill>
                  <a:srgbClr val="0A7C8E"/>
                </a:solidFill>
                <a:latin typeface="Times New Roman" panose="02020603050405020304" pitchFamily="18" charset="0"/>
                <a:ea typeface="Montserrat" pitchFamily="34" charset="-122"/>
                <a:cs typeface="Times New Roman" panose="02020603050405020304" pitchFamily="18" charset="0"/>
              </a:rPr>
              <a:t>Our Solution: NCLEX Program</a:t>
            </a:r>
          </a:p>
        </p:txBody>
      </p:sp>
      <p:sp>
        <p:nvSpPr>
          <p:cNvPr id="6" name="Text 3"/>
          <p:cNvSpPr/>
          <p:nvPr/>
        </p:nvSpPr>
        <p:spPr>
          <a:xfrm>
            <a:off x="2206302" y="711133"/>
            <a:ext cx="4474834" cy="523220"/>
          </a:xfrm>
          <a:prstGeom prst="rect">
            <a:avLst/>
          </a:prstGeom>
          <a:noFill/>
          <a:ln/>
        </p:spPr>
        <p:txBody>
          <a:bodyPr wrap="square" lIns="0" tIns="0" rIns="0" bIns="0" rtlCol="0" anchor="ctr">
            <a:spAutoFit/>
          </a:bodyPr>
          <a:lstStyle/>
          <a:p>
            <a:pPr marL="0" indent="0" algn="ctr">
              <a:buNone/>
            </a:pPr>
            <a:r>
              <a:rPr lang="en-US" sz="1200" dirty="0">
                <a:solidFill>
                  <a:srgbClr val="333333"/>
                </a:solidFill>
                <a:latin typeface="Times New Roman" panose="02020603050405020304" pitchFamily="18" charset="0"/>
                <a:ea typeface="Noto Sans" pitchFamily="34" charset="-122"/>
                <a:cs typeface="Times New Roman" panose="02020603050405020304" pitchFamily="18" charset="0"/>
              </a:rPr>
              <a:t> </a:t>
            </a:r>
            <a:r>
              <a:rPr lang="en-US" sz="1100" dirty="0">
                <a:solidFill>
                  <a:srgbClr val="333333"/>
                </a:solidFill>
                <a:latin typeface="Times New Roman" panose="02020603050405020304" pitchFamily="18" charset="0"/>
                <a:ea typeface="Noto Sans" pitchFamily="34" charset="-122"/>
                <a:cs typeface="Times New Roman" panose="02020603050405020304" pitchFamily="18" charset="0"/>
              </a:rPr>
              <a:t>The Global Gate NCLEX Program bridges the gap between Palestinian nursing talent and U.S. healthcare needs through a structured, supportive pathway to success. </a:t>
            </a:r>
            <a:endParaRPr lang="en-US" sz="1100" dirty="0">
              <a:latin typeface="Times New Roman" panose="02020603050405020304" pitchFamily="18" charset="0"/>
              <a:cs typeface="Times New Roman" panose="02020603050405020304" pitchFamily="18" charset="0"/>
            </a:endParaRPr>
          </a:p>
        </p:txBody>
      </p:sp>
      <p:sp>
        <p:nvSpPr>
          <p:cNvPr id="8" name="Shape 5"/>
          <p:cNvSpPr/>
          <p:nvPr/>
        </p:nvSpPr>
        <p:spPr>
          <a:xfrm>
            <a:off x="571500" y="2045903"/>
            <a:ext cx="272886" cy="357188"/>
          </a:xfrm>
          <a:prstGeom prst="roundRect">
            <a:avLst/>
          </a:prstGeom>
          <a:solidFill>
            <a:srgbClr val="0A7C8E">
              <a:alpha val="10000"/>
            </a:srgbClr>
          </a:solidFill>
          <a:ln/>
        </p:spPr>
      </p:sp>
      <p:sp>
        <p:nvSpPr>
          <p:cNvPr id="11" name="Text 7"/>
          <p:cNvSpPr/>
          <p:nvPr/>
        </p:nvSpPr>
        <p:spPr>
          <a:xfrm>
            <a:off x="844386" y="3312534"/>
            <a:ext cx="1750219" cy="112660"/>
          </a:xfrm>
          <a:prstGeom prst="rect">
            <a:avLst/>
          </a:prstGeom>
          <a:noFill/>
          <a:ln/>
        </p:spPr>
        <p:txBody>
          <a:bodyPr wrap="square" lIns="0" tIns="0" rIns="0" bIns="0" rtlCol="0" anchor="ctr">
            <a:spAutoFit/>
          </a:bodyPr>
          <a:lstStyle/>
          <a:p>
            <a:pPr marL="0" indent="0">
              <a:buNone/>
            </a:pPr>
            <a:endParaRPr lang="en-US" sz="732" dirty="0"/>
          </a:p>
        </p:txBody>
      </p:sp>
      <p:sp>
        <p:nvSpPr>
          <p:cNvPr id="15" name="Text 10"/>
          <p:cNvSpPr/>
          <p:nvPr/>
        </p:nvSpPr>
        <p:spPr>
          <a:xfrm>
            <a:off x="3065255" y="3362845"/>
            <a:ext cx="1692511" cy="112660"/>
          </a:xfrm>
          <a:prstGeom prst="rect">
            <a:avLst/>
          </a:prstGeom>
          <a:noFill/>
          <a:ln/>
        </p:spPr>
        <p:txBody>
          <a:bodyPr wrap="square" lIns="0" tIns="0" rIns="0" bIns="0" rtlCol="0" anchor="ctr">
            <a:spAutoFit/>
          </a:bodyPr>
          <a:lstStyle/>
          <a:p>
            <a:pPr marL="0" indent="0">
              <a:buNone/>
            </a:pPr>
            <a:endParaRPr lang="en-US" sz="732" dirty="0"/>
          </a:p>
        </p:txBody>
      </p:sp>
      <p:sp>
        <p:nvSpPr>
          <p:cNvPr id="19" name="Text 13"/>
          <p:cNvSpPr/>
          <p:nvPr/>
        </p:nvSpPr>
        <p:spPr>
          <a:xfrm>
            <a:off x="683331" y="4012780"/>
            <a:ext cx="1745280" cy="112660"/>
          </a:xfrm>
          <a:prstGeom prst="rect">
            <a:avLst/>
          </a:prstGeom>
          <a:noFill/>
          <a:ln/>
        </p:spPr>
        <p:txBody>
          <a:bodyPr wrap="square" lIns="0" tIns="0" rIns="0" bIns="0" rtlCol="0" anchor="ctr">
            <a:spAutoFit/>
          </a:bodyPr>
          <a:lstStyle/>
          <a:p>
            <a:pPr marL="0" indent="0">
              <a:buNone/>
            </a:pPr>
            <a:endParaRPr lang="en-US" sz="732" dirty="0"/>
          </a:p>
        </p:txBody>
      </p:sp>
      <p:sp>
        <p:nvSpPr>
          <p:cNvPr id="23" name="Text 16"/>
          <p:cNvSpPr/>
          <p:nvPr/>
        </p:nvSpPr>
        <p:spPr>
          <a:xfrm>
            <a:off x="3094889" y="4023197"/>
            <a:ext cx="1751419" cy="112660"/>
          </a:xfrm>
          <a:prstGeom prst="rect">
            <a:avLst/>
          </a:prstGeom>
          <a:noFill/>
          <a:ln/>
        </p:spPr>
        <p:txBody>
          <a:bodyPr wrap="square" lIns="0" tIns="0" rIns="0" bIns="0" rtlCol="0" anchor="ctr">
            <a:spAutoFit/>
          </a:bodyPr>
          <a:lstStyle/>
          <a:p>
            <a:pPr marL="0" indent="0">
              <a:buNone/>
            </a:pPr>
            <a:endParaRPr lang="en-US" sz="732" dirty="0"/>
          </a:p>
        </p:txBody>
      </p:sp>
      <p:sp>
        <p:nvSpPr>
          <p:cNvPr id="24" name="Shape 17"/>
          <p:cNvSpPr/>
          <p:nvPr/>
        </p:nvSpPr>
        <p:spPr>
          <a:xfrm>
            <a:off x="0" y="1316226"/>
            <a:ext cx="9138544" cy="3988419"/>
          </a:xfrm>
          <a:prstGeom prst="rect">
            <a:avLst/>
          </a:prstGeom>
          <a:solidFill>
            <a:srgbClr val="FFFFFF">
              <a:alpha val="95000"/>
            </a:srgbClr>
          </a:solidFill>
          <a:ln/>
        </p:spPr>
        <p:txBody>
          <a:bodyPr/>
          <a:lstStyle/>
          <a:p>
            <a:pPr algn="ctr"/>
            <a:r>
              <a:rPr lang="en-US" b="1" dirty="0">
                <a:solidFill>
                  <a:srgbClr val="1A93A7"/>
                </a:solidFill>
                <a:latin typeface="Times New Roman" panose="02020603050405020304" pitchFamily="18" charset="0"/>
                <a:ea typeface="Montserrat" pitchFamily="34" charset="-122"/>
                <a:cs typeface="Times New Roman" panose="02020603050405020304" pitchFamily="18" charset="0"/>
              </a:rPr>
              <a:t>What is NCLEX</a:t>
            </a:r>
          </a:p>
          <a:p>
            <a:pPr algn="ctr"/>
            <a:r>
              <a:rPr lang="en-US" sz="1200" b="1" dirty="0">
                <a:solidFill>
                  <a:srgbClr val="1A93A7"/>
                </a:solidFill>
                <a:latin typeface="Montserrat" pitchFamily="34" charset="0"/>
                <a:ea typeface="Montserrat" pitchFamily="34" charset="-122"/>
                <a:cs typeface="Montserrat" pitchFamily="34" charset="-120"/>
              </a:rPr>
              <a:t>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NCLEX-RN (National Council Licensure Examination for Registered Nurses) is a standardized exam required to practice as an RN in the USA and Canada.</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Computerized Adaptive Testing (CAT): </a:t>
            </a:r>
            <a:r>
              <a:rPr lang="en-US" sz="1200" dirty="0">
                <a:latin typeface="Times New Roman" panose="02020603050405020304" pitchFamily="18" charset="0"/>
                <a:cs typeface="Times New Roman" panose="02020603050405020304" pitchFamily="18" charset="0"/>
              </a:rPr>
              <a:t>The test adapts to your ability level. Questions get harder or easier based on your previous answers.</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Length</a:t>
            </a:r>
            <a:r>
              <a:rPr lang="en-US" sz="1200" dirty="0">
                <a:latin typeface="Times New Roman" panose="02020603050405020304" pitchFamily="18" charset="0"/>
                <a:cs typeface="Times New Roman" panose="02020603050405020304" pitchFamily="18" charset="0"/>
              </a:rPr>
              <a:t>: NCLEX-RN: 85–150 questions</a:t>
            </a:r>
          </a:p>
          <a:p>
            <a:pPr lvl="1"/>
            <a:r>
              <a:rPr lang="en-US" sz="1200" dirty="0">
                <a:latin typeface="Times New Roman" panose="02020603050405020304" pitchFamily="18" charset="0"/>
                <a:cs typeface="Times New Roman" panose="02020603050405020304" pitchFamily="18" charset="0"/>
              </a:rPr>
              <a:t>       Maximum time: 5 hours                    </a:t>
            </a:r>
            <a:br>
              <a:rPr lang="en-US" sz="1200" dirty="0"/>
            </a:br>
            <a:r>
              <a:rPr lang="en-US" sz="1200" dirty="0"/>
              <a:t>                                                                              </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pPr algn="ct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pPr algn="ctr"/>
            <a:endParaRPr lang="en-US" sz="1200" dirty="0">
              <a:latin typeface="Times New Roman" panose="02020603050405020304" pitchFamily="18" charset="0"/>
              <a:cs typeface="Times New Roman" panose="02020603050405020304" pitchFamily="18" charset="0"/>
            </a:endParaRPr>
          </a:p>
        </p:txBody>
      </p:sp>
      <p:sp>
        <p:nvSpPr>
          <p:cNvPr id="26" name="Text 19"/>
          <p:cNvSpPr/>
          <p:nvPr/>
        </p:nvSpPr>
        <p:spPr>
          <a:xfrm>
            <a:off x="485775" y="3953169"/>
            <a:ext cx="65" cy="128818"/>
          </a:xfrm>
          <a:prstGeom prst="rect">
            <a:avLst/>
          </a:prstGeom>
          <a:noFill/>
          <a:ln/>
        </p:spPr>
        <p:txBody>
          <a:bodyPr wrap="none" lIns="0" tIns="0" rIns="0" bIns="0" rtlCol="0" anchor="ctr">
            <a:spAutoFit/>
          </a:bodyPr>
          <a:lstStyle/>
          <a:p>
            <a:pPr marL="0" indent="0" algn="l">
              <a:buNone/>
            </a:pPr>
            <a:endParaRPr lang="en-US" sz="837" dirty="0"/>
          </a:p>
        </p:txBody>
      </p:sp>
      <p:sp>
        <p:nvSpPr>
          <p:cNvPr id="28" name="Text 21"/>
          <p:cNvSpPr/>
          <p:nvPr/>
        </p:nvSpPr>
        <p:spPr>
          <a:xfrm>
            <a:off x="485775" y="4181769"/>
            <a:ext cx="65" cy="128818"/>
          </a:xfrm>
          <a:prstGeom prst="rect">
            <a:avLst/>
          </a:prstGeom>
          <a:noFill/>
          <a:ln/>
        </p:spPr>
        <p:txBody>
          <a:bodyPr wrap="none" lIns="0" tIns="0" rIns="0" bIns="0" rtlCol="0" anchor="ctr">
            <a:spAutoFit/>
          </a:bodyPr>
          <a:lstStyle/>
          <a:p>
            <a:pPr marL="0" indent="0" algn="l">
              <a:buNone/>
            </a:pPr>
            <a:endParaRPr lang="en-US" sz="837" dirty="0"/>
          </a:p>
        </p:txBody>
      </p:sp>
      <p:sp>
        <p:nvSpPr>
          <p:cNvPr id="30" name="Text 23"/>
          <p:cNvSpPr/>
          <p:nvPr/>
        </p:nvSpPr>
        <p:spPr>
          <a:xfrm>
            <a:off x="485775" y="4410369"/>
            <a:ext cx="65" cy="128818"/>
          </a:xfrm>
          <a:prstGeom prst="rect">
            <a:avLst/>
          </a:prstGeom>
          <a:noFill/>
          <a:ln/>
        </p:spPr>
        <p:txBody>
          <a:bodyPr wrap="none" lIns="0" tIns="0" rIns="0" bIns="0" rtlCol="0" anchor="ctr">
            <a:spAutoFit/>
          </a:bodyPr>
          <a:lstStyle/>
          <a:p>
            <a:pPr marL="0" indent="0" algn="l">
              <a:buNone/>
            </a:pPr>
            <a:endParaRPr lang="en-US" sz="837" dirty="0"/>
          </a:p>
        </p:txBody>
      </p:sp>
      <p:pic>
        <p:nvPicPr>
          <p:cNvPr id="37" name="Picture 36">
            <a:extLst>
              <a:ext uri="{FF2B5EF4-FFF2-40B4-BE49-F238E27FC236}">
                <a16:creationId xmlns:a16="http://schemas.microsoft.com/office/drawing/2014/main" id="{2D3F2683-2441-D817-FA80-13431CB31D26}"/>
              </a:ext>
            </a:extLst>
          </p:cNvPr>
          <p:cNvPicPr>
            <a:picLocks noChangeAspect="1"/>
          </p:cNvPicPr>
          <p:nvPr/>
        </p:nvPicPr>
        <p:blipFill>
          <a:blip r:embed="rId4"/>
          <a:stretch>
            <a:fillRect/>
          </a:stretch>
        </p:blipFill>
        <p:spPr>
          <a:xfrm>
            <a:off x="2859503" y="2816263"/>
            <a:ext cx="386618" cy="266571"/>
          </a:xfrm>
          <a:prstGeom prst="rect">
            <a:avLst/>
          </a:prstGeom>
        </p:spPr>
      </p:pic>
      <p:pic>
        <p:nvPicPr>
          <p:cNvPr id="1026" name="Picture 2" descr="Generated image">
            <a:extLst>
              <a:ext uri="{FF2B5EF4-FFF2-40B4-BE49-F238E27FC236}">
                <a16:creationId xmlns:a16="http://schemas.microsoft.com/office/drawing/2014/main" id="{54FFF3AD-2091-BC9D-189E-E39F5D28A5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9171" y="3202310"/>
            <a:ext cx="6454420" cy="20230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3C4E97-1E09-F829-51D4-CE7F3CC3DE05}"/>
              </a:ext>
            </a:extLst>
          </p:cNvPr>
          <p:cNvPicPr>
            <a:picLocks noChangeAspect="1"/>
          </p:cNvPicPr>
          <p:nvPr/>
        </p:nvPicPr>
        <p:blipFill>
          <a:blip r:embed="rId3"/>
          <a:stretch>
            <a:fillRect/>
          </a:stretch>
        </p:blipFill>
        <p:spPr>
          <a:xfrm>
            <a:off x="1051559" y="1"/>
            <a:ext cx="6851469" cy="1528354"/>
          </a:xfrm>
          <a:prstGeom prst="rect">
            <a:avLst/>
          </a:prstGeom>
        </p:spPr>
      </p:pic>
      <p:sp>
        <p:nvSpPr>
          <p:cNvPr id="7" name="Down Arrow 6">
            <a:extLst>
              <a:ext uri="{FF2B5EF4-FFF2-40B4-BE49-F238E27FC236}">
                <a16:creationId xmlns:a16="http://schemas.microsoft.com/office/drawing/2014/main" id="{9B2CFC59-1FC9-196B-318D-BFEA7463C6D3}"/>
              </a:ext>
            </a:extLst>
          </p:cNvPr>
          <p:cNvSpPr/>
          <p:nvPr/>
        </p:nvSpPr>
        <p:spPr>
          <a:xfrm>
            <a:off x="2549106" y="1543203"/>
            <a:ext cx="248195" cy="4358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a:extLst>
              <a:ext uri="{FF2B5EF4-FFF2-40B4-BE49-F238E27FC236}">
                <a16:creationId xmlns:a16="http://schemas.microsoft.com/office/drawing/2014/main" id="{CEA4E1BB-1ABE-8A03-9A2D-DE38C794496E}"/>
              </a:ext>
            </a:extLst>
          </p:cNvPr>
          <p:cNvSpPr/>
          <p:nvPr/>
        </p:nvSpPr>
        <p:spPr>
          <a:xfrm>
            <a:off x="6172203" y="1543203"/>
            <a:ext cx="248195" cy="4358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E3690B6-A1E3-482E-7CAE-9EE555301EBB}"/>
              </a:ext>
            </a:extLst>
          </p:cNvPr>
          <p:cNvPicPr>
            <a:picLocks noChangeAspect="1"/>
          </p:cNvPicPr>
          <p:nvPr/>
        </p:nvPicPr>
        <p:blipFill>
          <a:blip r:embed="rId4"/>
          <a:stretch>
            <a:fillRect/>
          </a:stretch>
        </p:blipFill>
        <p:spPr>
          <a:xfrm>
            <a:off x="1051559" y="1993871"/>
            <a:ext cx="6851469" cy="3149627"/>
          </a:xfrm>
          <a:prstGeom prst="rect">
            <a:avLst/>
          </a:prstGeom>
        </p:spPr>
      </p:pic>
    </p:spTree>
    <p:extLst>
      <p:ext uri="{BB962C8B-B14F-4D97-AF65-F5344CB8AC3E}">
        <p14:creationId xmlns:p14="http://schemas.microsoft.com/office/powerpoint/2010/main" val="1633721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169CF3-BC4F-6AFA-7AD2-8F1534C25B8B}"/>
              </a:ext>
            </a:extLst>
          </p:cNvPr>
          <p:cNvSpPr txBox="1"/>
          <p:nvPr/>
        </p:nvSpPr>
        <p:spPr>
          <a:xfrm>
            <a:off x="244047" y="-364525"/>
            <a:ext cx="8791832" cy="6709529"/>
          </a:xfrm>
          <a:prstGeom prst="rect">
            <a:avLst/>
          </a:prstGeom>
          <a:noFill/>
        </p:spPr>
        <p:txBody>
          <a:bodyPr wrap="square" rtlCol="0">
            <a:spAutoFit/>
          </a:bodyPr>
          <a:lstStyle/>
          <a:p>
            <a:r>
              <a:rPr lang="en-US" altLang="en-US" dirty="0">
                <a:solidFill>
                  <a:srgbClr val="0070C0"/>
                </a:solidFill>
                <a:latin typeface="Times New Roman" panose="02020603050405020304" pitchFamily="18" charset="0"/>
                <a:cs typeface="Times New Roman" panose="02020603050405020304" pitchFamily="18" charset="0"/>
              </a:rPr>
              <a:t>                        Fee Breakdown for International RN Applicants </a:t>
            </a:r>
          </a:p>
          <a:p>
            <a:r>
              <a:rPr lang="en-US" altLang="en-US" sz="1400" dirty="0">
                <a:solidFill>
                  <a:srgbClr val="FF40FF"/>
                </a:solidFill>
                <a:latin typeface="Times New Roman" panose="02020603050405020304" pitchFamily="18" charset="0"/>
                <a:cs typeface="Times New Roman" panose="02020603050405020304" pitchFamily="18" charset="0"/>
              </a:rPr>
              <a:t>NECLEX Application and exam fees</a:t>
            </a:r>
            <a:r>
              <a:rPr lang="en-US" altLang="en-US" dirty="0">
                <a:solidFill>
                  <a:srgbClr val="FF40FF"/>
                </a:solidFill>
                <a:latin typeface="Times New Roman" panose="02020603050405020304" pitchFamily="18" charset="0"/>
                <a:cs typeface="Times New Roman" panose="02020603050405020304" pitchFamily="18" charset="0"/>
              </a:rPr>
              <a:t>:</a:t>
            </a:r>
          </a:p>
          <a:p>
            <a:pPr marL="228600" indent="-228600">
              <a:buAutoNum type="arabicPeriod"/>
            </a:pPr>
            <a:r>
              <a:rPr lang="en-US" altLang="en-US" sz="1200" dirty="0">
                <a:latin typeface="Times New Roman" panose="02020603050405020304" pitchFamily="18" charset="0"/>
                <a:cs typeface="Times New Roman" panose="02020603050405020304" pitchFamily="18" charset="0"/>
              </a:rPr>
              <a:t>Credential Evaluation service (CES)  (4 weeks)                          $</a:t>
            </a:r>
            <a:r>
              <a:rPr lang="ar-JO" altLang="en-US" sz="1200" dirty="0">
                <a:latin typeface="Times New Roman" panose="02020603050405020304" pitchFamily="18" charset="0"/>
                <a:cs typeface="Times New Roman" panose="02020603050405020304" pitchFamily="18" charset="0"/>
              </a:rPr>
              <a:t>400</a:t>
            </a:r>
            <a:r>
              <a:rPr lang="en-US" altLang="en-US" sz="1200" dirty="0">
                <a:latin typeface="Times New Roman" panose="02020603050405020304" pitchFamily="18" charset="0"/>
                <a:cs typeface="Times New Roman" panose="02020603050405020304" pitchFamily="18" charset="0"/>
              </a:rPr>
              <a:t> (R)                                                        150 JOD for GGH (R)            </a:t>
            </a:r>
          </a:p>
          <a:p>
            <a:pPr marL="228600" indent="-228600">
              <a:buAutoNum type="arabicPeriod"/>
            </a:pPr>
            <a:r>
              <a:rPr lang="en-US" altLang="en-US" sz="1200" dirty="0">
                <a:latin typeface="Times New Roman" panose="02020603050405020304" pitchFamily="18" charset="0"/>
                <a:cs typeface="Times New Roman" panose="02020603050405020304" pitchFamily="18" charset="0"/>
              </a:rPr>
              <a:t>Account with Josph and </a:t>
            </a:r>
            <a:r>
              <a:rPr lang="en-US" altLang="en-US" sz="1200" dirty="0" err="1">
                <a:latin typeface="Times New Roman" panose="02020603050405020304" pitchFamily="18" charset="0"/>
                <a:cs typeface="Times New Roman" panose="02020603050405020304" pitchFamily="18" charset="0"/>
              </a:rPr>
              <a:t>Silny</a:t>
            </a:r>
            <a:r>
              <a:rPr lang="en-US" altLang="en-US" sz="1200" dirty="0">
                <a:latin typeface="Times New Roman" panose="02020603050405020304" pitchFamily="18" charset="0"/>
                <a:cs typeface="Times New Roman" panose="02020603050405020304" pitchFamily="18" charset="0"/>
              </a:rPr>
              <a:t> as </a:t>
            </a:r>
            <a:r>
              <a:rPr lang="en-US" altLang="en-US" sz="1400" b="1" i="1" dirty="0">
                <a:solidFill>
                  <a:srgbClr val="7030A0"/>
                </a:solidFill>
                <a:latin typeface="Times New Roman" panose="02020603050405020304" pitchFamily="18" charset="0"/>
                <a:cs typeface="Times New Roman" panose="02020603050405020304" pitchFamily="18" charset="0"/>
              </a:rPr>
              <a:t>Administrator</a:t>
            </a:r>
          </a:p>
          <a:p>
            <a:pPr marL="228600" indent="-228600">
              <a:buAutoNum type="arabicPeriod"/>
            </a:pPr>
            <a:r>
              <a:rPr lang="en-US" altLang="en-US" sz="1200" dirty="0">
                <a:latin typeface="Times New Roman" panose="02020603050405020304" pitchFamily="18" charset="0"/>
                <a:cs typeface="Times New Roman" panose="02020603050405020304" pitchFamily="18" charset="0"/>
              </a:rPr>
              <a:t>Application Fee (NMBON)                                                           $150 (R)            </a:t>
            </a:r>
          </a:p>
          <a:p>
            <a:pPr marL="228600" indent="-228600">
              <a:buAutoNum type="arabicPeriod"/>
            </a:pPr>
            <a:r>
              <a:rPr lang="en-US" sz="1200" dirty="0">
                <a:latin typeface="Times New Roman" panose="02020603050405020304" pitchFamily="18" charset="0"/>
                <a:cs typeface="Times New Roman" panose="02020603050405020304" pitchFamily="18" charset="0"/>
              </a:rPr>
              <a:t>Fingerprinting / Background Check.                                             $44   (R)       </a:t>
            </a:r>
          </a:p>
          <a:p>
            <a:pPr marL="228600" indent="-228600">
              <a:buAutoNum type="arabicPeriod"/>
            </a:pPr>
            <a:r>
              <a:rPr lang="en-US" sz="1200" dirty="0">
                <a:latin typeface="Times New Roman" panose="02020603050405020304" pitchFamily="18" charset="0"/>
                <a:cs typeface="Times New Roman" panose="02020603050405020304" pitchFamily="18" charset="0"/>
              </a:rPr>
              <a:t>ATT eligibility Pearson VUE (2-3 weeks)                                    $200  (R)                                                       150 JOD for GGH (R)         </a:t>
            </a:r>
          </a:p>
          <a:p>
            <a:pPr marL="228600" indent="-228600">
              <a:buFontTx/>
              <a:buAutoNum type="arabicPeriod"/>
            </a:pPr>
            <a:r>
              <a:rPr lang="en-US" sz="1200" dirty="0">
                <a:latin typeface="Times New Roman" panose="02020603050405020304" pitchFamily="18" charset="0"/>
                <a:cs typeface="Times New Roman" panose="02020603050405020304" pitchFamily="18" charset="0"/>
              </a:rPr>
              <a:t>NCLEX Review Course (</a:t>
            </a:r>
            <a:r>
              <a:rPr lang="en-US" sz="1200" dirty="0" err="1">
                <a:latin typeface="Times New Roman" panose="02020603050405020304" pitchFamily="18" charset="0"/>
                <a:cs typeface="Times New Roman" panose="02020603050405020304" pitchFamily="18" charset="0"/>
              </a:rPr>
              <a:t>Uworld</a:t>
            </a:r>
            <a:r>
              <a:rPr lang="en-US" sz="1200" dirty="0">
                <a:latin typeface="Times New Roman" panose="02020603050405020304" pitchFamily="18" charset="0"/>
                <a:cs typeface="Times New Roman" panose="02020603050405020304" pitchFamily="18" charset="0"/>
              </a:rPr>
              <a:t> 3 months).                               $0                                                                   150 JOD for GGH (R)       </a:t>
            </a:r>
          </a:p>
          <a:p>
            <a:pPr marL="228600" indent="-228600">
              <a:buFontTx/>
              <a:buAutoNum type="arabicPeriod"/>
            </a:pPr>
            <a:r>
              <a:rPr lang="en-US" sz="1200" dirty="0">
                <a:latin typeface="Times New Roman" panose="02020603050405020304" pitchFamily="18" charset="0"/>
                <a:cs typeface="Times New Roman" panose="02020603050405020304" pitchFamily="18" charset="0"/>
              </a:rPr>
              <a:t>Schedule NCLEX exam                                                                                                                                       200 JOD for GGH (R)                                                                         </a:t>
            </a:r>
          </a:p>
          <a:p>
            <a:pPr marL="228600" indent="-228600">
              <a:buAutoNum type="arabicPeriod"/>
            </a:pPr>
            <a:r>
              <a:rPr lang="en-US" sz="1200" dirty="0">
                <a:latin typeface="Times New Roman" panose="02020603050405020304" pitchFamily="18" charset="0"/>
                <a:cs typeface="Times New Roman" panose="02020603050405020304" pitchFamily="18" charset="0"/>
              </a:rPr>
              <a:t>International test center surcharge                                                $150 (R)</a:t>
            </a:r>
          </a:p>
          <a:p>
            <a:pPr marL="228600" indent="-228600">
              <a:buAutoNum type="arabicPeriod"/>
            </a:pPr>
            <a:r>
              <a:rPr lang="en-US" sz="1200" dirty="0">
                <a:latin typeface="Times New Roman" panose="02020603050405020304" pitchFamily="18" charset="0"/>
                <a:cs typeface="Times New Roman" panose="02020603050405020304" pitchFamily="18" charset="0"/>
              </a:rPr>
              <a:t>Mailing from Palestine to USA                                                     $100 (R) </a:t>
            </a:r>
            <a:endParaRPr lang="en-US" sz="1200" b="1" u="sng" dirty="0">
              <a:solidFill>
                <a:schemeClr val="accent1"/>
              </a:solidFill>
              <a:latin typeface="Times New Roman" panose="02020603050405020304" pitchFamily="18" charset="0"/>
              <a:cs typeface="Times New Roman" panose="02020603050405020304" pitchFamily="18" charset="0"/>
            </a:endParaRPr>
          </a:p>
          <a:p>
            <a:r>
              <a:rPr lang="en-US" altLang="en-US" sz="1200" dirty="0">
                <a:solidFill>
                  <a:srgbClr val="FF40FF"/>
                </a:solidFill>
                <a:latin typeface="Times New Roman" panose="02020603050405020304" pitchFamily="18" charset="0"/>
                <a:cs typeface="Times New Roman" panose="02020603050405020304" pitchFamily="18" charset="0"/>
              </a:rPr>
              <a:t>After Passing the NECLEX:</a:t>
            </a:r>
            <a:endParaRPr lang="en-US" sz="1200" dirty="0">
              <a:solidFill>
                <a:srgbClr val="FF40FF"/>
              </a:solidFill>
              <a:latin typeface="Times New Roman" panose="02020603050405020304" pitchFamily="18" charset="0"/>
              <a:cs typeface="Times New Roman" panose="02020603050405020304" pitchFamily="18" charset="0"/>
            </a:endParaRPr>
          </a:p>
          <a:p>
            <a:pPr marL="228600" indent="-228600">
              <a:buFontTx/>
              <a:buAutoNum type="arabicPeriod"/>
            </a:pPr>
            <a:r>
              <a:rPr lang="en-US" sz="1200" dirty="0">
                <a:latin typeface="Times New Roman" panose="02020603050405020304" pitchFamily="18" charset="0"/>
                <a:cs typeface="Times New Roman" panose="02020603050405020304" pitchFamily="18" charset="0"/>
              </a:rPr>
              <a:t> Immigration Medical exam                                                         $300 (You– Refundable)                                                                  </a:t>
            </a:r>
          </a:p>
          <a:p>
            <a:pPr marL="228600" indent="-228600">
              <a:buFontTx/>
              <a:buAutoNum type="arabicPeriod"/>
            </a:pPr>
            <a:r>
              <a:rPr lang="en-US" sz="1200" dirty="0">
                <a:latin typeface="Times New Roman" panose="02020603050405020304" pitchFamily="18" charset="0"/>
                <a:cs typeface="Times New Roman" panose="02020603050405020304" pitchFamily="18" charset="0"/>
              </a:rPr>
              <a:t>U.S. Visa interview                                                                       $325 ( You – Refundable)</a:t>
            </a:r>
          </a:p>
          <a:p>
            <a:pPr marL="228600" indent="-228600">
              <a:buFontTx/>
              <a:buAutoNum type="arabicPeriod"/>
            </a:pPr>
            <a:r>
              <a:rPr lang="en-US" sz="1200" dirty="0">
                <a:latin typeface="Times New Roman" panose="02020603050405020304" pitchFamily="18" charset="0"/>
                <a:cs typeface="Times New Roman" panose="02020603050405020304" pitchFamily="18" charset="0"/>
              </a:rPr>
              <a:t>English proficiency exam (PTE)                                                  $300 (You – Refundable)</a:t>
            </a:r>
          </a:p>
          <a:p>
            <a:r>
              <a:rPr lang="en-US" sz="1200" dirty="0">
                <a:latin typeface="Times New Roman" panose="02020603050405020304" pitchFamily="18" charset="0"/>
                <a:cs typeface="Times New Roman" panose="02020603050405020304" pitchFamily="18" charset="0"/>
              </a:rPr>
              <a:t> </a:t>
            </a:r>
            <a:r>
              <a:rPr lang="en-US" sz="1400" dirty="0">
                <a:solidFill>
                  <a:srgbClr val="FF40FF"/>
                </a:solidFill>
                <a:latin typeface="Times New Roman" panose="02020603050405020304" pitchFamily="18" charset="0"/>
                <a:cs typeface="Times New Roman" panose="02020603050405020304" pitchFamily="18" charset="0"/>
              </a:rPr>
              <a:t>Immigration and Licensing fees:</a:t>
            </a:r>
            <a:endParaRPr lang="en-US" sz="1200" dirty="0">
              <a:latin typeface="Times New Roman" panose="02020603050405020304" pitchFamily="18" charset="0"/>
              <a:cs typeface="Times New Roman" panose="02020603050405020304" pitchFamily="18" charset="0"/>
            </a:endParaRPr>
          </a:p>
          <a:p>
            <a:pPr marL="228600" indent="-228600">
              <a:buFontTx/>
              <a:buAutoNum type="arabicPeriod"/>
            </a:pPr>
            <a:r>
              <a:rPr lang="en-US" sz="1200" dirty="0">
                <a:latin typeface="Times New Roman" panose="02020603050405020304" pitchFamily="18" charset="0"/>
                <a:cs typeface="Times New Roman" panose="02020603050405020304" pitchFamily="18" charset="0"/>
              </a:rPr>
              <a:t>NMBON License Issuance Fee                                                    $110  (WWSS) </a:t>
            </a:r>
          </a:p>
          <a:p>
            <a:pPr marL="228600" indent="-228600">
              <a:buFontTx/>
              <a:buAutoNum type="arabicPeriod"/>
            </a:pPr>
            <a:r>
              <a:rPr lang="en-US" sz="1200" dirty="0" err="1">
                <a:latin typeface="Times New Roman" panose="02020603050405020304" pitchFamily="18" charset="0"/>
                <a:cs typeface="Times New Roman" panose="02020603050405020304" pitchFamily="18" charset="0"/>
              </a:rPr>
              <a:t>VisaScreen</a:t>
            </a:r>
            <a:r>
              <a:rPr lang="en-US" sz="1200" dirty="0">
                <a:latin typeface="Times New Roman" panose="02020603050405020304" pitchFamily="18" charset="0"/>
                <a:cs typeface="Times New Roman" panose="02020603050405020304" pitchFamily="18" charset="0"/>
              </a:rPr>
              <a:t> Certificate                                                                 $655  (WWSS)</a:t>
            </a:r>
          </a:p>
          <a:p>
            <a:pPr marL="228600" indent="-228600">
              <a:buFontTx/>
              <a:buAutoNum type="arabicPeriod"/>
            </a:pPr>
            <a:r>
              <a:rPr lang="en-US" sz="1200" dirty="0">
                <a:latin typeface="Times New Roman" panose="02020603050405020304" pitchFamily="18" charset="0"/>
                <a:cs typeface="Times New Roman" panose="02020603050405020304" pitchFamily="18" charset="0"/>
              </a:rPr>
              <a:t>Immigration services                                                                    $15000 (WWSS)</a:t>
            </a:r>
          </a:p>
          <a:p>
            <a:r>
              <a:rPr lang="en-US" sz="1200" dirty="0">
                <a:solidFill>
                  <a:srgbClr val="FF40FF"/>
                </a:solidFill>
                <a:latin typeface="Times New Roman" panose="02020603050405020304" pitchFamily="18" charset="0"/>
                <a:cs typeface="Times New Roman" panose="02020603050405020304" pitchFamily="18" charset="0"/>
              </a:rPr>
              <a:t>Relocation:</a:t>
            </a:r>
          </a:p>
          <a:p>
            <a:pPr marL="228600" indent="-228600">
              <a:buAutoNum type="arabicPeriod"/>
            </a:pPr>
            <a:r>
              <a:rPr lang="en-US" sz="1200" dirty="0">
                <a:latin typeface="Times New Roman" panose="02020603050405020304" pitchFamily="18" charset="0"/>
                <a:cs typeface="Times New Roman" panose="02020603050405020304" pitchFamily="18" charset="0"/>
              </a:rPr>
              <a:t>One way Airfare to the U.S.                                                         $800  (WWSS)</a:t>
            </a:r>
          </a:p>
          <a:p>
            <a:pPr marL="228600" indent="-228600">
              <a:buAutoNum type="arabicPeriod"/>
            </a:pPr>
            <a:r>
              <a:rPr lang="en-US" sz="1200" dirty="0">
                <a:latin typeface="Times New Roman" panose="02020603050405020304" pitchFamily="18" charset="0"/>
                <a:cs typeface="Times New Roman" panose="02020603050405020304" pitchFamily="18" charset="0"/>
              </a:rPr>
              <a:t>Upon arrival the U.S</a:t>
            </a:r>
            <a:r>
              <a:rPr lang="en-US" sz="1200" b="1" dirty="0">
                <a:solidFill>
                  <a:srgbClr val="FF0000"/>
                </a:solidFill>
                <a:latin typeface="Times New Roman" panose="02020603050405020304" pitchFamily="18" charset="0"/>
                <a:cs typeface="Times New Roman" panose="02020603050405020304" pitchFamily="18" charset="0"/>
              </a:rPr>
              <a:t>. POCKET MONEY $1000 (</a:t>
            </a:r>
            <a:r>
              <a:rPr lang="en-US" sz="1200" dirty="0">
                <a:latin typeface="Times New Roman" panose="02020603050405020304" pitchFamily="18" charset="0"/>
                <a:cs typeface="Times New Roman" panose="02020603050405020304" pitchFamily="18" charset="0"/>
              </a:rPr>
              <a:t>WWSS)</a:t>
            </a:r>
          </a:p>
          <a:p>
            <a:r>
              <a:rPr lang="en-US" sz="1200" dirty="0">
                <a:latin typeface="Times New Roman" panose="02020603050405020304" pitchFamily="18" charset="0"/>
                <a:cs typeface="Times New Roman" panose="02020603050405020304" pitchFamily="18" charset="0"/>
              </a:rPr>
              <a:t>3.  Up to 3 months accommodation  by (WWSS)</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t>
            </a:r>
          </a:p>
          <a:p>
            <a:pPr marL="228600" indent="-228600">
              <a:buFontTx/>
              <a:buAutoNum type="arabicPeriod"/>
            </a:pPr>
            <a:endParaRPr lang="en-US" sz="1200" dirty="0">
              <a:latin typeface="Times New Roman" panose="02020603050405020304" pitchFamily="18" charset="0"/>
              <a:cs typeface="Times New Roman" panose="02020603050405020304" pitchFamily="18" charset="0"/>
            </a:endParaRPr>
          </a:p>
          <a:p>
            <a:pPr marL="228600" indent="-228600">
              <a:buFontTx/>
              <a:buAutoNum type="arabicPeriod"/>
            </a:pP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t>
            </a:r>
          </a:p>
          <a:p>
            <a:r>
              <a:rPr lang="en-US" sz="1200" dirty="0">
                <a:latin typeface="Times New Roman" panose="02020603050405020304" pitchFamily="18" charset="0"/>
                <a:cs typeface="Times New Roman" panose="02020603050405020304" pitchFamily="18" charset="0"/>
              </a:rPr>
              <a:t>                                                                         </a:t>
            </a:r>
          </a:p>
          <a:p>
            <a:endParaRPr lang="en-US" sz="1200" dirty="0">
              <a:latin typeface="Times New Roman" panose="02020603050405020304" pitchFamily="18" charset="0"/>
              <a:cs typeface="Times New Roman" panose="02020603050405020304" pitchFamily="18" charset="0"/>
            </a:endParaRPr>
          </a:p>
          <a:p>
            <a:pPr marL="228600" indent="-228600">
              <a:buAutoNum type="arabicPeriod"/>
            </a:pPr>
            <a:endParaRPr lang="en-US" sz="1200" dirty="0">
              <a:latin typeface="Times New Roman" panose="02020603050405020304" pitchFamily="18" charset="0"/>
              <a:cs typeface="Times New Roman" panose="02020603050405020304" pitchFamily="18" charset="0"/>
            </a:endParaRPr>
          </a:p>
          <a:p>
            <a:pPr marL="228600" indent="-228600">
              <a:buAutoNum type="arabicPeriod"/>
            </a:pPr>
            <a:endParaRPr lang="en-US" altLang="en-US" sz="1200" dirty="0">
              <a:latin typeface="Times New Roman" panose="02020603050405020304" pitchFamily="18" charset="0"/>
              <a:cs typeface="Times New Roman" panose="02020603050405020304" pitchFamily="18" charset="0"/>
            </a:endParaRPr>
          </a:p>
          <a:p>
            <a:pPr marL="228600" indent="-228600">
              <a:buAutoNum type="arabicPeriod"/>
            </a:pPr>
            <a:endParaRPr lang="en-US" altLang="en-US" sz="12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55254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2FFA21-FFA8-93D0-ED14-368EFE3CD964}"/>
              </a:ext>
            </a:extLst>
          </p:cNvPr>
          <p:cNvSpPr txBox="1"/>
          <p:nvPr/>
        </p:nvSpPr>
        <p:spPr>
          <a:xfrm>
            <a:off x="2808736" y="137527"/>
            <a:ext cx="2537874"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600" b="1" dirty="0">
                <a:solidFill>
                  <a:srgbClr val="7030A0"/>
                </a:solidFill>
                <a:latin typeface="Times New Roman" panose="02020603050405020304" pitchFamily="18" charset="0"/>
                <a:cs typeface="Times New Roman" panose="02020603050405020304" pitchFamily="18" charset="0"/>
              </a:rPr>
              <a:t>Global Gate Mentorship</a:t>
            </a:r>
            <a:endParaRPr lang="en-US" sz="16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C09476C-6FAE-E042-6976-DBA9A35D44DF}"/>
              </a:ext>
            </a:extLst>
          </p:cNvPr>
          <p:cNvSpPr txBox="1"/>
          <p:nvPr/>
        </p:nvSpPr>
        <p:spPr>
          <a:xfrm>
            <a:off x="1049367" y="1193800"/>
            <a:ext cx="833883" cy="369332"/>
          </a:xfrm>
          <a:prstGeom prst="rect">
            <a:avLst/>
          </a:prstGeom>
          <a:noFill/>
        </p:spPr>
        <p:txBody>
          <a:bodyPr wrap="none" rtlCol="0">
            <a:spAutoFit/>
          </a:bodyPr>
          <a:lstStyle/>
          <a:p>
            <a:r>
              <a:rPr lang="en-US" dirty="0"/>
              <a:t>Career</a:t>
            </a:r>
          </a:p>
        </p:txBody>
      </p:sp>
      <p:sp>
        <p:nvSpPr>
          <p:cNvPr id="14" name="TextBox 13">
            <a:extLst>
              <a:ext uri="{FF2B5EF4-FFF2-40B4-BE49-F238E27FC236}">
                <a16:creationId xmlns:a16="http://schemas.microsoft.com/office/drawing/2014/main" id="{5410BB38-B741-77B1-7077-D0EE219E668F}"/>
              </a:ext>
            </a:extLst>
          </p:cNvPr>
          <p:cNvSpPr txBox="1"/>
          <p:nvPr/>
        </p:nvSpPr>
        <p:spPr>
          <a:xfrm>
            <a:off x="6355255" y="1193800"/>
            <a:ext cx="1273105" cy="369332"/>
          </a:xfrm>
          <a:prstGeom prst="rect">
            <a:avLst/>
          </a:prstGeom>
          <a:noFill/>
        </p:spPr>
        <p:txBody>
          <a:bodyPr wrap="none" rtlCol="0">
            <a:spAutoFit/>
          </a:bodyPr>
          <a:lstStyle/>
          <a:p>
            <a:r>
              <a:rPr lang="en-US" dirty="0"/>
              <a:t>Confidence</a:t>
            </a:r>
          </a:p>
        </p:txBody>
      </p:sp>
      <p:sp>
        <p:nvSpPr>
          <p:cNvPr id="15" name="TextBox 14">
            <a:extLst>
              <a:ext uri="{FF2B5EF4-FFF2-40B4-BE49-F238E27FC236}">
                <a16:creationId xmlns:a16="http://schemas.microsoft.com/office/drawing/2014/main" id="{E89DD791-3D94-5D38-322F-8C2B10A8575A}"/>
              </a:ext>
            </a:extLst>
          </p:cNvPr>
          <p:cNvSpPr txBox="1"/>
          <p:nvPr/>
        </p:nvSpPr>
        <p:spPr>
          <a:xfrm>
            <a:off x="3386875" y="1148318"/>
            <a:ext cx="1269707" cy="369332"/>
          </a:xfrm>
          <a:prstGeom prst="rect">
            <a:avLst/>
          </a:prstGeom>
          <a:noFill/>
        </p:spPr>
        <p:txBody>
          <a:bodyPr wrap="none" rtlCol="0">
            <a:spAutoFit/>
          </a:bodyPr>
          <a:lstStyle/>
          <a:p>
            <a:r>
              <a:rPr lang="en-US" dirty="0"/>
              <a:t>Community</a:t>
            </a:r>
          </a:p>
        </p:txBody>
      </p:sp>
      <p:sp>
        <p:nvSpPr>
          <p:cNvPr id="17" name="TextBox 16">
            <a:extLst>
              <a:ext uri="{FF2B5EF4-FFF2-40B4-BE49-F238E27FC236}">
                <a16:creationId xmlns:a16="http://schemas.microsoft.com/office/drawing/2014/main" id="{FA2860A7-BF5C-1DB6-D34A-256B6F63A0A3}"/>
              </a:ext>
            </a:extLst>
          </p:cNvPr>
          <p:cNvSpPr txBox="1"/>
          <p:nvPr/>
        </p:nvSpPr>
        <p:spPr>
          <a:xfrm>
            <a:off x="6939303" y="963652"/>
            <a:ext cx="381000" cy="369332"/>
          </a:xfrm>
          <a:prstGeom prst="rect">
            <a:avLst/>
          </a:prstGeom>
          <a:noFill/>
        </p:spPr>
        <p:txBody>
          <a:bodyPr wrap="square">
            <a:spAutoFit/>
          </a:bodyPr>
          <a:lstStyle/>
          <a:p>
            <a:r>
              <a:rPr lang="en-US" dirty="0"/>
              <a:t>🗣️  </a:t>
            </a:r>
          </a:p>
        </p:txBody>
      </p:sp>
      <p:sp>
        <p:nvSpPr>
          <p:cNvPr id="19" name="TextBox 18">
            <a:extLst>
              <a:ext uri="{FF2B5EF4-FFF2-40B4-BE49-F238E27FC236}">
                <a16:creationId xmlns:a16="http://schemas.microsoft.com/office/drawing/2014/main" id="{E053A36F-43BF-0C8D-2CCA-765C11836572}"/>
              </a:ext>
            </a:extLst>
          </p:cNvPr>
          <p:cNvSpPr txBox="1"/>
          <p:nvPr/>
        </p:nvSpPr>
        <p:spPr>
          <a:xfrm>
            <a:off x="6631246" y="963652"/>
            <a:ext cx="406400" cy="369332"/>
          </a:xfrm>
          <a:prstGeom prst="rect">
            <a:avLst/>
          </a:prstGeom>
          <a:noFill/>
        </p:spPr>
        <p:txBody>
          <a:bodyPr wrap="square">
            <a:spAutoFit/>
          </a:bodyPr>
          <a:lstStyle/>
          <a:p>
            <a:r>
              <a:rPr lang="en-US" dirty="0"/>
              <a:t>💪</a:t>
            </a:r>
          </a:p>
        </p:txBody>
      </p:sp>
      <p:sp>
        <p:nvSpPr>
          <p:cNvPr id="20" name="TextBox 19">
            <a:extLst>
              <a:ext uri="{FF2B5EF4-FFF2-40B4-BE49-F238E27FC236}">
                <a16:creationId xmlns:a16="http://schemas.microsoft.com/office/drawing/2014/main" id="{4A57F867-D414-58C4-4176-6EA60E57C9FC}"/>
              </a:ext>
            </a:extLst>
          </p:cNvPr>
          <p:cNvSpPr txBox="1"/>
          <p:nvPr/>
        </p:nvSpPr>
        <p:spPr>
          <a:xfrm>
            <a:off x="3761819" y="824468"/>
            <a:ext cx="415498" cy="369332"/>
          </a:xfrm>
          <a:prstGeom prst="rect">
            <a:avLst/>
          </a:prstGeom>
          <a:noFill/>
        </p:spPr>
        <p:txBody>
          <a:bodyPr wrap="none" rtlCol="0">
            <a:spAutoFit/>
          </a:bodyPr>
          <a:lstStyle/>
          <a:p>
            <a:r>
              <a:rPr lang="en-US" dirty="0"/>
              <a:t>🌎</a:t>
            </a:r>
          </a:p>
        </p:txBody>
      </p:sp>
      <p:sp>
        <p:nvSpPr>
          <p:cNvPr id="21" name="TextBox 20">
            <a:extLst>
              <a:ext uri="{FF2B5EF4-FFF2-40B4-BE49-F238E27FC236}">
                <a16:creationId xmlns:a16="http://schemas.microsoft.com/office/drawing/2014/main" id="{D6D5FE55-9A55-2AFC-3FC5-E990F77FC9D2}"/>
              </a:ext>
            </a:extLst>
          </p:cNvPr>
          <p:cNvSpPr txBox="1"/>
          <p:nvPr/>
        </p:nvSpPr>
        <p:spPr>
          <a:xfrm>
            <a:off x="1204462" y="912336"/>
            <a:ext cx="415498" cy="369332"/>
          </a:xfrm>
          <a:prstGeom prst="rect">
            <a:avLst/>
          </a:prstGeom>
          <a:noFill/>
        </p:spPr>
        <p:txBody>
          <a:bodyPr wrap="none" rtlCol="0">
            <a:spAutoFit/>
          </a:bodyPr>
          <a:lstStyle/>
          <a:p>
            <a:r>
              <a:rPr lang="en-US" dirty="0"/>
              <a:t>🩺</a:t>
            </a:r>
          </a:p>
        </p:txBody>
      </p:sp>
      <p:sp>
        <p:nvSpPr>
          <p:cNvPr id="3" name="TextBox 2">
            <a:extLst>
              <a:ext uri="{FF2B5EF4-FFF2-40B4-BE49-F238E27FC236}">
                <a16:creationId xmlns:a16="http://schemas.microsoft.com/office/drawing/2014/main" id="{0A19E1EB-9D82-FF47-3F4A-672E6283304A}"/>
              </a:ext>
            </a:extLst>
          </p:cNvPr>
          <p:cNvSpPr txBox="1"/>
          <p:nvPr/>
        </p:nvSpPr>
        <p:spPr>
          <a:xfrm>
            <a:off x="2567436" y="1563132"/>
            <a:ext cx="3618298" cy="769441"/>
          </a:xfrm>
          <a:prstGeom prst="rect">
            <a:avLst/>
          </a:prstGeom>
          <a:noFill/>
        </p:spPr>
        <p:txBody>
          <a:bodyPr wrap="none" rtlCol="0">
            <a:spAutoFit/>
          </a:bodyPr>
          <a:lstStyle/>
          <a:p>
            <a:r>
              <a:rPr lang="en-US" sz="1100" b="1" dirty="0">
                <a:latin typeface="Times New Roman" panose="02020603050405020304" pitchFamily="18" charset="0"/>
                <a:cs typeface="Times New Roman" panose="02020603050405020304" pitchFamily="18" charset="0"/>
              </a:rPr>
              <a:t>   Cultural Bridge</a:t>
            </a:r>
            <a:r>
              <a:rPr lang="en-US" sz="1100" dirty="0">
                <a:latin typeface="Times New Roman" panose="02020603050405020304" pitchFamily="18" charset="0"/>
                <a:cs typeface="Times New Roman" panose="02020603050405020304" pitchFamily="18" charset="0"/>
              </a:rPr>
              <a:t>: Share values of compassion, resilience,</a:t>
            </a:r>
          </a:p>
          <a:p>
            <a:r>
              <a:rPr lang="en-US" sz="1100" dirty="0">
                <a:latin typeface="Times New Roman" panose="02020603050405020304" pitchFamily="18" charset="0"/>
                <a:cs typeface="Times New Roman" panose="02020603050405020304" pitchFamily="18" charset="0"/>
              </a:rPr>
              <a:t>         and family in the U.S. healthcare system.</a:t>
            </a:r>
          </a:p>
          <a:p>
            <a:r>
              <a:rPr lang="en-US" sz="1100" b="1" dirty="0">
                <a:latin typeface="Times New Roman" panose="02020603050405020304" pitchFamily="18" charset="0"/>
                <a:cs typeface="Times New Roman" panose="02020603050405020304" pitchFamily="18" charset="0"/>
              </a:rPr>
              <a:t>  Support Circles</a:t>
            </a:r>
            <a:r>
              <a:rPr lang="en-US" sz="1100" dirty="0">
                <a:latin typeface="Times New Roman" panose="02020603050405020304" pitchFamily="18" charset="0"/>
                <a:cs typeface="Times New Roman" panose="02020603050405020304" pitchFamily="18" charset="0"/>
              </a:rPr>
              <a:t>: Emotional and social support during your</a:t>
            </a:r>
          </a:p>
          <a:p>
            <a:r>
              <a:rPr lang="en-US" sz="1100" dirty="0">
                <a:latin typeface="Times New Roman" panose="02020603050405020304" pitchFamily="18" charset="0"/>
                <a:cs typeface="Times New Roman" panose="02020603050405020304" pitchFamily="18" charset="0"/>
              </a:rPr>
              <a:t>         transition to life and work abroad.</a:t>
            </a:r>
          </a:p>
        </p:txBody>
      </p:sp>
      <p:sp>
        <p:nvSpPr>
          <p:cNvPr id="4" name="TextBox 3">
            <a:extLst>
              <a:ext uri="{FF2B5EF4-FFF2-40B4-BE49-F238E27FC236}">
                <a16:creationId xmlns:a16="http://schemas.microsoft.com/office/drawing/2014/main" id="{E4D7C35D-77CC-B00F-7960-01FAF2E82963}"/>
              </a:ext>
            </a:extLst>
          </p:cNvPr>
          <p:cNvSpPr txBox="1"/>
          <p:nvPr/>
        </p:nvSpPr>
        <p:spPr>
          <a:xfrm>
            <a:off x="5984161" y="1563132"/>
            <a:ext cx="2486578" cy="600164"/>
          </a:xfrm>
          <a:prstGeom prst="rect">
            <a:avLst/>
          </a:prstGeom>
          <a:noFill/>
        </p:spPr>
        <p:txBody>
          <a:bodyPr wrap="none" rtlCol="0">
            <a:spAutoFit/>
          </a:bodyPr>
          <a:lstStyle/>
          <a:p>
            <a:r>
              <a:rPr lang="en-US" sz="1100" b="1" dirty="0">
                <a:latin typeface="Times New Roman" panose="02020603050405020304" pitchFamily="18" charset="0"/>
                <a:cs typeface="Times New Roman" panose="02020603050405020304" pitchFamily="18" charset="0"/>
              </a:rPr>
              <a:t>          Learning Support</a:t>
            </a:r>
            <a:r>
              <a:rPr lang="en-US" sz="1100" dirty="0">
                <a:latin typeface="Times New Roman" panose="02020603050405020304" pitchFamily="18" charset="0"/>
                <a:cs typeface="Times New Roman" panose="02020603050405020304" pitchFamily="18" charset="0"/>
              </a:rPr>
              <a:t>: Adapt to new</a:t>
            </a:r>
          </a:p>
          <a:p>
            <a:r>
              <a:rPr lang="en-US" sz="1100" dirty="0">
                <a:latin typeface="Times New Roman" panose="02020603050405020304" pitchFamily="18" charset="0"/>
                <a:cs typeface="Times New Roman" panose="02020603050405020304" pitchFamily="18" charset="0"/>
              </a:rPr>
              <a:t>               Systems without fear everyone </a:t>
            </a:r>
          </a:p>
          <a:p>
            <a:r>
              <a:rPr lang="en-US" sz="1100" dirty="0">
                <a:latin typeface="Times New Roman" panose="02020603050405020304" pitchFamily="18" charset="0"/>
                <a:cs typeface="Times New Roman" panose="02020603050405020304" pitchFamily="18" charset="0"/>
              </a:rPr>
              <a:t>               starts somewhere</a:t>
            </a:r>
            <a:endParaRPr lang="en-US" dirty="0"/>
          </a:p>
        </p:txBody>
      </p:sp>
      <p:sp>
        <p:nvSpPr>
          <p:cNvPr id="5" name="TextBox 4">
            <a:extLst>
              <a:ext uri="{FF2B5EF4-FFF2-40B4-BE49-F238E27FC236}">
                <a16:creationId xmlns:a16="http://schemas.microsoft.com/office/drawing/2014/main" id="{B63755FD-D263-DC8D-FD40-EB828286BF05}"/>
              </a:ext>
            </a:extLst>
          </p:cNvPr>
          <p:cNvSpPr txBox="1"/>
          <p:nvPr/>
        </p:nvSpPr>
        <p:spPr>
          <a:xfrm>
            <a:off x="140168" y="1602695"/>
            <a:ext cx="2432076" cy="523220"/>
          </a:xfrm>
          <a:prstGeom prst="rect">
            <a:avLst/>
          </a:prstGeom>
          <a:noFill/>
        </p:spPr>
        <p:txBody>
          <a:bodyPr wrap="none" rtlCol="0">
            <a:spAutoFit/>
          </a:bodyPr>
          <a:lstStyle/>
          <a:p>
            <a:r>
              <a:rPr lang="en-US" sz="1000" dirty="0">
                <a:latin typeface="Times New Roman" panose="02020603050405020304" pitchFamily="18" charset="0"/>
                <a:cs typeface="Times New Roman" panose="02020603050405020304" pitchFamily="18" charset="0"/>
              </a:rPr>
              <a:t> </a:t>
            </a:r>
            <a:r>
              <a:rPr lang="en-US" sz="1000" b="1" dirty="0">
                <a:latin typeface="Times New Roman" panose="02020603050405020304" pitchFamily="18" charset="0"/>
                <a:cs typeface="Times New Roman" panose="02020603050405020304" pitchFamily="18" charset="0"/>
              </a:rPr>
              <a:t>Continuing Education &amp; Certification</a:t>
            </a:r>
          </a:p>
          <a:p>
            <a:r>
              <a:rPr lang="en-US" sz="900" dirty="0">
                <a:latin typeface="Times New Roman" panose="02020603050405020304" pitchFamily="18" charset="0"/>
                <a:cs typeface="Times New Roman" panose="02020603050405020304" pitchFamily="18" charset="0"/>
              </a:rPr>
              <a:t>            Help with applying for U.S. certifications</a:t>
            </a:r>
          </a:p>
          <a:p>
            <a:r>
              <a:rPr lang="en-US" sz="900" dirty="0">
                <a:latin typeface="Times New Roman" panose="02020603050405020304" pitchFamily="18" charset="0"/>
                <a:cs typeface="Times New Roman" panose="02020603050405020304" pitchFamily="18" charset="0"/>
              </a:rPr>
              <a:t>            (e.g., CCRN, NP, PA, CRNA, DNP)</a:t>
            </a:r>
          </a:p>
        </p:txBody>
      </p:sp>
      <p:sp>
        <p:nvSpPr>
          <p:cNvPr id="6" name="TextBox 5">
            <a:extLst>
              <a:ext uri="{FF2B5EF4-FFF2-40B4-BE49-F238E27FC236}">
                <a16:creationId xmlns:a16="http://schemas.microsoft.com/office/drawing/2014/main" id="{A2B78E71-7CC8-69A0-E1BA-5F650A0D68FA}"/>
              </a:ext>
            </a:extLst>
          </p:cNvPr>
          <p:cNvSpPr txBox="1"/>
          <p:nvPr/>
        </p:nvSpPr>
        <p:spPr>
          <a:xfrm>
            <a:off x="85642" y="2163296"/>
            <a:ext cx="2287806" cy="400110"/>
          </a:xfrm>
          <a:prstGeom prst="rect">
            <a:avLst/>
          </a:prstGeom>
          <a:noFill/>
        </p:spPr>
        <p:txBody>
          <a:bodyPr wrap="none" rtlCol="0">
            <a:spAutoFit/>
          </a:bodyPr>
          <a:lstStyle/>
          <a:p>
            <a:r>
              <a:rPr lang="en-US" sz="1000" b="1" dirty="0">
                <a:latin typeface="Times New Roman" panose="02020603050405020304" pitchFamily="18" charset="0"/>
                <a:cs typeface="Times New Roman" panose="02020603050405020304" pitchFamily="18" charset="0"/>
              </a:rPr>
              <a:t> Leadership Professional Development</a:t>
            </a:r>
          </a:p>
          <a:p>
            <a:r>
              <a:rPr lang="en-US" sz="1000" dirty="0">
                <a:latin typeface="Times New Roman" panose="02020603050405020304" pitchFamily="18" charset="0"/>
                <a:cs typeface="Times New Roman" panose="02020603050405020304" pitchFamily="18" charset="0"/>
              </a:rPr>
              <a:t>            As charge nurse </a:t>
            </a:r>
            <a:r>
              <a:rPr lang="en-US" sz="1000" dirty="0" err="1">
                <a:latin typeface="Times New Roman" panose="02020603050405020304" pitchFamily="18" charset="0"/>
                <a:cs typeface="Times New Roman" panose="02020603050405020304" pitchFamily="18" charset="0"/>
              </a:rPr>
              <a:t>etc</a:t>
            </a:r>
            <a:r>
              <a:rPr lang="en-US" sz="1000" dirty="0">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BBA10603-86FC-B9CF-ED0A-3D1B4D17AA1B}"/>
              </a:ext>
            </a:extLst>
          </p:cNvPr>
          <p:cNvSpPr txBox="1"/>
          <p:nvPr/>
        </p:nvSpPr>
        <p:spPr>
          <a:xfrm>
            <a:off x="2594948" y="2378055"/>
            <a:ext cx="2965450" cy="769441"/>
          </a:xfrm>
          <a:prstGeom prst="rect">
            <a:avLst/>
          </a:prstGeom>
          <a:noFill/>
        </p:spPr>
        <p:txBody>
          <a:bodyPr wrap="square">
            <a:spAutoFit/>
          </a:bodyPr>
          <a:lstStyle/>
          <a:p>
            <a:r>
              <a:rPr lang="en-US" sz="1100" b="1" dirty="0">
                <a:latin typeface="Times New Roman" panose="02020603050405020304" pitchFamily="18" charset="0"/>
                <a:cs typeface="Times New Roman" panose="02020603050405020304" pitchFamily="18" charset="0"/>
              </a:rPr>
              <a:t> Understanding U.S. Cultural Norms:</a:t>
            </a:r>
          </a:p>
          <a:p>
            <a:r>
              <a:rPr lang="en-US" sz="1100" dirty="0">
                <a:latin typeface="Times New Roman" panose="02020603050405020304" pitchFamily="18" charset="0"/>
                <a:cs typeface="Times New Roman" panose="02020603050405020304" pitchFamily="18" charset="0"/>
              </a:rPr>
              <a:t>        Food &amp; religion , privacy, gender, self help</a:t>
            </a:r>
          </a:p>
          <a:p>
            <a:endParaRPr lang="en-US" sz="1100" b="1"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2BC862E-B9F5-E591-2971-85BE178CFAAF}"/>
              </a:ext>
            </a:extLst>
          </p:cNvPr>
          <p:cNvSpPr txBox="1"/>
          <p:nvPr/>
        </p:nvSpPr>
        <p:spPr>
          <a:xfrm>
            <a:off x="-286427" y="2485776"/>
            <a:ext cx="3429677" cy="1323439"/>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            Choose a workplace that truly values you:           </a:t>
            </a:r>
          </a:p>
          <a:p>
            <a:r>
              <a:rPr lang="en-US" sz="1000" dirty="0">
                <a:latin typeface="Times New Roman" panose="02020603050405020304" pitchFamily="18" charset="0"/>
                <a:cs typeface="Times New Roman" panose="02020603050405020304" pitchFamily="18" charset="0"/>
              </a:rPr>
              <a:t>                        Competitive salary  </a:t>
            </a:r>
          </a:p>
          <a:p>
            <a:r>
              <a:rPr lang="en-US" sz="1000" dirty="0">
                <a:latin typeface="Times New Roman" panose="02020603050405020304" pitchFamily="18" charset="0"/>
                <a:cs typeface="Times New Roman" panose="02020603050405020304" pitchFamily="18" charset="0"/>
              </a:rPr>
              <a:t>                        Sign-on bonuses  </a:t>
            </a:r>
          </a:p>
          <a:p>
            <a:r>
              <a:rPr lang="en-US" sz="1000" dirty="0">
                <a:latin typeface="Times New Roman" panose="02020603050405020304" pitchFamily="18" charset="0"/>
                <a:cs typeface="Times New Roman" panose="02020603050405020304" pitchFamily="18" charset="0"/>
              </a:rPr>
              <a:t>                       Sponsorship for advanced education  </a:t>
            </a:r>
          </a:p>
          <a:p>
            <a:r>
              <a:rPr lang="en-US" sz="1000" dirty="0">
                <a:latin typeface="Times New Roman" panose="02020603050405020304" pitchFamily="18" charset="0"/>
                <a:cs typeface="Times New Roman" panose="02020603050405020304" pitchFamily="18" charset="0"/>
              </a:rPr>
              <a:t>                       Work-life balance </a:t>
            </a:r>
          </a:p>
          <a:p>
            <a:r>
              <a:rPr lang="en-US" sz="1000" dirty="0">
                <a:latin typeface="Times New Roman" panose="02020603050405020304" pitchFamily="18" charset="0"/>
                <a:cs typeface="Times New Roman" panose="02020603050405020304" pitchFamily="18" charset="0"/>
              </a:rPr>
              <a:t>                       Pension plan</a:t>
            </a:r>
          </a:p>
          <a:p>
            <a:r>
              <a:rPr lang="en-US" sz="1000" dirty="0">
                <a:latin typeface="Times New Roman" panose="02020603050405020304" pitchFamily="18" charset="0"/>
                <a:cs typeface="Times New Roman" panose="02020603050405020304" pitchFamily="18" charset="0"/>
              </a:rPr>
              <a:t>                       Saving plan</a:t>
            </a:r>
          </a:p>
          <a:p>
            <a:r>
              <a:rPr lang="en-US" sz="1000" dirty="0">
                <a:latin typeface="Times New Roman" panose="02020603050405020304" pitchFamily="18" charset="0"/>
                <a:cs typeface="Times New Roman" panose="02020603050405020304" pitchFamily="18" charset="0"/>
              </a:rPr>
              <a:t>                      Health insurance</a:t>
            </a:r>
          </a:p>
        </p:txBody>
      </p:sp>
      <p:sp>
        <p:nvSpPr>
          <p:cNvPr id="11" name="TextBox 10">
            <a:extLst>
              <a:ext uri="{FF2B5EF4-FFF2-40B4-BE49-F238E27FC236}">
                <a16:creationId xmlns:a16="http://schemas.microsoft.com/office/drawing/2014/main" id="{859881E6-E8A0-CCF4-5DB4-D026AB33E43E}"/>
              </a:ext>
            </a:extLst>
          </p:cNvPr>
          <p:cNvSpPr txBox="1"/>
          <p:nvPr/>
        </p:nvSpPr>
        <p:spPr>
          <a:xfrm>
            <a:off x="6321990" y="2125915"/>
            <a:ext cx="2537874" cy="769441"/>
          </a:xfrm>
          <a:prstGeom prst="rect">
            <a:avLst/>
          </a:prstGeom>
          <a:noFill/>
        </p:spPr>
        <p:txBody>
          <a:bodyPr wrap="none" rtlCol="0">
            <a:spAutoFit/>
          </a:bodyPr>
          <a:lstStyle/>
          <a:p>
            <a:r>
              <a:rPr lang="en-US" sz="1100" b="1" dirty="0">
                <a:latin typeface="Times New Roman" panose="02020603050405020304" pitchFamily="18" charset="0"/>
                <a:cs typeface="Times New Roman" panose="02020603050405020304" pitchFamily="18" charset="0"/>
              </a:rPr>
              <a:t>Confidence in Social Settings:</a:t>
            </a:r>
          </a:p>
          <a:p>
            <a:r>
              <a:rPr lang="en-US" sz="1100" dirty="0">
                <a:latin typeface="Times New Roman" panose="02020603050405020304" pitchFamily="18" charset="0"/>
                <a:cs typeface="Times New Roman" panose="02020603050405020304" pitchFamily="18" charset="0"/>
              </a:rPr>
              <a:t>       Overcome fear of being judged for</a:t>
            </a:r>
          </a:p>
          <a:p>
            <a:r>
              <a:rPr lang="en-US" sz="1100" dirty="0">
                <a:latin typeface="Times New Roman" panose="02020603050405020304" pitchFamily="18" charset="0"/>
                <a:cs typeface="Times New Roman" panose="02020603050405020304" pitchFamily="18" charset="0"/>
              </a:rPr>
              <a:t>       your accent, background, or customs</a:t>
            </a:r>
          </a:p>
          <a:p>
            <a:r>
              <a:rPr lang="en-US" sz="11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36869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7">
            <a:extLst>
              <a:ext uri="{FF2B5EF4-FFF2-40B4-BE49-F238E27FC236}">
                <a16:creationId xmlns:a16="http://schemas.microsoft.com/office/drawing/2014/main" id="{FF6D0E73-8BBA-3190-14CB-F250681EFA73}"/>
              </a:ext>
            </a:extLst>
          </p:cNvPr>
          <p:cNvSpPr/>
          <p:nvPr/>
        </p:nvSpPr>
        <p:spPr>
          <a:xfrm>
            <a:off x="444843" y="617839"/>
            <a:ext cx="7920681" cy="3597586"/>
          </a:xfrm>
          <a:prstGeom prst="rect">
            <a:avLst/>
          </a:prstGeom>
          <a:solidFill>
            <a:srgbClr val="FFFFFF">
              <a:alpha val="95000"/>
            </a:srgbClr>
          </a:solidFill>
          <a:ln/>
        </p:spPr>
        <p:txBody>
          <a:bodyPr/>
          <a:lstStyle/>
          <a:p>
            <a:pPr algn="ctr"/>
            <a:r>
              <a:rPr lang="en-US" sz="1600" b="1" dirty="0">
                <a:solidFill>
                  <a:srgbClr val="1A93A7"/>
                </a:solidFill>
                <a:latin typeface="Times New Roman" panose="02020603050405020304" pitchFamily="18" charset="0"/>
                <a:ea typeface="Montserrat" pitchFamily="34" charset="-122"/>
                <a:cs typeface="Times New Roman" panose="02020603050405020304" pitchFamily="18" charset="0"/>
              </a:rPr>
              <a:t>  Contact Information:</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Chief Executive Officer</a:t>
            </a:r>
          </a:p>
          <a:p>
            <a:r>
              <a:rPr lang="en-US" sz="1200" dirty="0">
                <a:latin typeface="Times New Roman" panose="02020603050405020304" pitchFamily="18" charset="0"/>
                <a:cs typeface="Times New Roman" panose="02020603050405020304" pitchFamily="18" charset="0"/>
              </a:rPr>
              <a:t>Dr. Fidaa` S. Ali</a:t>
            </a:r>
          </a:p>
          <a:p>
            <a:r>
              <a:rPr lang="en-US" sz="1200" dirty="0">
                <a:latin typeface="Times New Roman" panose="02020603050405020304" pitchFamily="18" charset="0"/>
                <a:cs typeface="Times New Roman" panose="02020603050405020304" pitchFamily="18" charset="0"/>
              </a:rPr>
              <a:t>+972599440492                                                                                                          </a:t>
            </a:r>
            <a:r>
              <a:rPr lang="en-US" sz="1200" b="1" u="sng" dirty="0">
                <a:latin typeface="Times New Roman" panose="02020603050405020304" pitchFamily="18" charset="0"/>
                <a:cs typeface="Times New Roman" panose="02020603050405020304" pitchFamily="18" charset="0"/>
              </a:rPr>
              <a:t>OUR OFICESS</a:t>
            </a:r>
            <a:endParaRPr lang="en-US" b="1" u="sng" dirty="0"/>
          </a:p>
          <a:p>
            <a:r>
              <a:rPr lang="en-US" sz="1200" b="1"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hlinkClick r:id="rId2"/>
              </a:rPr>
              <a:t>ceo@globalgatehealthcare.com</a:t>
            </a:r>
            <a:r>
              <a:rPr lang="en-US" sz="1200" dirty="0">
                <a:latin typeface="Times New Roman" panose="02020603050405020304" pitchFamily="18" charset="0"/>
                <a:cs typeface="Times New Roman" panose="02020603050405020304" pitchFamily="18" charset="0"/>
              </a:rPr>
              <a:t> </a:t>
            </a:r>
          </a:p>
          <a:p>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 USA Office</a:t>
            </a:r>
          </a:p>
          <a:p>
            <a:r>
              <a:rPr lang="en-US" sz="1200" dirty="0">
                <a:latin typeface="Times New Roman" panose="02020603050405020304" pitchFamily="18" charset="0"/>
                <a:cs typeface="Times New Roman" panose="02020603050405020304" pitchFamily="18" charset="0"/>
              </a:rPr>
              <a:t>                                                                                                                                  3944, Satsuma lane</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Corona CA, 92883, USA</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Tel: + 1(714)467-5467</a:t>
            </a:r>
          </a:p>
          <a:p>
            <a:r>
              <a:rPr lang="en-US" sz="1200" dirty="0">
                <a:latin typeface="Times New Roman" panose="02020603050405020304" pitchFamily="18" charset="0"/>
                <a:cs typeface="Times New Roman" panose="02020603050405020304" pitchFamily="18" charset="0"/>
              </a:rPr>
              <a:t>General Manager</a:t>
            </a:r>
          </a:p>
          <a:p>
            <a:r>
              <a:rPr lang="en-US" sz="1200" dirty="0" err="1">
                <a:latin typeface="Times New Roman" panose="02020603050405020304" pitchFamily="18" charset="0"/>
                <a:cs typeface="Times New Roman" panose="02020603050405020304" pitchFamily="18" charset="0"/>
              </a:rPr>
              <a:t>Dr.Awni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Dweekat</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+ 1 9512556278 +972595161964                                                                              </a:t>
            </a:r>
            <a:r>
              <a:rPr lang="en-US" sz="1200" b="1" dirty="0">
                <a:latin typeface="Times New Roman" panose="02020603050405020304" pitchFamily="18" charset="0"/>
                <a:cs typeface="Times New Roman" panose="02020603050405020304" pitchFamily="18" charset="0"/>
              </a:rPr>
              <a:t>🇵🇸 Palestine Office</a:t>
            </a:r>
          </a:p>
          <a:p>
            <a:r>
              <a:rPr lang="en-US" sz="1200" dirty="0">
                <a:latin typeface="Times New Roman" panose="02020603050405020304" pitchFamily="18" charset="0"/>
                <a:cs typeface="Times New Roman" panose="02020603050405020304" pitchFamily="18" charset="0"/>
                <a:hlinkClick r:id="rId3"/>
              </a:rPr>
              <a:t>manager@globalgatehealthcare.com</a:t>
            </a:r>
            <a:r>
              <a:rPr lang="en-US" sz="1200" dirty="0">
                <a:latin typeface="Times New Roman" panose="02020603050405020304" pitchFamily="18" charset="0"/>
                <a:cs typeface="Times New Roman" panose="02020603050405020304" pitchFamily="18" charset="0"/>
              </a:rPr>
              <a:t>                                                                              Ramallah, Palestine</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Manarah</a:t>
            </a:r>
            <a:r>
              <a:rPr lang="en-US" sz="1200" dirty="0">
                <a:latin typeface="Times New Roman" panose="02020603050405020304" pitchFamily="18" charset="0"/>
                <a:cs typeface="Times New Roman" panose="02020603050405020304" pitchFamily="18" charset="0"/>
              </a:rPr>
              <a:t> Building , 9th </a:t>
            </a:r>
            <a:r>
              <a:rPr lang="en-US" sz="1200" dirty="0" err="1">
                <a:latin typeface="Times New Roman" panose="02020603050405020304" pitchFamily="18" charset="0"/>
                <a:cs typeface="Times New Roman" panose="02020603050405020304" pitchFamily="18" charset="0"/>
              </a:rPr>
              <a:t>Floor,Makani</a:t>
            </a:r>
            <a:r>
              <a:rPr lang="en-US" sz="1200" dirty="0">
                <a:latin typeface="Times New Roman" panose="02020603050405020304" pitchFamily="18" charset="0"/>
                <a:cs typeface="Times New Roman" panose="02020603050405020304" pitchFamily="18" charset="0"/>
              </a:rPr>
              <a:t> Hub</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Tel: +972595161964</a:t>
            </a:r>
          </a:p>
          <a:p>
            <a:r>
              <a:rPr lang="en-US" sz="1200" dirty="0">
                <a:latin typeface="Times New Roman" panose="02020603050405020304" pitchFamily="18" charset="0"/>
                <a:cs typeface="Times New Roman" panose="02020603050405020304" pitchFamily="18" charset="0"/>
              </a:rPr>
              <a:t>Chief Administrative Officer</a:t>
            </a:r>
          </a:p>
          <a:p>
            <a:r>
              <a:rPr lang="en-US" sz="1200" dirty="0">
                <a:latin typeface="Times New Roman" panose="02020603050405020304" pitchFamily="18" charset="0"/>
                <a:cs typeface="Times New Roman" panose="02020603050405020304" pitchFamily="18" charset="0"/>
              </a:rPr>
              <a:t>Mr. Hesham </a:t>
            </a:r>
            <a:r>
              <a:rPr lang="en-US" sz="1200" dirty="0" err="1">
                <a:latin typeface="Times New Roman" panose="02020603050405020304" pitchFamily="18" charset="0"/>
                <a:cs typeface="Times New Roman" panose="02020603050405020304" pitchFamily="18" charset="0"/>
              </a:rPr>
              <a:t>AlSayyad</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+1(714)467-5467</a:t>
            </a:r>
          </a:p>
          <a:p>
            <a:r>
              <a:rPr lang="en-US" sz="1200" dirty="0">
                <a:latin typeface="Times New Roman" panose="02020603050405020304" pitchFamily="18" charset="0"/>
                <a:cs typeface="Times New Roman" panose="02020603050405020304" pitchFamily="18" charset="0"/>
                <a:hlinkClick r:id="rId4"/>
              </a:rPr>
              <a:t>cao@globalgatehealthcare.com</a:t>
            </a:r>
            <a:r>
              <a:rPr lang="en-US" sz="1200" dirty="0">
                <a:latin typeface="Times New Roman" panose="02020603050405020304" pitchFamily="18" charset="0"/>
                <a:cs typeface="Times New Roman" panose="02020603050405020304" pitchFamily="18" charset="0"/>
              </a:rPr>
              <a:t> </a:t>
            </a:r>
          </a:p>
          <a:p>
            <a:endParaRPr lang="en-US" sz="12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F50CA80-3FED-B680-1DBA-38336047DFD4}"/>
              </a:ext>
            </a:extLst>
          </p:cNvPr>
          <p:cNvSpPr txBox="1"/>
          <p:nvPr/>
        </p:nvSpPr>
        <p:spPr>
          <a:xfrm>
            <a:off x="3316538" y="21921"/>
            <a:ext cx="1395510" cy="677108"/>
          </a:xfrm>
          <a:prstGeom prst="rect">
            <a:avLst/>
          </a:prstGeom>
          <a:noFill/>
        </p:spPr>
        <p:txBody>
          <a:bodyPr wrap="none" rtlCol="0">
            <a:spAutoFit/>
          </a:bodyPr>
          <a:lstStyle/>
          <a:p>
            <a:r>
              <a:rPr lang="en-US" sz="2000" b="1" dirty="0">
                <a:solidFill>
                  <a:srgbClr val="0A7C8E"/>
                </a:solidFill>
                <a:latin typeface="Times New Roman" panose="02020603050405020304" pitchFamily="18" charset="0"/>
                <a:ea typeface="Montserrat" pitchFamily="34" charset="-122"/>
                <a:cs typeface="Montserrat" pitchFamily="34" charset="-120"/>
              </a:rPr>
              <a:t>Thank You</a:t>
            </a:r>
            <a:endParaRPr lang="en-US" sz="2000" dirty="0">
              <a:latin typeface="Times New Roman" panose="02020603050405020304" pitchFamily="18" charset="0"/>
              <a:cs typeface="Times New Roman" panose="02020603050405020304" pitchFamily="18" charset="0"/>
            </a:endParaRPr>
          </a:p>
          <a:p>
            <a:endParaRPr lang="en-US" dirty="0"/>
          </a:p>
        </p:txBody>
      </p:sp>
      <p:pic>
        <p:nvPicPr>
          <p:cNvPr id="4" name="Image 3" descr="preencoded.png">
            <a:extLst>
              <a:ext uri="{FF2B5EF4-FFF2-40B4-BE49-F238E27FC236}">
                <a16:creationId xmlns:a16="http://schemas.microsoft.com/office/drawing/2014/main" id="{5760B4AB-2E92-9075-CCFB-5CE30ECEF690}"/>
              </a:ext>
            </a:extLst>
          </p:cNvPr>
          <p:cNvPicPr>
            <a:picLocks noChangeAspect="1"/>
          </p:cNvPicPr>
          <p:nvPr/>
        </p:nvPicPr>
        <p:blipFill>
          <a:blip r:embed="rId5"/>
          <a:stretch>
            <a:fillRect/>
          </a:stretch>
        </p:blipFill>
        <p:spPr>
          <a:xfrm>
            <a:off x="3123657" y="699029"/>
            <a:ext cx="192881" cy="171450"/>
          </a:xfrm>
          <a:prstGeom prst="rect">
            <a:avLst/>
          </a:prstGeom>
        </p:spPr>
      </p:pic>
    </p:spTree>
    <p:extLst>
      <p:ext uri="{BB962C8B-B14F-4D97-AF65-F5344CB8AC3E}">
        <p14:creationId xmlns:p14="http://schemas.microsoft.com/office/powerpoint/2010/main" val="429034196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346492"/>
      </a:accent1>
      <a:accent2>
        <a:srgbClr val="6DA5D4"/>
      </a:accent2>
      <a:accent3>
        <a:srgbClr val="538C79"/>
      </a:accent3>
      <a:accent4>
        <a:srgbClr val="93B75D"/>
      </a:accent4>
      <a:accent5>
        <a:srgbClr val="DEB050"/>
      </a:accent5>
      <a:accent6>
        <a:srgbClr val="BB5354"/>
      </a:accent6>
      <a:hlink>
        <a:srgbClr val="3289DD"/>
      </a:hlink>
      <a:folHlink>
        <a:srgbClr val="859EB6"/>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E3530EC-BA5B-407C-9B36-00820F3955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{CCC27159-6AA4-C944-A79B-94DD31967B27}tf10001077</Template>
  <TotalTime>5806</TotalTime>
  <Words>1928</Words>
  <Application>Microsoft Office PowerPoint</Application>
  <PresentationFormat>عرض على الشاشة (16:9)</PresentationFormat>
  <Paragraphs>268</Paragraphs>
  <Slides>14</Slides>
  <Notes>10</Notes>
  <HiddenSlides>0</HiddenSlides>
  <MMClips>0</MMClips>
  <ScaleCrop>false</ScaleCrop>
  <HeadingPairs>
    <vt:vector size="6" baseType="variant">
      <vt:variant>
        <vt:lpstr>الخطوط المستخدمة</vt:lpstr>
      </vt:variant>
      <vt:variant>
        <vt:i4>6</vt:i4>
      </vt:variant>
      <vt:variant>
        <vt:lpstr>نسق</vt:lpstr>
      </vt:variant>
      <vt:variant>
        <vt:i4>1</vt:i4>
      </vt:variant>
      <vt:variant>
        <vt:lpstr>عناوين الشرائح</vt:lpstr>
      </vt:variant>
      <vt:variant>
        <vt:i4>14</vt:i4>
      </vt:variant>
    </vt:vector>
  </HeadingPairs>
  <TitlesOfParts>
    <vt:vector size="21" baseType="lpstr">
      <vt:lpstr>Arial</vt:lpstr>
      <vt:lpstr>Calibri</vt:lpstr>
      <vt:lpstr>Impact</vt:lpstr>
      <vt:lpstr>Montserrat</vt:lpstr>
      <vt:lpstr>Noto Sans</vt:lpstr>
      <vt:lpstr>Times New Roman</vt:lpstr>
      <vt:lpstr>Main Event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Our Solution</vt:lpstr>
      <vt:lpstr>Strategic Collaborations </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jc</cp:lastModifiedBy>
  <cp:revision>32</cp:revision>
  <dcterms:created xsi:type="dcterms:W3CDTF">2025-07-11T07:02:41Z</dcterms:created>
  <dcterms:modified xsi:type="dcterms:W3CDTF">2026-02-19T23:32:07Z</dcterms:modified>
</cp:coreProperties>
</file>